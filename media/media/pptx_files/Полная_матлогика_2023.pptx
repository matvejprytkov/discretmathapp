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0"/>
  </p:notesMasterIdLst>
  <p:sldIdLst>
    <p:sldId id="256" r:id="rId3"/>
    <p:sldId id="257" r:id="rId4"/>
    <p:sldId id="258" r:id="rId5"/>
    <p:sldId id="260" r:id="rId6"/>
    <p:sldId id="262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1" r:id="rId31"/>
    <p:sldId id="292" r:id="rId32"/>
    <p:sldId id="293" r:id="rId33"/>
    <p:sldId id="294" r:id="rId34"/>
    <p:sldId id="295" r:id="rId35"/>
    <p:sldId id="296" r:id="rId36"/>
    <p:sldId id="31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17" r:id="rId48"/>
    <p:sldId id="318" r:id="rId49"/>
    <p:sldId id="289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2" autoAdjust="0"/>
    <p:restoredTop sz="94660"/>
  </p:normalViewPr>
  <p:slideViewPr>
    <p:cSldViewPr snapToGrid="0">
      <p:cViewPr varScale="1">
        <p:scale>
          <a:sx n="79" d="100"/>
          <a:sy n="79" d="100"/>
        </p:scale>
        <p:origin x="92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DE6DB-0D88-4570-B37B-2E8370081EF1}" type="datetimeFigureOut">
              <a:rPr lang="ru-RU" smtClean="0"/>
              <a:t>01.05.2024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6B7EC-55E0-4FBD-8079-49D372120E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777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5000A4-A6C4-4B92-AEAE-C90B6FFF6021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601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F60F-A7C2-48B3-950B-61B425874E42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21B7660F-7849-4385-BC23-C5D36184A52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Прямоугольник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Прямоугольник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94979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4F60F-A7C2-48B3-950B-61B425874E42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7660F-7849-4385-BC23-C5D36184A52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4448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/>
          <a:lstStyle/>
          <a:p>
            <a:pPr algn="ctr">
              <a:lnSpc>
                <a:spcPct val="90000"/>
              </a:lnSpc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64D1349D-5161-4C1D-8935-7AD30CFA2907}" type="datetime">
              <a:rPr lang="ru-RU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32FF6ECB-473C-4723-B68F-1D163642D823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/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77433D77-DD38-4445-B472-D589DB18FDF2}" type="datetime">
              <a:rPr lang="ru-RU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01.05.2024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9634F992-0D28-4046-83C3-ED1A855DD8B8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1523880" y="1579320"/>
            <a:ext cx="9143640" cy="849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90000"/>
              </a:lnSpc>
            </a:pPr>
            <a:r>
              <a:rPr lang="ru-RU" sz="4800" b="0" strike="noStrike" spc="-1">
                <a:solidFill>
                  <a:srgbClr val="000000"/>
                </a:solidFill>
                <a:latin typeface="Calibri Light"/>
              </a:rPr>
              <a:t>Математическая логика</a:t>
            </a:r>
            <a:br/>
            <a:endParaRPr lang="ru-RU" sz="4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523880" y="4925160"/>
            <a:ext cx="9143640" cy="1655280"/>
          </a:xfrm>
          <a:prstGeom prst="rect">
            <a:avLst/>
          </a:prstGeom>
          <a:noFill/>
          <a:ln>
            <a:noFill/>
          </a:ln>
        </p:spPr>
        <p:txBody>
          <a:bodyPr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П. С. Новиков. Элементы математической логики</a:t>
            </a:r>
            <a:endParaRPr lang="ru-RU" sz="24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Ю. Л. Ершов, Е. А. Палютин. Математическая логика</a:t>
            </a:r>
            <a:endParaRPr lang="ru-RU" sz="24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Ю. М. Важенин, А. П. Замятин. Введение в математическую логику</a:t>
            </a:r>
            <a:endParaRPr lang="ru-RU" sz="24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 2023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Лекция1. Логика традиционная и математическая логика.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7500" lnSpcReduction="2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Историческая справка : Аристотель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Евклид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Г.Лейбниц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Д.Буль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А де Морган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Н.И. Лобачевский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Я.Бояи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Г.Фреге, Ч.Пирс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П.С.Порецкий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Д.Гильберт, Л.Брауэр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Н.А.Васильев, И.И. Жегалкин, А.Н. Колмогоров, П.С. Новиков, А.А.Марков, А.И.Мальцев, С.А.Яновская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200" b="0" strike="noStrike" spc="-1">
                <a:solidFill>
                  <a:srgbClr val="000000"/>
                </a:solidFill>
                <a:latin typeface="Calibri Light"/>
              </a:rPr>
              <a:t>Математическая логика по предмету есть логика, а по методу-математика» П.С.Порецкий</a:t>
            </a:r>
            <a:endParaRPr lang="ru-RU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7500" lnSpcReduction="2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В современной математике большое распространение получил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i="1" strike="noStrike" spc="-1">
                <a:solidFill>
                  <a:srgbClr val="000000"/>
                </a:solidFill>
                <a:latin typeface="Calibri"/>
              </a:rPr>
              <a:t>аксиоматический метод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. Он породил не только новые методы но и новые </a:t>
            </a:r>
            <a:r>
              <a:rPr lang="ru-RU" sz="2800" b="0" i="1" strike="noStrike" spc="-1">
                <a:solidFill>
                  <a:srgbClr val="000000"/>
                </a:solidFill>
                <a:latin typeface="Calibri"/>
              </a:rPr>
              <a:t>принципы математического мышления.</a:t>
            </a: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i="1" strike="noStrike" spc="-1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Первый этап от Лобачевского до работ Гильберта.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Второй от работ Гильберта до наших дней.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Пример: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1.Никакой объект не предшествует сам себе.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2.Если Х предшествует У, а У предшествует Z, то Х предшествует Z.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М- люди. Х старше У. R –числа Х меньше У.  Системы объектов М иR , а утверждения 1 и2 называются аксиомами- они определили эти системы, а совокупность объектов  называется интерпретацией данной системы аксиом. М  и R – интерпретации. Делая логические выводы мы будем получать утверждения истинные  для любой системы объектов, удовлетворяющей данным аксиомам. Более значительным примером построения  аксиоматической системы  есть система аксиом геометрии.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 Требования к системе аксиом.</a:t>
            </a:r>
            <a:br/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Пример  системы аксиом геометрии</a:t>
            </a:r>
            <a:br/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Система аксиом геометрии Евклида.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Система аксиом Колмогорова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Система аксиом Вейля.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Основные вопросы: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Вопрос о непротиворечивости системы аксиом (он разрешался с помощью построения точной интерпретации этой системы).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Вопрос о независимости  аксиом.( А и не А)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Вопрос о полноте системы аксиом.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96480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В центре всякой трудности лежит возможность        А.Энштейн</a:t>
            </a:r>
            <a:br/>
            <a:br/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964800" y="155844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5000" lnSpcReduction="2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Алгебра высказываний наиболее простая  часть математической логики.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Повторим алгебру высказываний по диагонали: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Объект изучения: Высказывания, логические связки.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ФЛВ,Законы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Дизьюнктивная нормальная форма (ДНФ).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i="1" strike="noStrike" spc="-1">
                <a:solidFill>
                  <a:srgbClr val="000000"/>
                </a:solidFill>
                <a:latin typeface="Calibri"/>
              </a:rPr>
              <a:t>Основное положение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: Любое высказывание можно задать формулой логики высказываний, а именно некоторой ДНФ.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i="1" strike="noStrike" spc="-1">
                <a:solidFill>
                  <a:srgbClr val="000000"/>
                </a:solidFill>
                <a:latin typeface="Calibri"/>
              </a:rPr>
              <a:t>Приложени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я: 1)Обоснование 4..типичных методов доказательства.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2)Логическая задача (город лжецов)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3)задача об электрической схеме.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4) Булева алгебра. Теорема Поста описывает полные классы булевых функций.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Практическое занятие 2</a:t>
            </a:r>
          </a:p>
        </p:txBody>
      </p:sp>
    </p:spTree>
    <p:extLst>
      <p:ext uri="{BB962C8B-B14F-4D97-AF65-F5344CB8AC3E}">
        <p14:creationId xmlns:p14="http://schemas.microsoft.com/office/powerpoint/2010/main" val="61157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260648"/>
            <a:ext cx="8568952" cy="1080120"/>
          </a:xfrm>
        </p:spPr>
        <p:txBody>
          <a:bodyPr>
            <a:noAutofit/>
          </a:bodyPr>
          <a:lstStyle/>
          <a:p>
            <a:r>
              <a:rPr lang="ru-RU" sz="3600" dirty="0"/>
              <a:t>Дизъюнктивная нормальная форма (ДНФ)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847528" y="1628800"/>
                <a:ext cx="8640960" cy="5112568"/>
              </a:xfrm>
            </p:spPr>
            <p:txBody>
              <a:bodyPr>
                <a:normAutofit/>
              </a:bodyPr>
              <a:lstStyle/>
              <a:p>
                <a:r>
                  <a:rPr lang="ru-RU" i="1" dirty="0"/>
                  <a:t>Элементарной конъюнкцией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ru-RU" i="1" dirty="0"/>
                  <a:t>переменных </a:t>
                </a:r>
                <a:r>
                  <a:rPr lang="ru-RU" dirty="0"/>
                  <a:t> называется конъюнкция переменных или их отрицаний.</a:t>
                </a:r>
              </a:p>
              <a:p>
                <a:pPr marL="0" indent="0">
                  <a:buNone/>
                </a:pPr>
                <a:r>
                  <a:rPr lang="ru-RU" dirty="0"/>
                  <a:t>Примеры: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1)</m:t>
                    </m:r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𝐶</m:t>
                    </m:r>
                    <m:r>
                      <a:rPr lang="en-US" b="0" i="0" smtClean="0">
                        <a:latin typeface="Cambria Math"/>
                      </a:rPr>
                      <m:t>;</m:t>
                    </m:r>
                  </m:oMath>
                </a14:m>
                <a:r>
                  <a:rPr lang="en-US" dirty="0"/>
                  <a:t> 2)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𝐵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m:rPr>
                        <m:nor/>
                      </m:rPr>
                      <a:rPr lang="ru-RU" i="1"/>
                      <m:t> 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𝐶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r>
                  <a:rPr lang="ru-RU" i="1" dirty="0"/>
                  <a:t>Дизъюнктивная нормальная форма (ДНФ</a:t>
                </a:r>
                <a:r>
                  <a:rPr lang="ru-RU" dirty="0"/>
                  <a:t>) </a:t>
                </a:r>
                <a:r>
                  <a:rPr lang="ru-RU" i="1" dirty="0"/>
                  <a:t>формулы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называется равносильная ей формула, представляющая собой дизъюнкцию элементарных конъюнкций.</a:t>
                </a:r>
              </a:p>
              <a:p>
                <a:pPr marL="0" indent="0">
                  <a:buNone/>
                </a:pPr>
                <a:r>
                  <a:rPr lang="ru-RU" dirty="0"/>
                  <a:t>Пример.  Для формулы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≡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∧(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→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ru-RU" dirty="0"/>
                  <a:t> имеем: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≡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∧(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  <m:r>
                      <a:rPr lang="ru-RU">
                        <a:latin typeface="Cambria Math"/>
                      </a:rPr>
                      <m:t>)≡(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)∨(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  <m:r>
                      <a:rPr lang="ru-RU">
                        <a:latin typeface="Cambria Math"/>
                      </a:rPr>
                      <m:t>)≡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</m:oMath>
                </a14:m>
                <a:r>
                  <a:rPr lang="ru-RU" dirty="0"/>
                  <a:t>, т.е. </a:t>
                </a:r>
              </a:p>
              <a:p>
                <a:pPr marL="0" indent="0">
                  <a:buNone/>
                </a:pPr>
                <a:r>
                  <a:rPr lang="ru-RU" i="1" u="sng" dirty="0"/>
                  <a:t>ДНФ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 u="sng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u="sng">
                            <a:latin typeface="Cambria Math"/>
                          </a:rPr>
                          <m:t>𝐴</m:t>
                        </m:r>
                        <m:r>
                          <a:rPr lang="ru-RU" i="1" u="sng">
                            <a:latin typeface="Cambria Math"/>
                          </a:rPr>
                          <m:t>≡(</m:t>
                        </m:r>
                        <m:r>
                          <a:rPr lang="ru-RU" i="1" u="sng">
                            <a:latin typeface="Cambria Math"/>
                          </a:rPr>
                          <m:t>𝑋</m:t>
                        </m:r>
                        <m:r>
                          <a:rPr lang="ru-RU" i="1" u="sng">
                            <a:latin typeface="Cambria Math"/>
                          </a:rPr>
                          <m:t>∧</m:t>
                        </m:r>
                        <m:acc>
                          <m:accPr>
                            <m:chr m:val="̅"/>
                            <m:ctrlPr>
                              <a:rPr lang="ru-RU" i="1" u="sng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u="sng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 i="1" u="sng">
                            <a:latin typeface="Cambria Math"/>
                          </a:rPr>
                          <m:t>)∨(</m:t>
                        </m:r>
                        <m:r>
                          <a:rPr lang="ru-RU" i="1" u="sng">
                            <a:latin typeface="Cambria Math"/>
                          </a:rPr>
                          <m:t>𝑋</m:t>
                        </m:r>
                        <m:r>
                          <a:rPr lang="ru-RU" i="1" u="sng">
                            <a:latin typeface="Cambria Math"/>
                          </a:rPr>
                          <m:t>∧</m:t>
                        </m:r>
                        <m:r>
                          <a:rPr lang="ru-RU" i="1" u="sng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ru-RU" i="1" u="sng" dirty="0"/>
                  <a:t> или ДНФ </a:t>
                </a:r>
                <a14:m>
                  <m:oMath xmlns:m="http://schemas.openxmlformats.org/officeDocument/2006/math">
                    <m:r>
                      <a:rPr lang="ru-RU" i="1" u="sng">
                        <a:latin typeface="Cambria Math"/>
                      </a:rPr>
                      <m:t>𝐴</m:t>
                    </m:r>
                    <m:r>
                      <a:rPr lang="ru-RU" i="1" u="sng">
                        <a:latin typeface="Cambria Math"/>
                      </a:rPr>
                      <m:t>≡</m:t>
                    </m:r>
                    <m:r>
                      <a:rPr lang="ru-RU" i="1" u="sng">
                        <a:latin typeface="Cambria Math"/>
                      </a:rPr>
                      <m:t>𝑋</m:t>
                    </m:r>
                    <m:r>
                      <a:rPr lang="ru-RU" i="1" u="sng">
                        <a:latin typeface="Cambria Math"/>
                      </a:rPr>
                      <m:t>∧</m:t>
                    </m:r>
                    <m:r>
                      <a:rPr lang="ru-RU" i="1" u="sng">
                        <a:latin typeface="Cambria Math"/>
                      </a:rPr>
                      <m:t>𝑌</m:t>
                    </m:r>
                  </m:oMath>
                </a14:m>
                <a:r>
                  <a:rPr lang="ru-RU" i="1" u="sng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847528" y="1628800"/>
                <a:ext cx="8640960" cy="5112568"/>
              </a:xfrm>
              <a:blipFill>
                <a:blip r:embed="rId2" cstate="print"/>
                <a:stretch>
                  <a:fillRect l="-1410" t="-2026" b="-1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96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188640"/>
            <a:ext cx="8424936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Конъюнктивная нормальная форма (КНФ)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438400" y="1412776"/>
                <a:ext cx="7772400" cy="460702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i="1" dirty="0"/>
                  <a:t>Элементарной дизъюнкцией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ru-RU" i="1" dirty="0"/>
                  <a:t>переменных </a:t>
                </a:r>
                <a:r>
                  <a:rPr lang="ru-RU" dirty="0"/>
                  <a:t> называется дизъюнкция переменных или их отрицаний.</a:t>
                </a:r>
              </a:p>
              <a:p>
                <a:pPr marL="0" indent="0">
                  <a:buNone/>
                </a:pPr>
                <a:r>
                  <a:rPr lang="ru-RU" dirty="0"/>
                  <a:t>Примеры: 1)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𝐵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𝐶</m:t>
                    </m:r>
                  </m:oMath>
                </a14:m>
                <a:r>
                  <a:rPr lang="ru-RU" dirty="0"/>
                  <a:t> , 2)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𝐵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m:rPr>
                        <m:nor/>
                      </m:rPr>
                      <a:rPr lang="ru-RU" i="1"/>
                      <m:t> 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𝐴</m:t>
                    </m:r>
                  </m:oMath>
                </a14:m>
                <a:r>
                  <a:rPr lang="ru-RU" dirty="0"/>
                  <a:t> .</a:t>
                </a:r>
              </a:p>
              <a:p>
                <a:r>
                  <a:rPr lang="ru-RU" i="1" dirty="0"/>
                  <a:t>Конъюнктивной нормальной формой (КНФ) формулы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называется равносильная ей формула, представляющая собой конъюнкцию элементарных дизъюнкций. </a:t>
                </a:r>
              </a:p>
              <a:p>
                <a:pPr marL="0" indent="0">
                  <a:buNone/>
                </a:pPr>
                <a:r>
                  <a:rPr lang="ru-RU" dirty="0"/>
                  <a:t>Пример. Для формулы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≡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↔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 произведя равносильные преобразования, получим: КНФ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≡(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  <m:r>
                          <a:rPr lang="ru-RU">
                            <a:latin typeface="Cambria Math"/>
                          </a:rPr>
                          <m:t>)∧(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>
                            <a:latin typeface="Cambria Math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438400" y="1412776"/>
                <a:ext cx="7772400" cy="4607024"/>
              </a:xfrm>
              <a:blipFill>
                <a:blip r:embed="rId2" cstate="print"/>
                <a:stretch>
                  <a:fillRect l="-1569" t="-3307" r="-2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8483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3592" y="54868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Совершенная дизъюнктивная нормальная форма (СДНФ)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423592" y="1772816"/>
                <a:ext cx="7772400" cy="424698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Дизъюнктивная нормальная форма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i="1" dirty="0"/>
                  <a:t>совершенной,</a:t>
                </a:r>
                <a:r>
                  <a:rPr lang="en-US" i="1" dirty="0"/>
                  <a:t> </a:t>
                </a:r>
                <a:r>
                  <a:rPr lang="ru-RU" dirty="0"/>
                  <a:t>если выполнены следующие условия: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В форме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</m:oMath>
                </a14:m>
                <a:r>
                  <a:rPr lang="ru-RU" dirty="0"/>
                  <a:t> нет двух одинаковых элементарных конъюнкций.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ru-RU" i="1"/>
                      <m:t>  </m:t>
                    </m:r>
                    <m:r>
                      <a:rPr lang="ru-RU" i="1">
                        <a:latin typeface="Cambria Math"/>
                      </a:rPr>
                      <m:t>𝑖</m:t>
                    </m:r>
                    <m:r>
                      <a:rPr lang="ru-RU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>
                            <a:latin typeface="Cambria Math"/>
                          </a:rPr>
                          <m:t>1,</m:t>
                        </m:r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произвольная переменная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ru-RU" i="1"/>
                      <m:t>  </m:t>
                    </m:r>
                    <m:r>
                      <a:rPr lang="ru-RU" i="1">
                        <a:latin typeface="Cambria Math"/>
                      </a:rPr>
                      <m:t>𝑗</m:t>
                    </m:r>
                    <m:r>
                      <a:rPr lang="ru-RU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>
                            <a:latin typeface="Cambria Math"/>
                          </a:rPr>
                          <m:t>1,</m:t>
                        </m:r>
                        <m:r>
                          <a:rPr lang="ru-RU" i="1">
                            <a:latin typeface="Cambria Math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элементарная конъюнкция из формы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 b="0" i="0" smtClean="0">
                        <a:latin typeface="Cambria Math"/>
                      </a:rPr>
                      <m:t>. </m:t>
                    </m:r>
                  </m:oMath>
                </a14:m>
                <a:r>
                  <a:rPr lang="ru-RU" dirty="0"/>
                  <a:t>Тогда имеется ровно одно вхождение переменной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, или отрицания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элементарную конъюнкцию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b="0" i="0" smtClean="0">
                        <a:latin typeface="Cambria Math"/>
                      </a:rPr>
                      <m:t>.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Пример. Для формулы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≡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∧(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→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ru-RU" dirty="0"/>
                  <a:t> имеем:</a:t>
                </a:r>
              </a:p>
              <a:p>
                <a:pPr marL="0" indent="0">
                  <a:buNone/>
                </a:pPr>
                <a:r>
                  <a:rPr lang="ru-RU" i="1" u="sng" dirty="0"/>
                  <a:t>ДНФ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 u="sng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u="sng">
                            <a:latin typeface="Cambria Math"/>
                          </a:rPr>
                          <m:t>𝐴</m:t>
                        </m:r>
                        <m:r>
                          <a:rPr lang="ru-RU" i="1" u="sng">
                            <a:latin typeface="Cambria Math"/>
                          </a:rPr>
                          <m:t>≡(</m:t>
                        </m:r>
                        <m:r>
                          <a:rPr lang="ru-RU" i="1" u="sng">
                            <a:latin typeface="Cambria Math"/>
                          </a:rPr>
                          <m:t>𝑋</m:t>
                        </m:r>
                        <m:r>
                          <a:rPr lang="ru-RU" i="1" u="sng">
                            <a:latin typeface="Cambria Math"/>
                          </a:rPr>
                          <m:t>∧</m:t>
                        </m:r>
                        <m:acc>
                          <m:accPr>
                            <m:chr m:val="̅"/>
                            <m:ctrlPr>
                              <a:rPr lang="ru-RU" i="1" u="sng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u="sng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 i="1" u="sng">
                            <a:latin typeface="Cambria Math"/>
                          </a:rPr>
                          <m:t>)∨(</m:t>
                        </m:r>
                        <m:r>
                          <a:rPr lang="ru-RU" i="1" u="sng">
                            <a:latin typeface="Cambria Math"/>
                          </a:rPr>
                          <m:t>𝑋</m:t>
                        </m:r>
                        <m:r>
                          <a:rPr lang="ru-RU" i="1" u="sng">
                            <a:latin typeface="Cambria Math"/>
                          </a:rPr>
                          <m:t>∧</m:t>
                        </m:r>
                        <m:r>
                          <a:rPr lang="ru-RU" i="1" u="sng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ru-RU" i="1" u="sng" dirty="0"/>
                  <a:t> или ДНФ </a:t>
                </a:r>
                <a14:m>
                  <m:oMath xmlns:m="http://schemas.openxmlformats.org/officeDocument/2006/math">
                    <m:r>
                      <a:rPr lang="ru-RU" i="1" u="sng">
                        <a:latin typeface="Cambria Math"/>
                      </a:rPr>
                      <m:t>𝐴</m:t>
                    </m:r>
                    <m:r>
                      <a:rPr lang="ru-RU" i="1" u="sng">
                        <a:latin typeface="Cambria Math"/>
                      </a:rPr>
                      <m:t>≡</m:t>
                    </m:r>
                    <m:r>
                      <a:rPr lang="ru-RU" i="1" u="sng">
                        <a:latin typeface="Cambria Math"/>
                      </a:rPr>
                      <m:t>𝑋</m:t>
                    </m:r>
                    <m:r>
                      <a:rPr lang="ru-RU" i="1" u="sng">
                        <a:latin typeface="Cambria Math"/>
                      </a:rPr>
                      <m:t>∧</m:t>
                    </m:r>
                    <m:r>
                      <a:rPr lang="ru-RU" i="1" u="sng">
                        <a:latin typeface="Cambria Math"/>
                      </a:rPr>
                      <m:t>𝑌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Тогда, СДНФ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≡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423592" y="1772816"/>
                <a:ext cx="7772400" cy="4246984"/>
              </a:xfrm>
              <a:blipFill>
                <a:blip r:embed="rId2" cstate="print"/>
                <a:stretch>
                  <a:fillRect l="-1255" t="-3443" b="-34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306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Совершенная конъюнктивная нормальная форма (СКНФ)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063552" y="1447800"/>
                <a:ext cx="8147248" cy="500553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Конъюнктивная нормальная форма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i="1" dirty="0"/>
                  <a:t>совершенной,</a:t>
                </a:r>
                <a:r>
                  <a:rPr lang="en-US" i="1" dirty="0"/>
                  <a:t> </a:t>
                </a:r>
                <a:r>
                  <a:rPr lang="ru-RU" dirty="0"/>
                  <a:t>если выполнены следующие условия: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В форме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</m:oMath>
                </a14:m>
                <a:r>
                  <a:rPr lang="ru-RU" dirty="0"/>
                  <a:t> нет двух одинаковых элементарных дизъюнкций.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ru-RU" i="1"/>
                      <m:t>  </m:t>
                    </m:r>
                    <m:r>
                      <a:rPr lang="ru-RU" i="1">
                        <a:latin typeface="Cambria Math"/>
                      </a:rPr>
                      <m:t>𝑖</m:t>
                    </m:r>
                    <m:r>
                      <a:rPr lang="ru-RU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>
                            <a:latin typeface="Cambria Math"/>
                          </a:rPr>
                          <m:t>1,</m:t>
                        </m:r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произвольная переменная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ru-RU" i="1"/>
                      <m:t>  </m:t>
                    </m:r>
                    <m:r>
                      <a:rPr lang="ru-RU" i="1">
                        <a:latin typeface="Cambria Math"/>
                      </a:rPr>
                      <m:t>𝑗</m:t>
                    </m:r>
                    <m:r>
                      <a:rPr lang="ru-RU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>
                            <a:latin typeface="Cambria Math"/>
                          </a:rPr>
                          <m:t>1,</m:t>
                        </m:r>
                        <m:r>
                          <a:rPr lang="ru-RU" i="1">
                            <a:latin typeface="Cambria Math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элементарная дизъюнкция из формы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. </m:t>
                    </m:r>
                  </m:oMath>
                </a14:m>
                <a:r>
                  <a:rPr lang="ru-RU" dirty="0"/>
                  <a:t>Тогда имеется ровно одно вхождение переменной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, или отрицания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dirty="0"/>
                  <a:t>в элементарную дизъюнкцию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>
                        <a:latin typeface="Cambria Math"/>
                      </a:rPr>
                      <m:t>.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Пример. Для формулы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≡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↔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 произведя равносильные преобразования, получим: СКНФ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≡(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  <m:r>
                          <a:rPr lang="ru-RU">
                            <a:latin typeface="Cambria Math"/>
                          </a:rPr>
                          <m:t>)∧(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>
                            <a:latin typeface="Cambria Math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063552" y="1447800"/>
                <a:ext cx="8147248" cy="5005536"/>
              </a:xfrm>
              <a:blipFill>
                <a:blip r:embed="rId2" cstate="print"/>
                <a:stretch>
                  <a:fillRect l="-1347" t="-2801" r="-10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623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построения СДНФ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ru-RU" dirty="0"/>
                  <a:t>Для каждого набора переменных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,...,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, для которых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𝑓</m:t>
                    </m:r>
                    <m:r>
                      <a:rPr lang="ru-RU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,...,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)≡И</m:t>
                    </m:r>
                  </m:oMath>
                </a14:m>
                <a:r>
                  <a:rPr lang="ru-RU" dirty="0"/>
                  <a:t> выписывается конъюнктивный одночлен, содержащий все переменные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≡И</m:t>
                    </m:r>
                  </m:oMath>
                </a14:m>
                <a:r>
                  <a:rPr lang="ru-RU" dirty="0"/>
                  <a:t> и отрицания всех переменных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/>
                          </a:rPr>
                          <m:t> </m:t>
                        </m:r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≡Л</m:t>
                    </m:r>
                  </m:oMath>
                </a14:m>
                <a:r>
                  <a:rPr lang="ru-RU" dirty="0"/>
                  <a:t>;</a:t>
                </a:r>
              </a:p>
              <a:p>
                <a:r>
                  <a:rPr lang="ru-RU" dirty="0"/>
                  <a:t>Все полученные конъюнктивные одночлены объединяются знаками дизъюнкции.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706" t="-18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9952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построения СКНФ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ru-RU" dirty="0"/>
                  <a:t>Для каждого набора переменных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,...,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, для которых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𝑓</m:t>
                    </m:r>
                    <m:r>
                      <a:rPr lang="ru-RU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,...,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)≡</m:t>
                    </m:r>
                    <m:r>
                      <a:rPr lang="ru-RU" b="0" i="0" smtClean="0">
                        <a:latin typeface="Cambria Math"/>
                      </a:rPr>
                      <m:t>Л</m:t>
                    </m:r>
                  </m:oMath>
                </a14:m>
                <a:r>
                  <a:rPr lang="ru-RU" dirty="0"/>
                  <a:t> выписывается дизъюнктивный одночлен, содержащий все переменные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≡И</m:t>
                    </m:r>
                  </m:oMath>
                </a14:m>
                <a:r>
                  <a:rPr lang="ru-RU" dirty="0"/>
                  <a:t> и отрицания всех переменных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 </m:t>
                        </m:r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≡Л</m:t>
                    </m:r>
                  </m:oMath>
                </a14:m>
                <a:r>
                  <a:rPr lang="ru-RU" dirty="0"/>
                  <a:t>;</a:t>
                </a:r>
              </a:p>
              <a:p>
                <a:r>
                  <a:rPr lang="ru-RU" dirty="0"/>
                  <a:t>Все полученные дизъюнктивные одночлены объединяются знаками конъюнкции.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706" t="-18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576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3592" y="332656"/>
            <a:ext cx="7772400" cy="710952"/>
          </a:xfrm>
        </p:spPr>
        <p:txBody>
          <a:bodyPr>
            <a:normAutofit/>
          </a:bodyPr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1991544" y="1052736"/>
            <a:ext cx="8496944" cy="45720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Рассмотри в качестве примера функцию, записанную в табличной форме:</a:t>
            </a:r>
          </a:p>
          <a:p>
            <a:pPr marL="0" indent="0">
              <a:buNone/>
            </a:pP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/>
            </p:nvGraphicFramePr>
            <p:xfrm>
              <a:off x="2135560" y="2010544"/>
              <a:ext cx="8208912" cy="460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920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609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91033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87220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5005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ru-RU" sz="2000" i="0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ru-RU" sz="2000" i="0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ru-RU" sz="2000" i="0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"/>
                                    <m:ctrlPr>
                                      <a:rPr kumimoji="0" lang="ru-RU" sz="20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20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  <m:r>
                                      <a:rPr kumimoji="0" lang="ru-RU" sz="2000" i="0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kumimoji="0" lang="ru-RU" sz="2000" i="1" kern="1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2000" i="1" kern="120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ru-RU" sz="2000" i="0" kern="120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kumimoji="0" lang="ru-RU" sz="2000" i="0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kumimoji="0" lang="ru-RU" sz="2000" i="1" kern="1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2000" i="1" kern="120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ru-RU" sz="2000" i="0" kern="120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kumimoji="0" lang="ru-RU" sz="2000" i="0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kumimoji="0" lang="ru-RU" sz="2000" i="1" kern="12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2000" i="1" kern="120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0" lang="ru-RU" sz="2000" i="0" kern="120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Строки для построения СКНФ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Строки для построения СДНФ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*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*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*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И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*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135560" y="2010544"/>
              <a:ext cx="8208912" cy="460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9208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906093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910331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1872209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" t="-18182" r="-938462" b="-36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54" t="-18182" r="-759155" b="-36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2254" t="-18182" r="-659155" b="-36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3013" t="-18182" r="-200000" b="-36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Строки для построения СКНФ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Строки для построения СДНФ</a:t>
                          </a:r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*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*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*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*</a:t>
                          </a:r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*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*</a:t>
                          </a:r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Л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*</a:t>
                          </a:r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500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И</a:t>
                          </a:r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smtClean="0"/>
                            <a:t>*</a:t>
                          </a:r>
                          <a:endParaRPr lang="ru-RU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58623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Тогда СДНФ: </a:t>
                </a: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/>
                        </a:rPr>
                        <m:t>𝑓</m:t>
                      </m:r>
                      <m:r>
                        <a:rPr lang="ru-RU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>
                          <a:latin typeface="Cambria Math"/>
                        </a:rPr>
                        <m:t>)=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/>
                        </a:rPr>
                        <m:t>∨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/>
                        </a:rPr>
                        <m:t>∨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/>
                            </a:rPr>
                            <m:t>∨(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acc>
                          <m:r>
                            <a:rPr lang="ru-RU">
                              <a:latin typeface="Cambria Math"/>
                            </a:rPr>
                            <m:t>)∨(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СКНФ: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/>
                        </a:rPr>
                        <m:t>𝑓</m:t>
                      </m:r>
                      <m:r>
                        <a:rPr lang="ru-RU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>
                          <a:latin typeface="Cambria Math"/>
                        </a:rPr>
                        <m:t>)=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ru-RU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ru-RU">
                          <a:latin typeface="Cambria Math"/>
                        </a:rPr>
                        <m:t>∧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/>
                            </a:rPr>
                            <m:t>∧(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)∧(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1333" t="-18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874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СДНФ, СКНФ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Привести формулу к СДНФ:</a:t>
                </a:r>
              </a:p>
              <a:p>
                <a:pPr marL="0" indent="0">
                  <a:buNone/>
                </a:pPr>
                <a:r>
                  <a:rPr lang="ru-RU" dirty="0"/>
                  <a:t>А)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  <m:r>
                          <a:rPr lang="ru-RU">
                            <a:latin typeface="Cambria Math"/>
                          </a:rPr>
                          <m:t>∧(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;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Б)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∧(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𝑍</m:t>
                        </m:r>
                        <m:r>
                          <a:rPr lang="ru-RU">
                            <a:latin typeface="Cambria Math"/>
                          </a:rPr>
                          <m:t>⇒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В)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𝑍</m:t>
                            </m:r>
                          </m:e>
                        </m:acc>
                        <m:r>
                          <a:rPr lang="ru-RU">
                            <a:latin typeface="Cambria Math"/>
                          </a:rPr>
                          <m:t>)⇒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Привести формулу к СКНФ:</a:t>
                </a:r>
              </a:p>
              <a:p>
                <a:pPr marL="0" indent="0">
                  <a:buNone/>
                </a:pPr>
                <a:r>
                  <a:rPr lang="ru-RU" dirty="0"/>
                  <a:t>Г)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  <m:r>
                          <a:rPr lang="ru-RU">
                            <a:latin typeface="Cambria Math"/>
                          </a:rPr>
                          <m:t>)∧(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𝑌</m:t>
                            </m:r>
                          </m:e>
                        </m:acc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𝑍</m:t>
                        </m:r>
                        <m:r>
                          <a:rPr lang="ru-RU">
                            <a:latin typeface="Cambria Math"/>
                          </a:rPr>
                          <m:t>)∨(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𝑌</m:t>
                            </m:r>
                          </m:e>
                        </m:acc>
                        <m:r>
                          <a:rPr lang="ru-RU">
                            <a:latin typeface="Cambria Math"/>
                          </a:rPr>
                          <m:t>)∧(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𝑍</m:t>
                        </m:r>
                      </m:e>
                    </m:d>
                  </m:oMath>
                </a14:m>
                <a:r>
                  <a:rPr lang="ru-RU" dirty="0"/>
                  <a:t>;</a:t>
                </a:r>
              </a:p>
              <a:p>
                <a:pPr marL="0" indent="0">
                  <a:buNone/>
                </a:pPr>
                <a:r>
                  <a:rPr lang="ru-RU" dirty="0"/>
                  <a:t>Д)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>
                            <a:latin typeface="Cambria Math"/>
                          </a:rPr>
                          <m:t>⇒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𝑌</m:t>
                            </m:r>
                          </m:e>
                        </m:acc>
                        <m:r>
                          <a:rPr lang="ru-RU">
                            <a:latin typeface="Cambria Math"/>
                          </a:rPr>
                          <m:t>)⇒(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𝑍</m:t>
                        </m:r>
                        <m:r>
                          <a:rPr lang="ru-RU">
                            <a:latin typeface="Cambria Math"/>
                          </a:rPr>
                          <m:t>⇒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1490" t="-4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900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Ответы: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135560" y="1447800"/>
                <a:ext cx="8075240" cy="4572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А)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Б)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𝑍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en-US" b="0" i="0" smtClean="0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𝑍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)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𝑍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)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𝑍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В)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(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𝑍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𝑍</m:t>
                    </m:r>
                    <m:r>
                      <a:rPr lang="en-US" b="0" i="0" smtClean="0">
                        <a:latin typeface="Cambria Math"/>
                      </a:rPr>
                      <m:t>)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en-US" b="0" i="0" smtClean="0">
                        <a:latin typeface="Cambria Math"/>
                      </a:rPr>
                      <m:t>(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∧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𝑍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Г)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𝑍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Д)И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135560" y="1447800"/>
                <a:ext cx="8075240" cy="4572000"/>
              </a:xfrm>
              <a:blipFill>
                <a:blip r:embed="rId2" cstate="print"/>
                <a:stretch>
                  <a:fillRect l="-1509" t="-2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352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Приложения алгебры логики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i="1" dirty="0"/>
              <a:t>Приложения алгебры высказываний к  релейно-контактным  схемам (РКС)</a:t>
            </a:r>
          </a:p>
          <a:p>
            <a:r>
              <a:rPr lang="ru-RU" dirty="0"/>
              <a:t>Под переключательными схемами (РКС) понимают схематическое  изображение  некоторого устройства, состоящего из следующих элементов:</a:t>
            </a:r>
          </a:p>
          <a:p>
            <a:pPr marL="514350" indent="-514350">
              <a:buFont typeface="+mj-lt"/>
              <a:buAutoNum type="arabicPeriod"/>
            </a:pPr>
            <a:r>
              <a:rPr lang="ru-RU" i="1" dirty="0"/>
              <a:t>переключателей</a:t>
            </a:r>
            <a:r>
              <a:rPr lang="ru-RU" dirty="0"/>
              <a:t> (электромагнитные  реле, полупроводники и т.д.);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соединяющие их </a:t>
            </a:r>
            <a:r>
              <a:rPr lang="ru-RU" i="1" dirty="0"/>
              <a:t>проводники;</a:t>
            </a:r>
          </a:p>
          <a:p>
            <a:pPr marL="514350" indent="-514350">
              <a:buFont typeface="+mj-lt"/>
              <a:buAutoNum type="arabicPeriod"/>
            </a:pPr>
            <a:r>
              <a:rPr lang="ru-RU" i="1" dirty="0"/>
              <a:t>входы</a:t>
            </a:r>
            <a:r>
              <a:rPr lang="ru-RU" dirty="0"/>
              <a:t> в схему и</a:t>
            </a:r>
            <a:r>
              <a:rPr lang="ru-RU" i="1" dirty="0"/>
              <a:t> выходы </a:t>
            </a:r>
            <a:r>
              <a:rPr lang="ru-RU" dirty="0"/>
              <a:t>из нее так называемые полюса.</a:t>
            </a:r>
          </a:p>
        </p:txBody>
      </p:sp>
    </p:spTree>
    <p:extLst>
      <p:ext uri="{BB962C8B-B14F-4D97-AF65-F5344CB8AC3E}">
        <p14:creationId xmlns:p14="http://schemas.microsoft.com/office/powerpoint/2010/main" val="1093766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Релейно-контактные  схемы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2438400" y="1556792"/>
            <a:ext cx="7402016" cy="446300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Любому высказыванию может быть поставлена в соответствие  переключательная схема с двумя полюсами (двухполюсная схема)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Конъюнкции двух высказываний ставится в соответствие схема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Дизъюнкции двух высказываний  ставится в соответствие схема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7" y="2813298"/>
            <a:ext cx="423862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154" y="4221089"/>
            <a:ext cx="52578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9055" y="5517233"/>
            <a:ext cx="33432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087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400" dirty="0"/>
              <a:t>Задача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/>
              <a:t>Пусть </a:t>
            </a:r>
            <a:r>
              <a:rPr lang="en-US" dirty="0"/>
              <a:t>x </a:t>
            </a:r>
            <a:r>
              <a:rPr lang="ru-RU" dirty="0"/>
              <a:t>и </a:t>
            </a:r>
            <a:r>
              <a:rPr lang="en-US" dirty="0"/>
              <a:t>y </a:t>
            </a:r>
            <a:r>
              <a:rPr lang="ru-RU" dirty="0"/>
              <a:t>простые переключатели, из которых мы должны собрать контактную схему, пропускающую ток, например, тогда и только тогда когда </a:t>
            </a:r>
            <a:r>
              <a:rPr lang="en-US" dirty="0"/>
              <a:t>x=</a:t>
            </a:r>
            <a:r>
              <a:rPr lang="ru-RU" dirty="0"/>
              <a:t>И</a:t>
            </a:r>
            <a:r>
              <a:rPr lang="en-US" dirty="0"/>
              <a:t>, y = </a:t>
            </a:r>
            <a:r>
              <a:rPr lang="ru-RU" dirty="0"/>
              <a:t>Л и во всех состояниях </a:t>
            </a:r>
            <a:r>
              <a:rPr lang="en-US" dirty="0"/>
              <a:t>x ,y </a:t>
            </a:r>
            <a:r>
              <a:rPr lang="ru-RU" dirty="0"/>
              <a:t>полученные из </a:t>
            </a:r>
            <a:r>
              <a:rPr lang="en-US" dirty="0"/>
              <a:t>x=</a:t>
            </a:r>
            <a:r>
              <a:rPr lang="ru-RU" dirty="0"/>
              <a:t>И</a:t>
            </a:r>
            <a:r>
              <a:rPr lang="en-US" dirty="0"/>
              <a:t>, y = </a:t>
            </a:r>
            <a:r>
              <a:rPr lang="ru-RU" dirty="0"/>
              <a:t>Л чётным числом переключений</a:t>
            </a:r>
          </a:p>
        </p:txBody>
      </p:sp>
    </p:spTree>
    <p:extLst>
      <p:ext uri="{BB962C8B-B14F-4D97-AF65-F5344CB8AC3E}">
        <p14:creationId xmlns:p14="http://schemas.microsoft.com/office/powerpoint/2010/main" val="2630647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Так как  любая формула алгебры логики может быть представлена  в ДНФ или КНФ отсюда  всякой формуле  можно поставить некоторую релейно-контактную схему.</a:t>
                </a:r>
              </a:p>
              <a:p>
                <a:r>
                  <a:rPr lang="ru-RU" dirty="0"/>
                  <a:t>Пример Составить РКС для  следующей импликации</a:t>
                </a:r>
                <a:r>
                  <a:rPr lang="en-US" dirty="0"/>
                  <a:t>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r>
                            <a:rPr lang="ru-RU" i="1">
                              <a:latin typeface="Cambria Math"/>
                            </a:rPr>
                            <m:t>𝑌</m:t>
                          </m:r>
                          <m:r>
                            <a:rPr lang="ru-RU">
                              <a:latin typeface="Cambria Math"/>
                            </a:rPr>
                            <m:t>)⇒(</m:t>
                          </m:r>
                          <m:r>
                            <a:rPr lang="ru-RU" i="1">
                              <a:latin typeface="Cambria Math"/>
                            </a:rPr>
                            <m:t>𝑍</m:t>
                          </m:r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r>
                            <a:rPr lang="ru-RU" i="1">
                              <a:latin typeface="Cambria Math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Упростите данную формулу с помощью равносильных преобразований, используя следующие равносильности: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>
                        <a:latin typeface="Cambria Math"/>
                      </a:rPr>
                      <m:t>⇒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  <m:r>
                      <a:rPr lang="ru-RU">
                        <a:latin typeface="Cambria Math"/>
                      </a:rPr>
                      <m:t>≡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≡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>
                        <a:latin typeface="Cambria Math"/>
                      </a:rPr>
                      <m:t>∨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</m:e>
                    </m:acc>
                    <m:r>
                      <a:rPr lang="ru-RU">
                        <a:latin typeface="Cambria Math"/>
                      </a:rPr>
                      <m:t>≡</m:t>
                    </m:r>
                    <m:r>
                      <a:rPr lang="ru-RU" i="1">
                        <a:latin typeface="Cambria Math"/>
                      </a:rPr>
                      <m:t>𝑋</m:t>
                    </m:r>
                  </m:oMath>
                </a14:m>
                <a:endParaRPr lang="ru-RU" dirty="0"/>
              </a:p>
              <a:p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 cstate="print"/>
                <a:stretch>
                  <a:fillRect l="-1059" t="-2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353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Ответ: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𝑌</m:t>
                        </m:r>
                        <m:r>
                          <a:rPr lang="ru-RU">
                            <a:latin typeface="Cambria Math"/>
                          </a:rPr>
                          <m:t>)⇒(</m:t>
                        </m:r>
                        <m:r>
                          <a:rPr lang="ru-RU" i="1">
                            <a:latin typeface="Cambria Math"/>
                          </a:rPr>
                          <m:t>𝑍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)≡</m:t>
                        </m:r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ru-RU">
                                <a:latin typeface="Cambria Math"/>
                              </a:rPr>
                              <m:t>∧</m:t>
                            </m:r>
                            <m:r>
                              <a:rPr lang="ru-RU" i="1">
                                <a:latin typeface="Cambria Math"/>
                              </a:rPr>
                              <m:t>𝑌</m:t>
                            </m:r>
                          </m:e>
                        </m:acc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𝑍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𝑋</m:t>
                        </m:r>
                        <m:r>
                          <a:rPr lang="ru-RU">
                            <a:latin typeface="Cambria Math"/>
                          </a:rPr>
                          <m:t>≡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/>
                        </a:rPr>
                        <m:t>≡</m:t>
                      </m:r>
                      <m:r>
                        <a:rPr lang="ru-RU" i="1">
                          <a:latin typeface="Cambria Math"/>
                        </a:rPr>
                        <m:t>𝑋</m:t>
                      </m:r>
                      <m:r>
                        <a:rPr lang="ru-RU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ru-RU">
                          <a:latin typeface="Cambria Math"/>
                        </a:rPr>
                        <m:t>∨</m:t>
                      </m:r>
                      <m:r>
                        <a:rPr lang="ru-RU" i="1">
                          <a:latin typeface="Cambria Math"/>
                        </a:rPr>
                        <m:t>𝑍</m:t>
                      </m:r>
                      <m:r>
                        <a:rPr lang="ru-RU">
                          <a:latin typeface="Cambria Math"/>
                        </a:rPr>
                        <m:t>∨</m:t>
                      </m:r>
                      <m:r>
                        <a:rPr lang="ru-RU" i="1">
                          <a:latin typeface="Cambria Math"/>
                        </a:rPr>
                        <m:t>𝑋</m:t>
                      </m:r>
                      <m:r>
                        <a:rPr lang="ru-RU">
                          <a:latin typeface="Cambria Math"/>
                        </a:rPr>
                        <m:t>≡</m:t>
                      </m:r>
                      <m:r>
                        <a:rPr lang="ru-RU" i="1">
                          <a:latin typeface="Cambria Math"/>
                        </a:rPr>
                        <m:t>𝑋</m:t>
                      </m:r>
                      <m:r>
                        <a:rPr lang="ru-RU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ru-RU">
                          <a:latin typeface="Cambria Math"/>
                        </a:rPr>
                        <m:t>∨</m:t>
                      </m:r>
                      <m:r>
                        <a:rPr lang="ru-RU" i="1">
                          <a:latin typeface="Cambria Math"/>
                        </a:rPr>
                        <m:t>𝑍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РКС: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1333" t="-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9" y="2780928"/>
            <a:ext cx="385762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5116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Обратная задача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2438400" y="1447800"/>
            <a:ext cx="7772400" cy="493352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Упростить  РКС</a:t>
            </a:r>
            <a:endParaRPr lang="en-US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Алгоритм выполнения задания: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Составить по этой РКС  формулу алгебры логики (функция проводимости).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Упростить формулу.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Составить схему упрощенной формулы.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816" y="1988840"/>
            <a:ext cx="3769568" cy="207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9765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Решение: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/>
                            </a:rPr>
                            <m:t>𝑋</m:t>
                          </m:r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𝑌</m:t>
                              </m:r>
                            </m:e>
                          </m:acc>
                          <m:r>
                            <a:rPr lang="ru-RU">
                              <a:latin typeface="Cambria Math"/>
                            </a:rPr>
                            <m:t>)∨</m:t>
                          </m:r>
                          <m:r>
                            <a:rPr lang="ru-RU" i="1">
                              <a:latin typeface="Cambria Math"/>
                            </a:rPr>
                            <m:t>𝑍</m:t>
                          </m:r>
                          <m:r>
                            <a:rPr lang="ru-RU">
                              <a:latin typeface="Cambria Math"/>
                            </a:rPr>
                            <m:t>∨(</m:t>
                          </m:r>
                          <m:r>
                            <a:rPr lang="ru-RU" i="1">
                              <a:latin typeface="Cambria Math"/>
                            </a:rPr>
                            <m:t>𝑋</m:t>
                          </m:r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𝑌</m:t>
                              </m:r>
                            </m:e>
                          </m:acc>
                          <m:r>
                            <a:rPr lang="ru-RU">
                              <a:latin typeface="Cambria Math"/>
                            </a:rPr>
                            <m:t>)∧</m:t>
                          </m:r>
                          <m:r>
                            <a:rPr lang="ru-RU" i="1">
                              <a:latin typeface="Cambria Math"/>
                            </a:rPr>
                            <m:t>𝑍</m:t>
                          </m:r>
                          <m:r>
                            <a:rPr lang="ru-RU">
                              <a:latin typeface="Cambria Math"/>
                            </a:rPr>
                            <m:t>≡</m:t>
                          </m:r>
                          <m:r>
                            <a:rPr lang="ru-RU" i="1">
                              <a:latin typeface="Cambria Math"/>
                            </a:rPr>
                            <m:t>𝑋</m:t>
                          </m:r>
                          <m:r>
                            <a:rPr lang="ru-RU">
                              <a:latin typeface="Cambria Math"/>
                            </a:rPr>
                            <m:t>∧</m:t>
                          </m:r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𝑌</m:t>
                              </m:r>
                            </m:e>
                          </m:acc>
                          <m:r>
                            <a:rPr lang="ru-RU">
                              <a:latin typeface="Cambria Math"/>
                            </a:rPr>
                            <m:t>∨</m:t>
                          </m:r>
                          <m:r>
                            <a:rPr lang="ru-RU" i="1">
                              <a:latin typeface="Cambria Math"/>
                            </a:rPr>
                            <m:t>𝑍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РКС: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1333" t="-61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25" y="2733675"/>
            <a:ext cx="470535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3928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Домашняя работа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/>
              <a:t>Упростить РКС</a:t>
            </a:r>
          </a:p>
          <a:p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1916832"/>
            <a:ext cx="6930262" cy="4123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1315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Shape 1"/>
          <p:cNvSpPr txBox="1"/>
          <p:nvPr/>
        </p:nvSpPr>
        <p:spPr>
          <a:xfrm>
            <a:off x="2438344" y="1062887"/>
            <a:ext cx="7771592" cy="856870"/>
          </a:xfrm>
          <a:prstGeom prst="rect">
            <a:avLst/>
          </a:prstGeom>
          <a:noFill/>
          <a:ln>
            <a:noFill/>
          </a:ln>
        </p:spPr>
        <p:txBody>
          <a:bodyPr lIns="81638" tIns="40819" rIns="81638" bIns="82944" anchor="b"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ru-RU" sz="3628" spc="-1" dirty="0">
                <a:solidFill>
                  <a:srgbClr val="696464"/>
                </a:solidFill>
                <a:latin typeface="Franklin Gothic Book"/>
              </a:rPr>
              <a:t>Решение логических задач с помощью алгебры логики высказывания</a:t>
            </a:r>
            <a:endParaRPr lang="ru-RU" sz="3628" spc="-1" dirty="0">
              <a:solidFill>
                <a:srgbClr val="000000"/>
              </a:solidFill>
              <a:latin typeface="Perpetua"/>
            </a:endParaRPr>
          </a:p>
        </p:txBody>
      </p:sp>
      <p:sp>
        <p:nvSpPr>
          <p:cNvPr id="244" name="TextShape 2"/>
          <p:cNvSpPr txBox="1"/>
          <p:nvPr/>
        </p:nvSpPr>
        <p:spPr>
          <a:xfrm>
            <a:off x="2438344" y="1942944"/>
            <a:ext cx="7771592" cy="3962207"/>
          </a:xfrm>
          <a:prstGeom prst="rect">
            <a:avLst/>
          </a:prstGeom>
          <a:noFill/>
          <a:ln>
            <a:noFill/>
          </a:ln>
        </p:spPr>
        <p:txBody>
          <a:bodyPr lIns="81638" tIns="40819" rIns="81638" bIns="40819">
            <a:normAutofit fontScale="92500" lnSpcReduction="20000"/>
          </a:bodyPr>
          <a:lstStyle/>
          <a:p>
            <a:pPr>
              <a:spcBef>
                <a:spcPts val="527"/>
              </a:spcBef>
            </a:pPr>
            <a:r>
              <a:rPr lang="ru-RU" sz="2358" spc="-1" dirty="0">
                <a:solidFill>
                  <a:srgbClr val="000000"/>
                </a:solidFill>
                <a:latin typeface="Perpetua"/>
              </a:rPr>
              <a:t>После обсуждения состава участников будущей поездки было решено, что должны выполняться  два условия:</a:t>
            </a:r>
          </a:p>
          <a:p>
            <a:pPr marL="466649" indent="-466322">
              <a:spcBef>
                <a:spcPts val="527"/>
              </a:spcBef>
              <a:buClr>
                <a:srgbClr val="D34817"/>
              </a:buClr>
              <a:buSzPct val="85000"/>
              <a:buFont typeface="Franklin Gothic Book"/>
              <a:buAutoNum type="arabicPeriod"/>
            </a:pPr>
            <a:r>
              <a:rPr lang="ru-RU" sz="2358" spc="-1" dirty="0">
                <a:solidFill>
                  <a:srgbClr val="000000"/>
                </a:solidFill>
                <a:latin typeface="Perpetua"/>
              </a:rPr>
              <a:t>Если поедет Артемьев, то должен поехать  Борисов  или Васильев.</a:t>
            </a:r>
          </a:p>
          <a:p>
            <a:pPr marL="466649" indent="-466322">
              <a:spcBef>
                <a:spcPts val="527"/>
              </a:spcBef>
              <a:buClr>
                <a:srgbClr val="D34817"/>
              </a:buClr>
              <a:buSzPct val="85000"/>
              <a:buFont typeface="Franklin Gothic Book"/>
              <a:buAutoNum type="arabicPeriod"/>
            </a:pPr>
            <a:r>
              <a:rPr lang="ru-RU" sz="2358" spc="-1" dirty="0">
                <a:solidFill>
                  <a:srgbClr val="000000"/>
                </a:solidFill>
                <a:latin typeface="Perpetua"/>
              </a:rPr>
              <a:t>Если поедут Артемьев и Васильев то поедет и Борисов. </a:t>
            </a:r>
          </a:p>
          <a:p>
            <a:pPr>
              <a:spcBef>
                <a:spcPts val="527"/>
              </a:spcBef>
            </a:pPr>
            <a:r>
              <a:rPr lang="ru-RU" sz="2358" spc="-1" dirty="0">
                <a:solidFill>
                  <a:srgbClr val="000000"/>
                </a:solidFill>
                <a:latin typeface="Perpetua"/>
              </a:rPr>
              <a:t>Требуется:</a:t>
            </a:r>
          </a:p>
          <a:p>
            <a:pPr marL="466649" indent="-466322">
              <a:spcBef>
                <a:spcPts val="527"/>
              </a:spcBef>
              <a:buClr>
                <a:srgbClr val="D34817"/>
              </a:buClr>
              <a:buSzPct val="85000"/>
              <a:buFont typeface="Wingdings 2" charset="2"/>
              <a:buAutoNum type="arabicParenR"/>
            </a:pPr>
            <a:r>
              <a:rPr lang="ru-RU" sz="2358" spc="-1" dirty="0">
                <a:solidFill>
                  <a:srgbClr val="000000"/>
                </a:solidFill>
                <a:latin typeface="Perpetua"/>
              </a:rPr>
              <a:t>Ввести краткие обозначения для сформулированных условий и составить логическую формулу.</a:t>
            </a:r>
          </a:p>
          <a:p>
            <a:pPr marL="466649" indent="-466322">
              <a:spcBef>
                <a:spcPts val="527"/>
              </a:spcBef>
              <a:buClr>
                <a:srgbClr val="D34817"/>
              </a:buClr>
              <a:buSzPct val="85000"/>
              <a:buFont typeface="Wingdings 2" charset="2"/>
              <a:buAutoNum type="arabicParenR"/>
            </a:pPr>
            <a:r>
              <a:rPr lang="ru-RU" sz="2358" spc="-1" dirty="0">
                <a:solidFill>
                  <a:srgbClr val="000000"/>
                </a:solidFill>
                <a:latin typeface="Perpetua"/>
              </a:rPr>
              <a:t>Для формулу найти возможно более простую равносильную формулу.</a:t>
            </a:r>
          </a:p>
          <a:p>
            <a:pPr marL="466649" indent="-466322">
              <a:spcBef>
                <a:spcPts val="527"/>
              </a:spcBef>
              <a:buClr>
                <a:srgbClr val="D34817"/>
              </a:buClr>
              <a:buSzPct val="85000"/>
              <a:buFont typeface="Wingdings 2" charset="2"/>
              <a:buAutoNum type="arabicParenR"/>
            </a:pPr>
            <a:r>
              <a:rPr lang="ru-RU" sz="2358" spc="-1" dirty="0">
                <a:solidFill>
                  <a:srgbClr val="000000"/>
                </a:solidFill>
                <a:latin typeface="Perpetua"/>
              </a:rPr>
              <a:t>Пользуясь упрощенной формулой, дать словесную формулировку о составе участников экспедиции.</a:t>
            </a:r>
          </a:p>
        </p:txBody>
      </p:sp>
    </p:spTree>
    <p:extLst>
      <p:ext uri="{BB962C8B-B14F-4D97-AF65-F5344CB8AC3E}">
        <p14:creationId xmlns:p14="http://schemas.microsoft.com/office/powerpoint/2010/main" val="97606566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Shape 1"/>
          <p:cNvSpPr txBox="1"/>
          <p:nvPr/>
        </p:nvSpPr>
        <p:spPr>
          <a:xfrm>
            <a:off x="2438344" y="876595"/>
            <a:ext cx="7771592" cy="856870"/>
          </a:xfrm>
          <a:prstGeom prst="rect">
            <a:avLst/>
          </a:prstGeom>
          <a:noFill/>
          <a:ln>
            <a:noFill/>
          </a:ln>
        </p:spPr>
        <p:txBody>
          <a:bodyPr lIns="81638" tIns="40819" rIns="81638" bIns="82944" anchor="b"/>
          <a:lstStyle/>
          <a:p>
            <a:endParaRPr lang="ru-RU" sz="1352" spc="-1">
              <a:solidFill>
                <a:srgbClr val="000000"/>
              </a:solidFill>
              <a:latin typeface="Perpetua"/>
            </a:endParaRPr>
          </a:p>
        </p:txBody>
      </p:sp>
      <p:sp>
        <p:nvSpPr>
          <p:cNvPr id="246" name="TextShape 2"/>
          <p:cNvSpPr txBox="1"/>
          <p:nvPr/>
        </p:nvSpPr>
        <p:spPr>
          <a:xfrm>
            <a:off x="2438344" y="2272935"/>
            <a:ext cx="7771592" cy="3428461"/>
          </a:xfrm>
          <a:prstGeom prst="rect">
            <a:avLst/>
          </a:prstGeom>
          <a:noFill/>
          <a:ln>
            <a:noFill/>
          </a:ln>
        </p:spPr>
        <p:txBody>
          <a:bodyPr lIns="81638" tIns="40819" rIns="81638" bIns="40819"/>
          <a:lstStyle/>
          <a:p>
            <a:pPr>
              <a:spcBef>
                <a:spcPts val="527"/>
              </a:spcBef>
            </a:pPr>
            <a:endParaRPr lang="ru-RU" sz="2358" spc="-1" dirty="0">
              <a:solidFill>
                <a:srgbClr val="000000"/>
              </a:solidFill>
              <a:latin typeface="Perpetua"/>
            </a:endParaRPr>
          </a:p>
          <a:p>
            <a:pPr>
              <a:spcBef>
                <a:spcPts val="527"/>
              </a:spcBef>
            </a:pPr>
            <a:endParaRPr lang="ru-RU" sz="2358" spc="-1" dirty="0">
              <a:solidFill>
                <a:srgbClr val="000000"/>
              </a:solidFill>
              <a:latin typeface="Perpetua"/>
            </a:endParaRPr>
          </a:p>
          <a:p>
            <a:pPr marL="466649" indent="-466322">
              <a:spcBef>
                <a:spcPts val="527"/>
              </a:spcBef>
              <a:buClr>
                <a:srgbClr val="D34817"/>
              </a:buClr>
              <a:buSzPct val="85000"/>
              <a:buFont typeface="Wingdings 2" charset="2"/>
              <a:buAutoNum type="arabicPeriod"/>
            </a:pPr>
            <a:r>
              <a:rPr lang="ru-RU" sz="2358" spc="-1" dirty="0">
                <a:solidFill>
                  <a:srgbClr val="000000"/>
                </a:solidFill>
                <a:latin typeface="Perpetua"/>
              </a:rPr>
              <a:t>Если поедет Артемьев, то поедет и Борисов. </a:t>
            </a:r>
          </a:p>
        </p:txBody>
      </p:sp>
      <p:sp>
        <p:nvSpPr>
          <p:cNvPr id="247" name="TextShape 3"/>
          <p:cNvSpPr txBox="1"/>
          <p:nvPr/>
        </p:nvSpPr>
        <p:spPr>
          <a:xfrm>
            <a:off x="2295644" y="1305031"/>
            <a:ext cx="7771592" cy="3428461"/>
          </a:xfrm>
          <a:prstGeom prst="rect">
            <a:avLst/>
          </a:prstGeom>
          <a:blipFill rotWithShape="0">
            <a:blip r:embed="rId2" cstate="print"/>
            <a:stretch>
              <a:fillRect/>
            </a:stretch>
          </a:blipFill>
          <a:ln>
            <a:noFill/>
          </a:ln>
        </p:spPr>
        <p:txBody>
          <a:bodyPr lIns="81638" tIns="40819" rIns="81638" bIns="40819"/>
          <a:lstStyle/>
          <a:p>
            <a:pPr marL="248836" indent="-248509">
              <a:spcBef>
                <a:spcPts val="527"/>
              </a:spcBef>
              <a:buClr>
                <a:srgbClr val="D34817"/>
              </a:buClr>
              <a:buSzPct val="85000"/>
              <a:buFont typeface="Wingdings 2" charset="2"/>
              <a:buChar char=""/>
            </a:pPr>
            <a:r>
              <a:rPr lang="ru-RU" sz="2358" spc="-1">
                <a:latin typeface="Perpetua"/>
              </a:rPr>
              <a:t> </a:t>
            </a:r>
            <a:endParaRPr lang="ru-RU" sz="2358" spc="-1">
              <a:solidFill>
                <a:srgbClr val="000000"/>
              </a:solidFill>
              <a:latin typeface="Perpetua"/>
            </a:endParaRPr>
          </a:p>
        </p:txBody>
      </p:sp>
    </p:spTree>
    <p:extLst>
      <p:ext uri="{BB962C8B-B14F-4D97-AF65-F5344CB8AC3E}">
        <p14:creationId xmlns:p14="http://schemas.microsoft.com/office/powerpoint/2010/main" val="87334788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решения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одзаголовок 2"/>
              <p:cNvSpPr>
                <a:spLocks noGrp="1"/>
              </p:cNvSpPr>
              <p:nvPr>
                <p:ph type="subTitle"/>
              </p:nvPr>
            </p:nvSpPr>
            <p:spPr>
              <a:xfrm>
                <a:off x="2353441" y="2170550"/>
                <a:ext cx="8053595" cy="4146873"/>
              </a:xfrm>
            </p:spPr>
            <p:txBody>
              <a:bodyPr>
                <a:normAutofit fontScale="92500" lnSpcReduction="20000"/>
              </a:bodyPr>
              <a:lstStyle/>
              <a:p>
                <a:endParaRPr lang="ru-RU" dirty="0"/>
              </a:p>
              <a:p>
                <a:r>
                  <a:rPr lang="ru-RU" dirty="0"/>
                  <a:t>(А=</a:t>
                </a:r>
                <a:r>
                  <a:rPr lang="en-US" dirty="0"/>
                  <a:t>&gt;(</a:t>
                </a:r>
                <a:r>
                  <a:rPr lang="ru-RU" dirty="0"/>
                  <a:t>Б∨</a:t>
                </a:r>
                <a:r>
                  <a:rPr lang="en-US" dirty="0"/>
                  <a:t>B)) ʌ((A ʌ</a:t>
                </a:r>
                <a:r>
                  <a:rPr lang="ru-RU" dirty="0"/>
                  <a:t> </a:t>
                </a:r>
                <a:r>
                  <a:rPr lang="en-US" dirty="0"/>
                  <a:t>B)=&gt;</a:t>
                </a:r>
                <a:r>
                  <a:rPr lang="ru-RU" dirty="0"/>
                  <a:t>Б) ≡ </a:t>
                </a:r>
              </a:p>
              <a:p>
                <a:r>
                  <a:rPr lang="ru-RU" dirty="0"/>
                  <a:t>(</a:t>
                </a:r>
                <a:r>
                  <a:rPr lang="en-US" dirty="0"/>
                  <a:t>Ā</a:t>
                </a:r>
                <a:r>
                  <a:rPr lang="ru-RU" dirty="0"/>
                  <a:t> ∨(Б ∨В))</a:t>
                </a:r>
                <a:r>
                  <a:rPr lang="en-US" dirty="0"/>
                  <a:t> ʌ</a:t>
                </a:r>
                <a:r>
                  <a:rPr lang="ru-RU" dirty="0"/>
                  <a:t>((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ʌ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  <a:r>
                  <a:rPr lang="ru-RU" dirty="0"/>
                  <a:t> ∨ Б</a:t>
                </a:r>
                <a:r>
                  <a:rPr lang="en-US" dirty="0"/>
                  <a:t>)</a:t>
                </a:r>
                <a:r>
                  <a:rPr lang="ru-RU" dirty="0"/>
                  <a:t> ≡ </a:t>
                </a:r>
              </a:p>
              <a:p>
                <a:r>
                  <a:rPr lang="ru-RU" dirty="0"/>
                  <a:t>(</a:t>
                </a:r>
                <a:r>
                  <a:rPr lang="en-US" dirty="0"/>
                  <a:t>Ā</a:t>
                </a:r>
                <a:r>
                  <a:rPr lang="ru-RU" dirty="0"/>
                  <a:t> ∨(Б ∨ В))</a:t>
                </a:r>
                <a:r>
                  <a:rPr lang="en-US" dirty="0"/>
                  <a:t> ʌ </a:t>
                </a:r>
                <a:r>
                  <a:rPr lang="ru-RU" dirty="0"/>
                  <a:t>((</a:t>
                </a:r>
                <a:r>
                  <a:rPr lang="en-US" dirty="0"/>
                  <a:t>Ā </a:t>
                </a:r>
                <a:r>
                  <a:rPr lang="ru-RU" dirty="0"/>
                  <a:t>∨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  <a:r>
                  <a:rPr lang="ru-RU" dirty="0"/>
                  <a:t> ∨ Б)</a:t>
                </a:r>
                <a:r>
                  <a:rPr lang="en-US" dirty="0"/>
                  <a:t> </a:t>
                </a:r>
                <a:r>
                  <a:rPr lang="ru-RU" dirty="0"/>
                  <a:t>≡</a:t>
                </a:r>
                <a:r>
                  <a:rPr lang="en-US" dirty="0"/>
                  <a:t> </a:t>
                </a:r>
                <a:endParaRPr lang="ru-RU" dirty="0"/>
              </a:p>
              <a:p>
                <a:r>
                  <a:rPr lang="en-US" dirty="0"/>
                  <a:t>Ā</a:t>
                </a:r>
                <a:r>
                  <a:rPr lang="ru-RU" dirty="0"/>
                  <a:t> ∨</a:t>
                </a:r>
                <a:r>
                  <a:rPr lang="en-US" dirty="0"/>
                  <a:t>(</a:t>
                </a:r>
                <a:r>
                  <a:rPr lang="ru-RU" dirty="0"/>
                  <a:t>(Б ∨ В)</a:t>
                </a:r>
                <a:r>
                  <a:rPr lang="en-US" dirty="0"/>
                  <a:t> ʌ</a:t>
                </a:r>
                <a:r>
                  <a:rPr lang="ru-RU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</m:t>
                        </m:r>
                      </m:e>
                    </m:acc>
                  </m:oMath>
                </a14:m>
                <a:r>
                  <a:rPr lang="ru-RU" dirty="0"/>
                  <a:t> ∨ Б)) ≡</a:t>
                </a:r>
              </a:p>
              <a:p>
                <a:r>
                  <a:rPr lang="en-US" dirty="0"/>
                  <a:t>Ā</a:t>
                </a:r>
                <a:r>
                  <a:rPr lang="ru-RU" dirty="0"/>
                  <a:t>∨(Б∨(В</a:t>
                </a:r>
                <a:r>
                  <a:rPr lang="en-US" dirty="0"/>
                  <a:t> ʌ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</m:t>
                        </m:r>
                      </m:e>
                    </m:acc>
                  </m:oMath>
                </a14:m>
                <a:r>
                  <a:rPr lang="ru-RU" dirty="0"/>
                  <a:t>)) ≡</a:t>
                </a:r>
              </a:p>
              <a:p>
                <a:r>
                  <a:rPr lang="en-US" dirty="0"/>
                  <a:t>Ā</a:t>
                </a:r>
                <a:r>
                  <a:rPr lang="ru-RU" dirty="0"/>
                  <a:t> ∨ (Б ∨ л) ≡</a:t>
                </a:r>
              </a:p>
              <a:p>
                <a:r>
                  <a:rPr lang="en-US" dirty="0"/>
                  <a:t>Ā</a:t>
                </a:r>
                <a:r>
                  <a:rPr lang="ru-RU" dirty="0"/>
                  <a:t> ∨ Б ≡</a:t>
                </a:r>
              </a:p>
              <a:p>
                <a:r>
                  <a:rPr lang="ru-RU" dirty="0"/>
                  <a:t>А=</a:t>
                </a:r>
                <a:r>
                  <a:rPr lang="en-US" dirty="0"/>
                  <a:t>&gt;</a:t>
                </a:r>
                <a:r>
                  <a:rPr lang="ru-RU" dirty="0"/>
                  <a:t>В</a:t>
                </a:r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Подзаголовок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/>
              </p:nvPr>
            </p:nvSpPr>
            <p:spPr>
              <a:xfrm>
                <a:off x="2353441" y="2170550"/>
                <a:ext cx="8053595" cy="4146873"/>
              </a:xfrm>
              <a:blipFill>
                <a:blip r:embed="rId2" cstate="print"/>
                <a:stretch>
                  <a:fillRect l="-3861" t="-55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140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/>
          </p:nvPr>
        </p:nvSpPr>
        <p:spPr>
          <a:xfrm>
            <a:off x="874656" y="2900976"/>
            <a:ext cx="10515240" cy="1325160"/>
          </a:xfrm>
        </p:spPr>
        <p:txBody>
          <a:bodyPr/>
          <a:lstStyle/>
          <a:p>
            <a:r>
              <a:rPr lang="ru-RU" sz="3200" dirty="0"/>
              <a:t>Джордж Буль ( </a:t>
            </a:r>
            <a:r>
              <a:rPr lang="en-US" sz="3200" dirty="0"/>
              <a:t>1839</a:t>
            </a:r>
            <a:r>
              <a:rPr lang="ru-RU" sz="3200" dirty="0"/>
              <a:t>г)ставил цель построить теорию правильных умозаключений.</a:t>
            </a:r>
          </a:p>
          <a:p>
            <a:r>
              <a:rPr lang="ru-RU" sz="3200" dirty="0"/>
              <a:t>Формально переход от логики высказываний к Булевой алгебре осуществляется</a:t>
            </a:r>
            <a:r>
              <a:rPr lang="en-US" sz="3200" dirty="0"/>
              <a:t>:</a:t>
            </a:r>
            <a:endParaRPr lang="ru-RU" sz="3200" dirty="0"/>
          </a:p>
          <a:p>
            <a:r>
              <a:rPr lang="ru-RU" sz="3200" dirty="0"/>
              <a:t> 1)заменой символов Л, И на числа 0,1.</a:t>
            </a:r>
          </a:p>
          <a:p>
            <a:r>
              <a:rPr lang="ru-RU" sz="3200" dirty="0"/>
              <a:t>2) термина «высказывания» на термин «функция».</a:t>
            </a:r>
          </a:p>
          <a:p>
            <a:r>
              <a:rPr lang="en-US" sz="3200" i="1" dirty="0"/>
              <a:t>B=</a:t>
            </a:r>
            <a:r>
              <a:rPr lang="en-US" sz="3200" dirty="0"/>
              <a:t>{</a:t>
            </a:r>
            <a:r>
              <a:rPr lang="en-US" sz="3200" i="1" dirty="0"/>
              <a:t> </a:t>
            </a:r>
            <a:r>
              <a:rPr lang="en-US" sz="3200" dirty="0"/>
              <a:t>0</a:t>
            </a:r>
            <a:r>
              <a:rPr lang="ru-RU" sz="3200" dirty="0"/>
              <a:t>,</a:t>
            </a:r>
            <a:r>
              <a:rPr lang="en-US" sz="3200" dirty="0"/>
              <a:t>1} </a:t>
            </a:r>
            <a:r>
              <a:rPr lang="ru-RU" sz="3200" dirty="0"/>
              <a:t>область определения для булевых функции. Область значений функций </a:t>
            </a:r>
            <a:r>
              <a:rPr lang="en-US" sz="3200" i="1" dirty="0"/>
              <a:t>B=</a:t>
            </a:r>
            <a:r>
              <a:rPr lang="en-US" sz="3200" dirty="0"/>
              <a:t>{</a:t>
            </a:r>
            <a:r>
              <a:rPr lang="en-US" sz="3200" i="1" dirty="0"/>
              <a:t> </a:t>
            </a:r>
            <a:r>
              <a:rPr lang="en-US" sz="3200" dirty="0"/>
              <a:t>0</a:t>
            </a:r>
            <a:r>
              <a:rPr lang="ru-RU" sz="3200" dirty="0"/>
              <a:t>,</a:t>
            </a:r>
            <a:r>
              <a:rPr lang="en-US" sz="3200" dirty="0"/>
              <a:t>1} </a:t>
            </a:r>
            <a:endParaRPr lang="ru-RU" sz="3200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9240" y="389424"/>
            <a:ext cx="10515240" cy="1325160"/>
          </a:xfrm>
        </p:spPr>
        <p:txBody>
          <a:bodyPr/>
          <a:lstStyle/>
          <a:p>
            <a:r>
              <a:rPr lang="ru-RU" dirty="0"/>
              <a:t>Равносильности: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099240" y="1399032"/>
                <a:ext cx="8280920" cy="522156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 </a:t>
                </a:r>
                <a:endParaRPr lang="en-US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1) </m:t>
                    </m:r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𝐵</m:t>
                    </m:r>
                    <m:r>
                      <a:rPr lang="ru-RU">
                        <a:latin typeface="Cambria Math"/>
                      </a:rPr>
                      <m:t>≡</m:t>
                    </m:r>
                    <m:r>
                      <a:rPr lang="ru-RU" i="1">
                        <a:latin typeface="Cambria Math"/>
                      </a:rPr>
                      <m:t>𝐵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en-US" b="0" i="0" smtClean="0">
                        <a:latin typeface="Cambria Math"/>
                      </a:rPr>
                      <m:t>;</m:t>
                    </m:r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𝐵</m:t>
                    </m:r>
                    <m:r>
                      <a:rPr lang="ru-RU">
                        <a:latin typeface="Cambria Math"/>
                      </a:rPr>
                      <m:t>≡</m:t>
                    </m:r>
                    <m:r>
                      <a:rPr lang="ru-RU" i="1">
                        <a:latin typeface="Cambria Math"/>
                      </a:rPr>
                      <m:t>𝐵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;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2) </m:t>
                    </m:r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∧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𝐵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ru-RU">
                        <a:latin typeface="Cambria Math"/>
                      </a:rPr>
                      <m:t>≡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ru-RU">
                        <a:latin typeface="Cambria Math"/>
                      </a:rPr>
                      <m:t>∧</m:t>
                    </m:r>
                    <m:r>
                      <a:rPr lang="ru-RU" i="1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;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∨(</m:t>
                    </m:r>
                    <m:r>
                      <a:rPr lang="ru-RU" i="1">
                        <a:latin typeface="Cambria Math"/>
                      </a:rPr>
                      <m:t>𝐵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𝐶</m:t>
                    </m:r>
                    <m:r>
                      <a:rPr lang="ru-RU">
                        <a:latin typeface="Cambria Math"/>
                      </a:rPr>
                      <m:t>)≡(</m:t>
                    </m:r>
                    <m:r>
                      <a:rPr lang="ru-RU" i="1">
                        <a:latin typeface="Cambria Math"/>
                      </a:rPr>
                      <m:t>𝐴</m:t>
                    </m:r>
                    <m:r>
                      <a:rPr lang="ru-RU">
                        <a:latin typeface="Cambria Math"/>
                      </a:rPr>
                      <m:t>∨</m:t>
                    </m:r>
                    <m:r>
                      <a:rPr lang="ru-RU" i="1">
                        <a:latin typeface="Cambria Math"/>
                      </a:rPr>
                      <m:t>𝐵</m:t>
                    </m:r>
                    <m:r>
                      <a:rPr lang="ru-RU">
                        <a:latin typeface="Cambria Math"/>
                      </a:rPr>
                      <m:t>)∨</m:t>
                    </m:r>
                    <m:r>
                      <a:rPr lang="ru-RU" i="1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;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3) </m:t>
                        </m:r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∧(</m:t>
                        </m:r>
                        <m:r>
                          <a:rPr lang="ru-RU" i="1">
                            <a:latin typeface="Cambria Math"/>
                          </a:rPr>
                          <m:t>𝐵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𝐶</m:t>
                        </m:r>
                        <m:r>
                          <a:rPr lang="ru-RU">
                            <a:latin typeface="Cambria Math"/>
                          </a:rPr>
                          <m:t>)≡(</m:t>
                        </m:r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𝐵</m:t>
                        </m:r>
                        <m:r>
                          <a:rPr lang="ru-RU">
                            <a:latin typeface="Cambria Math"/>
                          </a:rPr>
                          <m:t>)∨(</m:t>
                        </m:r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∨(</m:t>
                        </m:r>
                        <m:r>
                          <a:rPr lang="ru-RU" i="1">
                            <a:latin typeface="Cambria Math"/>
                          </a:rPr>
                          <m:t>𝐵</m:t>
                        </m:r>
                        <m:r>
                          <a:rPr lang="ru-RU">
                            <a:latin typeface="Cambria Math"/>
                          </a:rPr>
                          <m:t>∧</m:t>
                        </m:r>
                        <m:r>
                          <a:rPr lang="ru-RU" i="1">
                            <a:latin typeface="Cambria Math"/>
                          </a:rPr>
                          <m:t>𝐶</m:t>
                        </m:r>
                        <m:r>
                          <a:rPr lang="ru-RU">
                            <a:latin typeface="Cambria Math"/>
                          </a:rPr>
                          <m:t>)≡(</m:t>
                        </m:r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𝐵</m:t>
                        </m:r>
                        <m:r>
                          <a:rPr lang="ru-RU">
                            <a:latin typeface="Cambria Math"/>
                          </a:rPr>
                          <m:t>)∧(</m:t>
                        </m:r>
                        <m:r>
                          <a:rPr lang="ru-RU" i="1">
                            <a:latin typeface="Cambria Math"/>
                          </a:rPr>
                          <m:t>𝐴</m:t>
                        </m:r>
                        <m:r>
                          <a:rPr lang="ru-RU">
                            <a:latin typeface="Cambria Math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;</a:t>
                </a:r>
                <a:endParaRPr lang="ru-RU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457200" algn="just">
                  <a:lnSpc>
                    <a:spcPct val="160000"/>
                  </a:lnSpc>
                  <a:spcBef>
                    <a:spcPts val="0"/>
                  </a:spcBef>
                  <a:buNone/>
                </a:pPr>
                <a:r>
                  <a:rPr lang="ru-RU" dirty="0"/>
                  <a:t>Если принять за умножение - </a:t>
                </a:r>
                <a14:m>
                  <m:oMath xmlns:m="http://schemas.openxmlformats.org/officeDocument/2006/math">
                    <m:r>
                      <a:rPr lang="ru-RU">
                        <a:latin typeface="Cambria Math"/>
                      </a:rPr>
                      <m:t>∧</m:t>
                    </m:r>
                  </m:oMath>
                </a14:m>
                <a:r>
                  <a:rPr lang="ru-RU" dirty="0"/>
                  <a:t>, а за сложение - </a:t>
                </a:r>
                <a14:m>
                  <m:oMath xmlns:m="http://schemas.openxmlformats.org/officeDocument/2006/math">
                    <m:r>
                      <a:rPr lang="ru-RU">
                        <a:latin typeface="Cambria Math"/>
                      </a:rPr>
                      <m:t>∨</m:t>
                    </m:r>
                  </m:oMath>
                </a14:m>
                <a:r>
                  <a:rPr lang="ru-RU" dirty="0"/>
                  <a:t>,  то над формулами алгебры логики можно производить те же преобразования, что и в алгебре чисел (раскрывать скобки, выносить общие множители и т.д.)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099240" y="1399032"/>
                <a:ext cx="8280920" cy="5221560"/>
              </a:xfrm>
              <a:blipFill>
                <a:blip r:embed="rId2"/>
                <a:stretch>
                  <a:fillRect l="-1325" r="-12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4827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Булева алгебра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438400" y="1447800"/>
                <a:ext cx="7772400" cy="493352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457200" algn="just">
                  <a:lnSpc>
                    <a:spcPct val="160000"/>
                  </a:lnSpc>
                  <a:spcBef>
                    <a:spcPts val="0"/>
                  </a:spcBef>
                  <a:buNone/>
                </a:pPr>
                <a:r>
                  <a:rPr lang="ru-RU" dirty="0"/>
                  <a:t>Непустое множество </a:t>
                </a:r>
                <a:r>
                  <a:rPr lang="en-US" dirty="0"/>
                  <a:t>M </a:t>
                </a:r>
                <a:r>
                  <a:rPr lang="ru-RU" dirty="0"/>
                  <a:t>элементов любой природы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𝑀</m:t>
                        </m:r>
                        <m:r>
                          <a:rPr lang="ru-RU">
                            <a:latin typeface="Cambria Math"/>
                          </a:rPr>
                          <m:t>={</m:t>
                        </m:r>
                        <m:r>
                          <a:rPr lang="ru-RU" i="1">
                            <a:latin typeface="Cambria Math"/>
                          </a:rPr>
                          <m:t>𝑎</m:t>
                        </m:r>
                        <m:r>
                          <a:rPr lang="ru-RU">
                            <a:latin typeface="Cambria Math"/>
                          </a:rPr>
                          <m:t>,</m:t>
                        </m:r>
                        <m:r>
                          <a:rPr lang="ru-RU" i="1">
                            <a:latin typeface="Cambria Math"/>
                          </a:rPr>
                          <m:t>𝑏</m:t>
                        </m:r>
                        <m:r>
                          <a:rPr lang="ru-RU">
                            <a:latin typeface="Cambria Math"/>
                          </a:rPr>
                          <m:t>,</m:t>
                        </m:r>
                        <m:r>
                          <a:rPr lang="ru-RU" i="1">
                            <a:latin typeface="Cambria Math"/>
                          </a:rPr>
                          <m:t>𝑐</m:t>
                        </m:r>
                        <m:r>
                          <a:rPr lang="ru-RU">
                            <a:latin typeface="Cambria Math"/>
                          </a:rPr>
                          <m:t>,...</m:t>
                        </m:r>
                      </m:e>
                    </m:d>
                  </m:oMath>
                </a14:m>
                <a:r>
                  <a:rPr lang="ru-RU" dirty="0"/>
                  <a:t>, на котором определены две двуместные операции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⋅</m:t>
                    </m:r>
                    <m:r>
                      <a:rPr lang="ru-RU" i="1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/>
                  <a:t> –</a:t>
                </a:r>
                <a:r>
                  <a:rPr lang="ru-RU" dirty="0"/>
                  <a:t> умножение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 smtClean="0">
                        <a:latin typeface="Cambria Math"/>
                      </a:rPr>
                      <m:t>+</m:t>
                    </m:r>
                    <m:r>
                      <a:rPr lang="ru-RU" i="1">
                        <a:latin typeface="Cambria Math"/>
                      </a:rPr>
                      <m:t>𝑦</m:t>
                    </m:r>
                  </m:oMath>
                </a14:m>
                <a:r>
                  <a:rPr lang="ru-RU" dirty="0"/>
                  <a:t> – сложение и одна одноместная операция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dirty="0"/>
                  <a:t> - отрицания и выделены два элемента 0 и 1 </a:t>
                </a:r>
                <a14:m>
                  <m:oMath xmlns:m="http://schemas.openxmlformats.org/officeDocument/2006/math">
                    <m:r>
                      <a:rPr lang="ru-RU">
                        <a:latin typeface="Cambria Math"/>
                      </a:rPr>
                      <m:t>∈</m:t>
                    </m:r>
                    <m:r>
                      <a:rPr lang="ru-RU" i="1">
                        <a:latin typeface="Cambria Math"/>
                      </a:rPr>
                      <m:t>𝑀</m:t>
                    </m:r>
                  </m:oMath>
                </a14:m>
                <a:r>
                  <a:rPr lang="ru-RU" dirty="0"/>
                  <a:t>, причем для этих операций и элементов выполняются условия:</a:t>
                </a:r>
              </a:p>
              <a:p>
                <a:pPr marL="0" indent="457200" algn="just">
                  <a:lnSpc>
                    <a:spcPct val="16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=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⋅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=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⋅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-</a:t>
                </a:r>
                <a:r>
                  <a:rPr lang="ru-RU" dirty="0"/>
                  <a:t>коммутативный закон.</a:t>
                </a:r>
              </a:p>
              <a:p>
                <a:pPr marL="0" indent="457200" algn="just">
                  <a:lnSpc>
                    <a:spcPct val="16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+(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+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𝑐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)=(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+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)+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⋅(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⋅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𝑐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)=(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⋅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)⋅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dirty="0"/>
                  <a:t> - ассоциативный закон.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438400" y="1447800"/>
                <a:ext cx="7772400" cy="4933528"/>
              </a:xfrm>
              <a:blipFill>
                <a:blip r:embed="rId2"/>
                <a:stretch>
                  <a:fillRect l="-1020" r="-10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306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328928" y="297224"/>
                <a:ext cx="9741408" cy="6408712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𝑏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)⋅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𝑐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=(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⋅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𝑐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)+(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𝑏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⋅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⋅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𝑏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)+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𝑐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=(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𝑐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)⋅(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𝑏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дистрибутивный закон.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+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=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⋅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=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законы идемпотентности.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:endParaRPr lang="ru-RU" dirty="0"/>
              </a:p>
              <a:p>
                <a:pPr marL="514350" indent="-51435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acc>
                              <m:r>
                                <a:rPr lang="ru-RU">
                                  <a:latin typeface="Cambria Math"/>
                                </a:rPr>
                                <m:t>=</m:t>
                              </m:r>
                              <m:acc>
                                <m:accPr>
                                  <m:chr m:val="̅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acc>
                              <m:r>
                                <a:rPr lang="ru-RU">
                                  <a:latin typeface="Cambria Math"/>
                                </a:rPr>
                                <m:t>⋅</m:t>
                              </m:r>
                              <m:acc>
                                <m:accPr>
                                  <m:chr m:val="̅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̅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ru-RU">
                                      <a:latin typeface="Cambria Math"/>
                                    </a:rPr>
                                    <m:t>⋅</m:t>
                                  </m:r>
                                  <m:r>
                                    <a:rPr lang="ru-RU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acc>
                              <m:r>
                                <a:rPr lang="ru-RU">
                                  <a:latin typeface="Cambria Math"/>
                                </a:rPr>
                                <m:t>=</m:t>
                              </m:r>
                              <m:acc>
                                <m:accPr>
                                  <m:chr m:val="̅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acc>
                              <m:r>
                                <a:rPr lang="ru-RU">
                                  <a:latin typeface="Cambria Math"/>
                                </a:rPr>
                                <m:t>+</m:t>
                              </m:r>
                              <m:acc>
                                <m:accPr>
                                  <m:chr m:val="̅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законы де Моргана.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</m:acc>
                    <m:r>
                      <a:rPr lang="ru-RU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закон двойного отрицания.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+(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⋅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)=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⋅(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+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ru-RU">
                                  <a:latin typeface="Cambria Math"/>
                                </a:rPr>
                                <m:t>)=</m:t>
                              </m:r>
                              <m:r>
                                <a:rPr lang="ru-RU" i="1">
                                  <a:latin typeface="Cambria Math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законы поглощения.</a:t>
                </a:r>
              </a:p>
              <a:p>
                <a:pPr marL="0" indent="0">
                  <a:buNone/>
                </a:pPr>
                <a:r>
                  <a:rPr lang="ru-RU" dirty="0"/>
                  <a:t>Такое множество М называют </a:t>
                </a:r>
                <a:r>
                  <a:rPr lang="ru-RU" i="1" dirty="0"/>
                  <a:t>булевой алгеброй.</a:t>
                </a:r>
              </a:p>
              <a:p>
                <a:pPr marL="0" indent="0">
                  <a:buNone/>
                </a:pPr>
                <a:r>
                  <a:rPr lang="ru-RU" i="1" dirty="0"/>
                  <a:t>Алгебра высказываний является интерпретацией алгебры Буля </a:t>
                </a:r>
                <a:r>
                  <a:rPr lang="ru-RU" dirty="0"/>
                  <a:t>(где «+», «</a:t>
                </a:r>
                <a14:m>
                  <m:oMath xmlns:m="http://schemas.openxmlformats.org/officeDocument/2006/math">
                    <m:r>
                      <a:rPr lang="ru-RU">
                        <a:latin typeface="Cambria Math"/>
                      </a:rPr>
                      <m:t>⋅</m:t>
                    </m:r>
                  </m:oMath>
                </a14:m>
                <a:r>
                  <a:rPr lang="ru-RU" dirty="0"/>
                  <a:t>», «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/>
                    </m:acc>
                  </m:oMath>
                </a14:m>
                <a:r>
                  <a:rPr lang="ru-RU" dirty="0"/>
                  <a:t>», «=» – соответственно дизъюнкция, конъюнкция, отрицание и равносильность 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328928" y="297224"/>
                <a:ext cx="9741408" cy="6408712"/>
              </a:xfrm>
              <a:blipFill>
                <a:blip r:embed="rId2"/>
                <a:stretch>
                  <a:fillRect l="-1252" r="-7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182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термины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990120" y="1496568"/>
            <a:ext cx="10482552" cy="4572000"/>
          </a:xfrm>
        </p:spPr>
        <p:txBody>
          <a:bodyPr>
            <a:normAutofit/>
          </a:bodyPr>
          <a:lstStyle/>
          <a:p>
            <a:r>
              <a:rPr lang="ru-RU" i="1" dirty="0"/>
              <a:t>Булевой </a:t>
            </a:r>
            <a:r>
              <a:rPr lang="ru-RU" dirty="0"/>
              <a:t>или </a:t>
            </a:r>
            <a:r>
              <a:rPr lang="ru-RU" i="1" dirty="0"/>
              <a:t>логической переменной</a:t>
            </a:r>
            <a:r>
              <a:rPr lang="ru-RU" dirty="0"/>
              <a:t> называется переменная,</a:t>
            </a:r>
            <a:r>
              <a:rPr lang="en-US" dirty="0"/>
              <a:t> </a:t>
            </a:r>
            <a:r>
              <a:rPr lang="ru-RU" dirty="0"/>
              <a:t> принимающая одно из двух значений: 0 или 1.</a:t>
            </a:r>
          </a:p>
          <a:p>
            <a:r>
              <a:rPr lang="ru-RU" i="1" dirty="0"/>
              <a:t>Булевой </a:t>
            </a:r>
            <a:r>
              <a:rPr lang="ru-RU" dirty="0"/>
              <a:t>или </a:t>
            </a:r>
            <a:r>
              <a:rPr lang="ru-RU" i="1" dirty="0"/>
              <a:t>логической функцией </a:t>
            </a:r>
            <a:r>
              <a:rPr lang="ru-RU" dirty="0"/>
              <a:t> называется функция булевых переменных,  принимающая одно из двух значений: 0 или 1.</a:t>
            </a:r>
          </a:p>
          <a:p>
            <a:r>
              <a:rPr lang="ru-RU" i="1" dirty="0"/>
              <a:t>Значение 0 интерпретируется как «ЛОЖЬ», 1 – «ИСТИНА».</a:t>
            </a:r>
          </a:p>
          <a:p>
            <a:r>
              <a:rPr lang="ru-RU" dirty="0"/>
              <a:t>Функции называются </a:t>
            </a:r>
            <a:r>
              <a:rPr lang="ru-RU" i="1" dirty="0"/>
              <a:t>равными, </a:t>
            </a:r>
            <a:r>
              <a:rPr lang="ru-RU" dirty="0"/>
              <a:t> если при любых одинаковых наборах значений аргументов функций, обе функции принимают одинаковые значения соответственно.</a:t>
            </a:r>
          </a:p>
        </p:txBody>
      </p:sp>
    </p:spTree>
    <p:extLst>
      <p:ext uri="{BB962C8B-B14F-4D97-AF65-F5344CB8AC3E}">
        <p14:creationId xmlns:p14="http://schemas.microsoft.com/office/powerpoint/2010/main" val="107787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Булевы функции одной переменной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121408" y="1447800"/>
                <a:ext cx="8089392" cy="219722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)=0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тождественный нуль;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)=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</m:oMath>
                </a14:m>
                <a:r>
                  <a:rPr lang="ru-RU" dirty="0"/>
                  <a:t> – тождественная функция;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ru-RU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- функция, называемая отрицанием;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u-RU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)=1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функция, тождественно равная 1.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121408" y="1447800"/>
                <a:ext cx="8089392" cy="2197224"/>
              </a:xfrm>
              <a:blipFill>
                <a:blip r:embed="rId2"/>
                <a:stretch>
                  <a:fillRect t="-5000" b="-16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6091124"/>
                  </p:ext>
                </p:extLst>
              </p:nvPr>
            </p:nvGraphicFramePr>
            <p:xfrm>
              <a:off x="2639617" y="4149081"/>
              <a:ext cx="7200800" cy="2428474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4401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9607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ru-RU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ru-RU" b="1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ru-RU" b="1" dirty="0"/>
                        </a:p>
                        <a:p>
                          <a:r>
                            <a:rPr lang="en-US" sz="4400" dirty="0"/>
                            <a:t>ᶿ</a:t>
                          </a:r>
                          <a:r>
                            <a:rPr lang="ru-RU" sz="2800" b="1" dirty="0"/>
                            <a:t>(</a:t>
                          </a:r>
                          <a:r>
                            <a:rPr lang="en-US" sz="2800" b="1" dirty="0"/>
                            <a:t>x)</a:t>
                          </a:r>
                          <a:endParaRPr lang="ru-RU" sz="28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ru-RU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ru-RU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ru-RU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r>
                            <a:rPr lang="en-US" dirty="0"/>
                            <a:t>e(x)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ru-RU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ru-RU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ru-RU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ru-RU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dirty="0"/>
                            <a:t>, </a:t>
                          </a: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x'</a:t>
                          </a:r>
                          <a:r>
                            <a:rPr lang="en-US" dirty="0"/>
                            <a:t> 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ru-RU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ru-RU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ru-RU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ru-RU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6077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6077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6091124"/>
                  </p:ext>
                </p:extLst>
              </p:nvPr>
            </p:nvGraphicFramePr>
            <p:xfrm>
              <a:off x="2639617" y="4149081"/>
              <a:ext cx="7200800" cy="2428474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4401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0363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47" t="-588" r="-401695" b="-13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422" t="-588" r="-300000" b="-13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271" t="-588" r="-201271" b="-13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588" r="-100422" b="-13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695" t="-588" r="-847" b="-13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6077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6077"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6161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/>
              <p:cNvGraphicFramePr>
                <a:graphicFrameLocks/>
              </p:cNvGraphicFramePr>
              <p:nvPr/>
            </p:nvGraphicFramePr>
            <p:xfrm>
              <a:off x="1847528" y="332656"/>
              <a:ext cx="8496950" cy="6192688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4472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223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15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335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430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4886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3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4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5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6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7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8"/>
                        </a:ext>
                      </a:extLst>
                    </a:gridCol>
                  </a:tblGrid>
                  <a:tr h="790131"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⋅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⇒</m:t>
                                    </m:r>
                                  </m:e>
                                  <m:sup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⇐</m:t>
                                    </m:r>
                                  </m:e>
                                  <m:sup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b="1" kern="1200" smtClean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⊕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b="1" kern="120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⇔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⇐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⇒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01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400" kern="120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400" kern="1200" smtClean="0"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799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448272"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Тождественный ноль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Конъюнкция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Коимпликация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Тождественно х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Обратная </a:t>
                          </a:r>
                          <a:r>
                            <a:rPr lang="ru-RU" sz="2000" dirty="0" err="1"/>
                            <a:t>коимпликация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Тождественно</a:t>
                          </a:r>
                          <a:r>
                            <a:rPr lang="ru-RU" sz="2000" baseline="0" dirty="0"/>
                            <a:t> у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Сумма Жегалкина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Дизъюнкция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Стрелка Пирса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Эквивалентность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Тождественно не у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Обратная импликация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Тождественно не х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Импликация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Штрих Шеффера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/>
                            <a:t>Тождественная единица</a:t>
                          </a:r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/>
              <p:cNvGraphicFramePr>
                <a:graphicFrameLocks/>
              </p:cNvGraphicFramePr>
              <p:nvPr>
                <p:extLst/>
              </p:nvPr>
            </p:nvGraphicFramePr>
            <p:xfrm>
              <a:off x="1847528" y="332656"/>
              <a:ext cx="8496950" cy="6192688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4472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223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15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335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7430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4886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2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3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4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5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6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7"/>
                        </a:ext>
                      </a:extLst>
                    </a:gridCol>
                    <a:gridCol w="447208">
                      <a:extLst>
                        <a:ext uri="{9D8B030D-6E8A-4147-A177-3AD203B41FA5}">
                          <a16:colId xmlns:a16="http://schemas.microsoft.com/office/drawing/2014/main" val="20018"/>
                        </a:ext>
                      </a:extLst>
                    </a:gridCol>
                  </a:tblGrid>
                  <a:tr h="790131"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0000" t="-769" r="-1370513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000" t="-769" r="-1087778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5946" t="-769" r="-1222973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479" t="-769" r="-1139726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5479" t="-769" r="-1039726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3243" t="-769" r="-925676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6849" t="-769" r="-838356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06849" t="-769" r="-738356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90541" t="-769" r="-628378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08219" t="-769" r="-536986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89189" t="-769" r="-429730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9589" t="-769" r="-335616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09589" t="-769" r="-235616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86486" t="-769" r="-132432" b="-6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013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70" t="-100769" r="-1843836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714" t="-100769" r="-1822857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333" t="-100769" r="-1274444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0000" t="-100769" r="-1370513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0000" t="-100769" r="-1087778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5946" t="-100769" r="-1222973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479" t="-100769" r="-1139726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5479" t="-100769" r="-1039726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3243" t="-100769" r="-925676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6849" t="-100769" r="-838356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06849" t="-100769" r="-738356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90541" t="-100769" r="-628378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08219" t="-100769" r="-536986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89189" t="-100769" r="-429730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9589" t="-100769" r="-335616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09589" t="-100769" r="-235616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86486" t="-100769" r="-132432" b="-58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10959" t="-100769" r="-34247" b="-58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799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448272"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Тождественный ноль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Конъюнкция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Коимпликация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Тождественно х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Обратная </a:t>
                          </a:r>
                          <a:r>
                            <a:rPr lang="ru-RU" sz="2000" dirty="0" err="1" smtClean="0"/>
                            <a:t>коимпликация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Тождественно</a:t>
                          </a:r>
                          <a:r>
                            <a:rPr lang="ru-RU" sz="2000" baseline="0" dirty="0" smtClean="0"/>
                            <a:t> у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Сумма Жегалкина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Дизъюнкция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Стрелка Пирса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Эквивалентность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Тождественно не у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Обратная импликация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Тождественно не х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Импликация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Штрих Шеффера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70000"/>
                            </a:lnSpc>
                          </a:pPr>
                          <a:r>
                            <a:rPr lang="ru-RU" sz="2000" dirty="0" smtClean="0"/>
                            <a:t>Тождественная единица</a:t>
                          </a:r>
                          <a:endParaRPr lang="ru-RU" sz="2000" dirty="0"/>
                        </a:p>
                      </a:txBody>
                      <a:tcPr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66400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1024128" y="313944"/>
            <a:ext cx="10363200" cy="45720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Упражнения на усвоение булевых функций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ru-RU" dirty="0"/>
              <a:t>При каких наборах значений функция равна 1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А) </a:t>
            </a:r>
            <a:r>
              <a:rPr lang="en-US" dirty="0"/>
              <a:t>x1*x2*…*</a:t>
            </a:r>
            <a:r>
              <a:rPr lang="en-US" dirty="0" err="1"/>
              <a:t>xn</a:t>
            </a:r>
            <a:r>
              <a:rPr lang="en-US" dirty="0"/>
              <a:t> +1 </a:t>
            </a:r>
            <a:r>
              <a:rPr lang="ru-RU" dirty="0"/>
              <a:t>=</a:t>
            </a:r>
            <a:r>
              <a:rPr lang="en-US" dirty="0"/>
              <a:t> 1;</a:t>
            </a:r>
          </a:p>
          <a:p>
            <a:pPr marL="0" indent="0">
              <a:buNone/>
            </a:pPr>
            <a:r>
              <a:rPr lang="ru-RU" dirty="0"/>
              <a:t>Б) </a:t>
            </a:r>
            <a:r>
              <a:rPr lang="en-US" dirty="0"/>
              <a:t>x1*x2*…*</a:t>
            </a:r>
            <a:r>
              <a:rPr lang="en-US" dirty="0" err="1"/>
              <a:t>xn</a:t>
            </a:r>
            <a:r>
              <a:rPr lang="en-US" dirty="0"/>
              <a:t> + x1 = 1;</a:t>
            </a:r>
          </a:p>
          <a:p>
            <a:pPr marL="0" indent="0">
              <a:buNone/>
            </a:pPr>
            <a:r>
              <a:rPr lang="ru-RU" dirty="0"/>
              <a:t>В</a:t>
            </a:r>
            <a:r>
              <a:rPr lang="en-US" dirty="0"/>
              <a:t>) x1 + x2*x3*…*</a:t>
            </a:r>
            <a:r>
              <a:rPr lang="en-US" dirty="0" err="1"/>
              <a:t>xn</a:t>
            </a:r>
            <a:r>
              <a:rPr lang="en-US" dirty="0"/>
              <a:t> = 1.</a:t>
            </a:r>
          </a:p>
          <a:p>
            <a:pPr marL="0" indent="0">
              <a:buNone/>
            </a:pPr>
            <a:r>
              <a:rPr lang="ru-RU" dirty="0"/>
              <a:t>Выяснить, равны ли булевы функции:</a:t>
            </a:r>
          </a:p>
          <a:p>
            <a:pPr marL="0" indent="0">
              <a:buNone/>
            </a:pPr>
            <a:r>
              <a:rPr lang="ru-RU" dirty="0"/>
              <a:t>А) </a:t>
            </a:r>
            <a:r>
              <a:rPr lang="en-US" dirty="0"/>
              <a:t>f(</a:t>
            </a:r>
            <a:r>
              <a:rPr lang="en-US" dirty="0" err="1"/>
              <a:t>x,y,z</a:t>
            </a:r>
            <a:r>
              <a:rPr lang="en-US" dirty="0"/>
              <a:t>) = ((x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6138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Булевы функции от двух переменных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i="1" dirty="0"/>
                  <a:t>Штрих Шеффера</a:t>
                </a:r>
              </a:p>
              <a:p>
                <a:pPr marL="0" indent="0">
                  <a:buNone/>
                </a:pPr>
                <a:r>
                  <a:rPr lang="ru-RU" dirty="0"/>
                  <a:t>(</a:t>
                </a:r>
                <a:r>
                  <a:rPr lang="ru-RU" dirty="0" err="1"/>
                  <a:t>антиконъюнкция</a:t>
                </a:r>
                <a:r>
                  <a:rPr lang="ru-RU" dirty="0"/>
                  <a:t>) двух логических переменных </a:t>
                </a:r>
                <a:r>
                  <a:rPr lang="en-US" dirty="0"/>
                  <a:t>x </a:t>
                </a:r>
                <a:r>
                  <a:rPr lang="ru-RU" dirty="0"/>
                  <a:t>и </a:t>
                </a:r>
                <a:r>
                  <a:rPr lang="en-US" dirty="0"/>
                  <a:t>y </a:t>
                </a:r>
                <a:r>
                  <a:rPr lang="ru-RU" dirty="0"/>
                  <a:t>называется логическая функция принимающая:</a:t>
                </a:r>
              </a:p>
              <a:p>
                <a:r>
                  <a:rPr lang="ru-RU" dirty="0"/>
                  <a:t> значение 0, если обе переменные принимают значение 1;</a:t>
                </a:r>
              </a:p>
              <a:p>
                <a:r>
                  <a:rPr lang="ru-RU" dirty="0"/>
                  <a:t>значение 1 – во всех остальных случаях.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Обозначение: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𝑓</m:t>
                    </m:r>
                    <m:r>
                      <a:rPr lang="ru-RU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,</m:t>
                    </m:r>
                    <m:r>
                      <a:rPr lang="ru-RU" i="1">
                        <a:latin typeface="Cambria Math"/>
                      </a:rPr>
                      <m:t>𝑦</m:t>
                    </m:r>
                    <m:r>
                      <a:rPr lang="ru-RU">
                        <a:latin typeface="Cambria Math"/>
                      </a:rPr>
                      <m:t>)=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|</m:t>
                    </m:r>
                    <m:r>
                      <a:rPr lang="ru-RU" i="1">
                        <a:latin typeface="Cambria Math"/>
                      </a:rPr>
                      <m:t>𝑦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Пример: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  <m:r>
                              <a:rPr lang="ru-RU">
                                <a:latin typeface="Cambria Math"/>
                              </a:rPr>
                              <m:t>=1,</m:t>
                            </m:r>
                            <m:r>
                              <m:rPr>
                                <m:nor/>
                              </m:rPr>
                              <a:rPr lang="ru-RU" i="1"/>
                              <m:t>  </m:t>
                            </m:r>
                            <m:r>
                              <a:rPr lang="ru-RU" i="1">
                                <a:latin typeface="Cambria Math"/>
                              </a:rPr>
                              <m:t>𝑦</m:t>
                            </m:r>
                            <m:r>
                              <a:rPr lang="ru-RU">
                                <a:latin typeface="Cambria Math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  <m:r>
                              <a:rPr lang="ru-RU">
                                <a:latin typeface="Cambria Math"/>
                              </a:rPr>
                              <m:t>|</m:t>
                            </m:r>
                            <m:r>
                              <a:rPr lang="ru-RU" i="1">
                                <a:latin typeface="Cambria Math"/>
                              </a:rPr>
                              <m:t>𝑦</m:t>
                            </m:r>
                            <m:r>
                              <a:rPr lang="ru-RU">
                                <a:latin typeface="Cambria Math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ru-RU"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ru-RU">
                                <a:latin typeface="Cambria Math"/>
                              </a:rPr>
                              <m:t>=1</m:t>
                            </m:r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176" t="-2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7495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Булевы функции от двух переменных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ru-RU" i="1" dirty="0"/>
                  <a:t>Стрелка Пирса</a:t>
                </a:r>
              </a:p>
              <a:p>
                <a:pPr marL="0" indent="0">
                  <a:buNone/>
                </a:pPr>
                <a:r>
                  <a:rPr lang="ru-RU" dirty="0"/>
                  <a:t>(</a:t>
                </a:r>
                <a:r>
                  <a:rPr lang="ru-RU" dirty="0" err="1"/>
                  <a:t>антидизъюнкция</a:t>
                </a:r>
                <a:r>
                  <a:rPr lang="ru-RU" dirty="0"/>
                  <a:t> или функция </a:t>
                </a:r>
                <a:r>
                  <a:rPr lang="ru-RU" dirty="0" err="1"/>
                  <a:t>Вебба</a:t>
                </a:r>
                <a:r>
                  <a:rPr lang="ru-RU" dirty="0"/>
                  <a:t>) функция двух логических переменных </a:t>
                </a:r>
                <a:r>
                  <a:rPr lang="en-US" dirty="0"/>
                  <a:t>x </a:t>
                </a:r>
                <a:r>
                  <a:rPr lang="ru-RU" dirty="0"/>
                  <a:t>и </a:t>
                </a:r>
                <a:r>
                  <a:rPr lang="en-US" dirty="0"/>
                  <a:t>y </a:t>
                </a:r>
                <a:r>
                  <a:rPr lang="ru-RU" dirty="0"/>
                  <a:t>называется логическая функция, принимающая значения:</a:t>
                </a:r>
              </a:p>
              <a:p>
                <a:r>
                  <a:rPr lang="ru-RU" dirty="0"/>
                  <a:t>значение 1, если обе переменные принимают значение 0;</a:t>
                </a:r>
              </a:p>
              <a:p>
                <a:r>
                  <a:rPr lang="ru-RU" dirty="0"/>
                  <a:t>0 – во всех остальных случаях.</a:t>
                </a:r>
              </a:p>
              <a:p>
                <a:pPr marL="0" indent="0">
                  <a:buNone/>
                </a:pPr>
                <a:r>
                  <a:rPr lang="ru-RU" dirty="0"/>
                  <a:t>Обозначение: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𝑓</m:t>
                    </m:r>
                    <m:r>
                      <a:rPr lang="ru-RU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,</m:t>
                    </m:r>
                    <m:r>
                      <a:rPr lang="ru-RU" i="1">
                        <a:latin typeface="Cambria Math"/>
                      </a:rPr>
                      <m:t>𝑦</m:t>
                    </m:r>
                    <m:r>
                      <a:rPr lang="ru-RU">
                        <a:latin typeface="Cambria Math"/>
                      </a:rPr>
                      <m:t>)=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↓</m:t>
                    </m:r>
                    <m:r>
                      <a:rPr lang="ru-RU" i="1">
                        <a:latin typeface="Cambria Math"/>
                      </a:rPr>
                      <m:t>𝑦</m:t>
                    </m:r>
                    <m:r>
                      <a:rPr lang="en-US" b="0" i="0" smtClean="0">
                        <a:latin typeface="Cambria Math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Пример: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  <m:r>
                              <a:rPr lang="ru-RU">
                                <a:latin typeface="Cambria Math"/>
                              </a:rPr>
                              <m:t>=1,</m:t>
                            </m:r>
                            <m:r>
                              <m:rPr>
                                <m:nor/>
                              </m:rPr>
                              <a:rPr lang="ru-RU" i="1"/>
                              <m:t> </m:t>
                            </m:r>
                            <m:r>
                              <a:rPr lang="ru-RU" i="1">
                                <a:latin typeface="Cambria Math"/>
                              </a:rPr>
                              <m:t>𝑦</m:t>
                            </m:r>
                            <m:r>
                              <a:rPr lang="ru-RU">
                                <a:latin typeface="Cambria Math"/>
                              </a:rPr>
                              <m:t>=0</m:t>
                            </m:r>
                          </m:e>
                        </m:mr>
                        <m:m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  <m:r>
                              <a:rPr lang="ru-RU">
                                <a:latin typeface="Cambria Math"/>
                              </a:rPr>
                              <m:t>↓</m:t>
                            </m:r>
                            <m:r>
                              <a:rPr lang="ru-RU" i="1">
                                <a:latin typeface="Cambria Math"/>
                              </a:rPr>
                              <m:t>𝑦</m:t>
                            </m:r>
                            <m:r>
                              <a:rPr lang="ru-RU">
                                <a:latin typeface="Cambria Math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ru-RU">
                                    <a:latin typeface="Cambria Math"/>
                                  </a:rPr>
                                  <m:t>∨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ru-RU">
                                <a:latin typeface="Cambria Math"/>
                              </a:rPr>
                              <m:t>=0</m:t>
                            </m:r>
                          </m:e>
                        </m:mr>
                      </m:m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176" t="-2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7974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Булевы функции от двух переменных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ru-RU" i="1" dirty="0"/>
                  <a:t>Коимпликация</a:t>
                </a:r>
              </a:p>
              <a:p>
                <a:pPr marL="0" indent="0">
                  <a:buNone/>
                </a:pPr>
                <a:r>
                  <a:rPr lang="ru-RU" dirty="0"/>
                  <a:t>двух логических переменных </a:t>
                </a:r>
                <a:r>
                  <a:rPr lang="en-US" dirty="0"/>
                  <a:t>x</a:t>
                </a:r>
                <a:r>
                  <a:rPr lang="ru-RU" dirty="0"/>
                  <a:t> и </a:t>
                </a:r>
                <a:r>
                  <a:rPr lang="en-US" dirty="0"/>
                  <a:t>y </a:t>
                </a:r>
                <a:r>
                  <a:rPr lang="ru-RU" dirty="0"/>
                  <a:t>называется логическая функция, принимающая значения:</a:t>
                </a:r>
              </a:p>
              <a:p>
                <a:r>
                  <a:rPr lang="ru-RU" dirty="0"/>
                  <a:t>1, если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=1,</m:t>
                    </m:r>
                    <m:r>
                      <m:rPr>
                        <m:nor/>
                      </m:rPr>
                      <a:rPr lang="ru-RU" i="1"/>
                      <m:t> </m:t>
                    </m:r>
                    <m:r>
                      <a:rPr lang="ru-RU" i="1">
                        <a:latin typeface="Cambria Math"/>
                      </a:rPr>
                      <m:t>𝑦</m:t>
                    </m:r>
                    <m:r>
                      <a:rPr lang="ru-RU">
                        <a:latin typeface="Cambria Math"/>
                      </a:rPr>
                      <m:t>=0</m:t>
                    </m:r>
                  </m:oMath>
                </a14:m>
                <a:r>
                  <a:rPr lang="en-US" dirty="0"/>
                  <a:t>;</a:t>
                </a:r>
              </a:p>
              <a:p>
                <a:r>
                  <a:rPr lang="en-US" dirty="0"/>
                  <a:t>0 – </a:t>
                </a:r>
                <a:r>
                  <a:rPr lang="ru-RU" dirty="0"/>
                  <a:t>во всех остальных случаях.</a:t>
                </a:r>
              </a:p>
              <a:p>
                <a:pPr marL="0" indent="0">
                  <a:buNone/>
                </a:pPr>
                <a:r>
                  <a:rPr lang="ru-RU" dirty="0"/>
                  <a:t>Обозначение: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𝑓</m:t>
                    </m:r>
                    <m:r>
                      <a:rPr lang="ru-RU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,</m:t>
                    </m:r>
                    <m:r>
                      <a:rPr lang="ru-RU" i="1">
                        <a:latin typeface="Cambria Math"/>
                      </a:rPr>
                      <m:t>𝑦</m:t>
                    </m:r>
                    <m:r>
                      <a:rPr lang="ru-RU">
                        <a:latin typeface="Cambria Math"/>
                      </a:rPr>
                      <m:t>)=</m:t>
                    </m:r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  <m:r>
                          <a:rPr lang="ru-RU">
                            <a:latin typeface="Cambria Math"/>
                          </a:rPr>
                          <m:t>⇒</m:t>
                        </m:r>
                        <m:r>
                          <a:rPr lang="ru-RU" i="1"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Пример: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  <m:r>
                              <a:rPr lang="ru-RU">
                                <a:latin typeface="Cambria Math"/>
                              </a:rPr>
                              <m:t>=</m:t>
                            </m:r>
                            <m:r>
                              <a:rPr lang="en-US" b="0" i="0" smtClean="0">
                                <a:latin typeface="Cambria Math"/>
                              </a:rPr>
                              <m:t>1</m:t>
                            </m:r>
                            <m:r>
                              <a:rPr lang="ru-RU">
                                <a:latin typeface="Cambria Math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ru-RU" i="1"/>
                              <m:t>  </m:t>
                            </m:r>
                            <m:r>
                              <a:rPr lang="ru-RU" i="1">
                                <a:latin typeface="Cambria Math"/>
                              </a:rPr>
                              <m:t>𝑦</m:t>
                            </m:r>
                            <m:r>
                              <a:rPr lang="ru-RU">
                                <a:latin typeface="Cambria Math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ru-RU">
                                    <a:latin typeface="Cambria Math"/>
                                  </a:rPr>
                                  <m:t>⇒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ru-RU">
                                <a:latin typeface="Cambria Math"/>
                              </a:rPr>
                              <m:t>=1</m:t>
                            </m:r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333" t="-12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4783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Булевы функции от двух переменных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ru-RU" i="1" dirty="0"/>
                  <a:t>Исключающее или</a:t>
                </a:r>
              </a:p>
              <a:p>
                <a:pPr marL="0" indent="0">
                  <a:buNone/>
                </a:pPr>
                <a:r>
                  <a:rPr lang="ru-RU" dirty="0"/>
                  <a:t>(сложение по модулю 2 или сумма Жегалкина) двух логических переменных </a:t>
                </a:r>
                <a:r>
                  <a:rPr lang="en-US" dirty="0"/>
                  <a:t>x </a:t>
                </a:r>
                <a:r>
                  <a:rPr lang="ru-RU" dirty="0"/>
                  <a:t>и </a:t>
                </a:r>
                <a:r>
                  <a:rPr lang="en-US" dirty="0"/>
                  <a:t>y </a:t>
                </a:r>
                <a:r>
                  <a:rPr lang="ru-RU" dirty="0"/>
                  <a:t>называется логическая функция, принимающая значения:</a:t>
                </a:r>
              </a:p>
              <a:p>
                <a:r>
                  <a:rPr lang="en-US" dirty="0"/>
                  <a:t>1</a:t>
                </a:r>
                <a:r>
                  <a:rPr lang="ru-RU" dirty="0"/>
                  <a:t>, если </a:t>
                </a:r>
                <a:r>
                  <a:rPr lang="en-US" dirty="0"/>
                  <a:t>x</a:t>
                </a:r>
                <a:r>
                  <a:rPr lang="ru-RU" dirty="0"/>
                  <a:t> и </a:t>
                </a:r>
                <a:r>
                  <a:rPr lang="en-US" dirty="0"/>
                  <a:t>y </a:t>
                </a:r>
                <a:r>
                  <a:rPr lang="ru-RU" dirty="0"/>
                  <a:t>принимают различные значения;</a:t>
                </a:r>
              </a:p>
              <a:p>
                <a:r>
                  <a:rPr lang="en-US" dirty="0"/>
                  <a:t>0</a:t>
                </a:r>
                <a:r>
                  <a:rPr lang="ru-RU" dirty="0"/>
                  <a:t>, если </a:t>
                </a:r>
                <a:r>
                  <a:rPr lang="en-US" dirty="0"/>
                  <a:t>x</a:t>
                </a:r>
                <a:r>
                  <a:rPr lang="ru-RU" dirty="0"/>
                  <a:t> и </a:t>
                </a:r>
                <a:r>
                  <a:rPr lang="en-US" dirty="0"/>
                  <a:t>y </a:t>
                </a:r>
                <a:r>
                  <a:rPr lang="ru-RU" dirty="0"/>
                  <a:t>принимают одинаковые значения.</a:t>
                </a:r>
              </a:p>
              <a:p>
                <a:pPr marL="0" indent="0">
                  <a:buNone/>
                </a:pPr>
                <a:r>
                  <a:rPr lang="ru-RU" dirty="0"/>
                  <a:t>Обозначение: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𝑓</m:t>
                    </m:r>
                    <m:r>
                      <a:rPr lang="ru-RU">
                        <a:latin typeface="Cambria Math"/>
                      </a:rPr>
                      <m:t>(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,</m:t>
                    </m:r>
                    <m:r>
                      <a:rPr lang="ru-RU" i="1">
                        <a:latin typeface="Cambria Math"/>
                      </a:rPr>
                      <m:t>𝑦</m:t>
                    </m:r>
                    <m:r>
                      <a:rPr lang="ru-RU">
                        <a:latin typeface="Cambria Math"/>
                      </a:rPr>
                      <m:t>)=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⊕</m:t>
                    </m:r>
                    <m:r>
                      <a:rPr lang="ru-RU" i="1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Пример: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  <m:r>
                              <a:rPr lang="ru-RU">
                                <a:latin typeface="Cambria Math"/>
                              </a:rPr>
                              <m:t>=1,</m:t>
                            </m:r>
                            <m:r>
                              <m:rPr>
                                <m:nor/>
                              </m:rPr>
                              <a:rPr lang="ru-RU" i="1"/>
                              <m:t>  </m:t>
                            </m:r>
                            <m:r>
                              <a:rPr lang="ru-RU" i="1">
                                <a:latin typeface="Cambria Math"/>
                              </a:rPr>
                              <m:t>𝑦</m:t>
                            </m:r>
                            <m:r>
                              <a:rPr lang="ru-RU">
                                <a:latin typeface="Cambria Math"/>
                              </a:rPr>
                              <m:t>=1</m:t>
                            </m:r>
                          </m:e>
                        </m:mr>
                        <m:m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  <m:r>
                              <a:rPr lang="ru-RU">
                                <a:latin typeface="Cambria Math"/>
                              </a:rPr>
                              <m:t>⊕</m:t>
                            </m:r>
                            <m:r>
                              <a:rPr lang="ru-RU" i="1">
                                <a:latin typeface="Cambria Math"/>
                              </a:rPr>
                              <m:t>𝑦</m:t>
                            </m:r>
                            <m:r>
                              <a:rPr lang="ru-RU">
                                <a:latin typeface="Cambria Math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ru-RU">
                                    <a:latin typeface="Cambria Math"/>
                                  </a:rPr>
                                  <m:t>⇔</m:t>
                                </m:r>
                                <m:r>
                                  <a:rPr lang="ru-RU" i="1">
                                    <a:latin typeface="Cambria Math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ru-RU">
                                <a:latin typeface="Cambria Math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412" t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6202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дизъюнкции, конъюнкции и отрицания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/>
              <a:t>Теорема (аналог Законов логики высказываний).</a:t>
            </a:r>
          </a:p>
        </p:txBody>
      </p:sp>
    </p:spTree>
    <p:extLst>
      <p:ext uri="{BB962C8B-B14F-4D97-AF65-F5344CB8AC3E}">
        <p14:creationId xmlns:p14="http://schemas.microsoft.com/office/powerpoint/2010/main" val="1900660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Системы булевых функций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135560" y="1447800"/>
                <a:ext cx="8075240" cy="514955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ru-RU" dirty="0"/>
                  <a:t>Система булевых функций называется </a:t>
                </a:r>
                <a:r>
                  <a:rPr lang="ru-RU" i="1" dirty="0"/>
                  <a:t>полной</a:t>
                </a:r>
                <a:r>
                  <a:rPr lang="ru-RU" dirty="0"/>
                  <a:t>, если всякая булева функция является суперпозицией функций из этой системы.</a:t>
                </a:r>
              </a:p>
              <a:p>
                <a:r>
                  <a:rPr lang="ru-RU" i="1" u="sng" dirty="0"/>
                  <a:t>Теорема: </a:t>
                </a:r>
                <a:r>
                  <a:rPr lang="ru-RU" dirty="0"/>
                  <a:t>(доказать теорему самостоятельно)</a:t>
                </a:r>
                <a:endParaRPr lang="ru-RU" i="1" u="sng" dirty="0"/>
              </a:p>
              <a:p>
                <a:pPr marL="0" indent="0">
                  <a:buNone/>
                </a:pPr>
                <a:r>
                  <a:rPr lang="ru-RU" dirty="0"/>
                  <a:t>Следующие системы булевых функций являются полными: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1)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/>
                          </a:rPr>
                          <m:t>∨,⋅,′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;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2)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/>
                          </a:rPr>
                          <m:t>⊕,⋅,′</m:t>
                        </m:r>
                      </m:e>
                    </m:d>
                  </m:oMath>
                </a14:m>
                <a:r>
                  <a:rPr lang="en-US" dirty="0"/>
                  <a:t>;(</a:t>
                </a:r>
                <a:r>
                  <a:rPr lang="ru-RU" dirty="0"/>
                  <a:t> достаточно доказать, что </a:t>
                </a:r>
                <a14:m>
                  <m:oMath xmlns:m="http://schemas.openxmlformats.org/officeDocument/2006/math">
                    <m:r>
                      <a:rPr lang="ru-RU">
                        <a:latin typeface="Cambria Math"/>
                      </a:rPr>
                      <m:t>⊕</m:t>
                    </m:r>
                  </m:oMath>
                </a14:m>
                <a:r>
                  <a:rPr lang="ru-RU" dirty="0"/>
                  <a:t> выражается через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/>
                          </a:rPr>
                          <m:t>∨,⋅,′</m:t>
                        </m:r>
                      </m:e>
                    </m:d>
                  </m:oMath>
                </a14:m>
                <a:r>
                  <a:rPr lang="en-US" dirty="0"/>
                  <a:t>)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3)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/>
                          </a:rPr>
                          <m:t>∨,′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;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4)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/>
                          </a:rPr>
                          <m:t>⋅,′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;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5)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/>
                          </a:rPr>
                          <m:t>⇒,′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;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6)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/>
                          </a:rPr>
                          <m:t>|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;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7)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/>
                          </a:rPr>
                          <m:t>↓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.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135560" y="1447800"/>
                <a:ext cx="8075240" cy="5149552"/>
              </a:xfrm>
              <a:blipFill>
                <a:blip r:embed="rId2"/>
                <a:stretch>
                  <a:fillRect l="-1358" t="-3436" r="-2189" b="-24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78390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Специальные классы булевых функций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11348" y="1458552"/>
                <a:ext cx="10768704" cy="529356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468000" algn="just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ru-RU" dirty="0"/>
                  <a:t>Булева функция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i="1" dirty="0"/>
                  <a:t>сохраняет </a:t>
                </a:r>
                <a:r>
                  <a:rPr lang="ru-RU" dirty="0"/>
                  <a:t>0, если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b="0" i="0" smtClean="0">
                            <a:latin typeface="Cambria Math"/>
                          </a:rPr>
                          <m:t>0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b="0" i="0" smtClean="0">
                            <a:latin typeface="Cambria Math"/>
                          </a:rPr>
                          <m:t>0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b="0" smtClean="0"/>
                          <m:t>0</m:t>
                        </m:r>
                      </m:e>
                    </m:d>
                    <m:r>
                      <a:rPr lang="ru-RU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ru-RU" dirty="0"/>
                  <a:t>. </a:t>
                </a:r>
                <a:br>
                  <a:rPr lang="ru-RU" dirty="0"/>
                </a:br>
                <a:r>
                  <a:rPr lang="ru-RU" i="1" dirty="0"/>
                  <a:t>Обозначим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i="1" dirty="0"/>
                  <a:t> - </a:t>
                </a:r>
                <a:r>
                  <a:rPr lang="ru-RU" i="1" dirty="0"/>
                  <a:t>класс всех функций, сохраняющих 0.  </a:t>
                </a:r>
                <a:endParaRPr lang="en-US" i="1" dirty="0"/>
              </a:p>
              <a:p>
                <a:pPr marL="0" indent="4680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ru-RU" i="1" dirty="0"/>
                  <a:t>Пример: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ru-RU" i="1" dirty="0"/>
              </a:p>
              <a:p>
                <a:pPr marL="0" indent="468000" algn="just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ru-RU" dirty="0"/>
                  <a:t>Булева функция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  <m:r>
                          <a:rPr lang="ru-RU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i="1" dirty="0"/>
                  <a:t>сохраняет 1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  <m:r>
                          <a:rPr lang="ru-RU">
                            <a:latin typeface="Cambria Math"/>
                          </a:rPr>
                          <m:t>(</m:t>
                        </m:r>
                        <m:r>
                          <a:rPr lang="ru-RU" b="0" i="0" smtClean="0">
                            <a:latin typeface="Cambria Math"/>
                          </a:rPr>
                          <m:t>1</m:t>
                        </m:r>
                        <m:r>
                          <a:rPr lang="ru-RU">
                            <a:latin typeface="Cambria Math"/>
                          </a:rPr>
                          <m:t>,</m:t>
                        </m:r>
                        <m:r>
                          <a:rPr lang="ru-RU" b="0" i="0" smtClean="0">
                            <a:latin typeface="Cambria Math"/>
                          </a:rPr>
                          <m:t>1</m:t>
                        </m:r>
                        <m:r>
                          <a:rPr lang="ru-RU">
                            <a:latin typeface="Cambria Math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b="0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ru-RU" b="0" i="1" smtClean="0">
                        <a:latin typeface="Cambria Math"/>
                      </a:rPr>
                      <m:t>1</m:t>
                    </m:r>
                  </m:oMath>
                </a14:m>
                <a:r>
                  <a:rPr lang="ru-RU" dirty="0"/>
                  <a:t>. </a:t>
                </a:r>
                <a:br>
                  <a:rPr lang="ru-RU" dirty="0"/>
                </a:br>
                <a:r>
                  <a:rPr lang="ru-RU" i="1" dirty="0"/>
                  <a:t>Обозначим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ru-R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/>
                  <a:t> - </a:t>
                </a:r>
                <a:r>
                  <a:rPr lang="ru-RU" i="1" dirty="0"/>
                  <a:t>класс всех функций, сохраняющих 1.</a:t>
                </a:r>
                <a:endParaRPr lang="en-US" i="1" dirty="0"/>
              </a:p>
              <a:p>
                <a:pPr marL="0" indent="4680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ru-RU" i="1" dirty="0"/>
                  <a:t>Пример: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>
                        <a:latin typeface="Cambria Math" panose="02040503050406030204" pitchFamily="18" charset="0"/>
                      </a:rPr>
                      <m:t>)=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∨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ru-RU" i="1" dirty="0"/>
              </a:p>
              <a:p>
                <a:pPr marL="0" indent="468000" algn="just">
                  <a:lnSpc>
                    <a:spcPct val="170000"/>
                  </a:lnSpc>
                  <a:spcBef>
                    <a:spcPts val="0"/>
                  </a:spcBef>
                </a:pPr>
                <a:r>
                  <a:rPr lang="ru-RU" dirty="0"/>
                  <a:t>Булева функция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называется </a:t>
                </a:r>
                <a:r>
                  <a:rPr lang="ru-RU" i="1" dirty="0"/>
                  <a:t>двойственной </a:t>
                </a:r>
                <a:r>
                  <a:rPr lang="ru-RU" dirty="0"/>
                  <a:t>функцией для булевой функции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  <m:r>
                          <a:rPr lang="ru-RU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u-RU" b="0" i="0" smtClean="0">
                        <a:latin typeface="Cambria Math"/>
                      </a:rPr>
                      <m:t>, </m:t>
                    </m:r>
                  </m:oMath>
                </a14:m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для любых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/>
                          </a:rPr>
                          <m:t>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ru-RU" i="1"/>
                      <m:t> </m:t>
                    </m:r>
                    <m:r>
                      <a:rPr lang="ru-RU">
                        <a:latin typeface="Cambria Math" panose="02040503050406030204" pitchFamily="18" charset="0"/>
                      </a:rPr>
                      <m:t>...,</m:t>
                    </m:r>
                    <m:r>
                      <m:rPr>
                        <m:nor/>
                      </m:rPr>
                      <a:rPr lang="ru-RU" i="1"/>
                      <m:t> 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. Обозначим </a:t>
                </a:r>
                <a:r>
                  <a:rPr lang="en-US" dirty="0"/>
                  <a:t>S</a:t>
                </a:r>
                <a:r>
                  <a:rPr lang="ru-RU" dirty="0"/>
                  <a:t> – множество самодвойственных функций.</a:t>
                </a:r>
              </a:p>
              <a:p>
                <a:pPr marL="0" indent="468000" algn="just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ru-RU" i="1" dirty="0"/>
                  <a:t>Пример: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)=</m:t>
                        </m:r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ru-RU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11348" y="1458552"/>
                <a:ext cx="10768704" cy="5293568"/>
              </a:xfrm>
              <a:blipFill>
                <a:blip r:embed="rId2"/>
                <a:stretch>
                  <a:fillRect l="-736" t="-8170" r="-736" b="-111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5010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Специальные классы булевых функций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109472" y="1911096"/>
                <a:ext cx="10363200" cy="4572000"/>
              </a:xfrm>
            </p:spPr>
            <p:txBody>
              <a:bodyPr/>
              <a:lstStyle/>
              <a:p>
                <a:r>
                  <a:rPr lang="ru-RU" dirty="0"/>
                  <a:t>Булева функция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i="1" dirty="0"/>
                  <a:t>самодвойственной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b="0" i="0" smtClean="0">
                        <a:latin typeface="Cambria Math"/>
                      </a:rPr>
                      <m:t>.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Класс всех самодвойственных булевых функций обозначим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i="1" dirty="0"/>
                  <a:t>Пример: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i="1" dirty="0"/>
                  <a:t>.</a:t>
                </a:r>
              </a:p>
              <a:p>
                <a:pPr marL="0" indent="0">
                  <a:buNone/>
                </a:pPr>
                <a:endParaRPr lang="ru-RU" i="1" dirty="0"/>
              </a:p>
              <a:p>
                <a:pPr marL="0" indent="0">
                  <a:buNone/>
                </a:pPr>
                <a:r>
                  <a:rPr lang="ru-RU" i="1" dirty="0"/>
                  <a:t>! Введем на множестве </a:t>
                </a:r>
                <a:r>
                  <a:rPr lang="en-US" i="1" dirty="0"/>
                  <a:t>{0, 1}</a:t>
                </a:r>
                <a:r>
                  <a:rPr lang="ru-RU" i="1" dirty="0"/>
                  <a:t> отношение порядка, </a:t>
                </a:r>
                <a:r>
                  <a:rPr lang="ru-RU" dirty="0"/>
                  <a:t>полагая, что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0≤0,</m:t>
                    </m:r>
                    <m:r>
                      <m:rPr>
                        <m:nor/>
                      </m:rPr>
                      <a:rPr lang="ru-RU" i="1"/>
                      <m:t>  </m:t>
                    </m:r>
                    <m:r>
                      <a:rPr lang="ru-RU">
                        <a:latin typeface="Cambria Math" panose="02040503050406030204" pitchFamily="18" charset="0"/>
                      </a:rPr>
                      <m:t>0≤1,</m:t>
                    </m:r>
                    <m:r>
                      <m:rPr>
                        <m:nor/>
                      </m:rPr>
                      <a:rPr lang="ru-RU" i="1"/>
                      <m:t>  </m:t>
                    </m:r>
                    <m:r>
                      <a:rPr lang="ru-RU">
                        <a:latin typeface="Cambria Math" panose="02040503050406030204" pitchFamily="18" charset="0"/>
                      </a:rPr>
                      <m:t>1≤1.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109472" y="1911096"/>
                <a:ext cx="10363200" cy="4572000"/>
              </a:xfrm>
              <a:blipFill>
                <a:blip r:embed="rId2"/>
                <a:stretch>
                  <a:fillRect l="-1176" t="-2400" r="-3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5831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Специальные классы булевых функций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90120" y="1923288"/>
                <a:ext cx="10363200" cy="4934712"/>
              </a:xfrm>
            </p:spPr>
            <p:txBody>
              <a:bodyPr/>
              <a:lstStyle/>
              <a:p>
                <a:r>
                  <a:rPr lang="ru-RU" dirty="0"/>
                  <a:t>Булева функция 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  <m:r>
                          <a:rPr lang="ru-RU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</a:t>
                </a:r>
                <a:r>
                  <a:rPr lang="ru-RU" i="1" dirty="0"/>
                  <a:t>монотонной</a:t>
                </a:r>
                <a:r>
                  <a:rPr lang="ru-RU" dirty="0"/>
                  <a:t>, если для любых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∈{0,1</m:t>
                        </m:r>
                      </m:e>
                    </m:d>
                  </m:oMath>
                </a14:m>
                <a:r>
                  <a:rPr lang="ru-RU" dirty="0"/>
                  <a:t> из того,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ru-RU" i="1"/>
                      <m:t> </m:t>
                    </m:r>
                    <m:r>
                      <a:rPr lang="ru-RU">
                        <a:latin typeface="Cambria Math" panose="02040503050406030204" pitchFamily="18" charset="0"/>
                      </a:rPr>
                      <m:t>...,</m:t>
                    </m:r>
                    <m:r>
                      <m:rPr>
                        <m:nor/>
                      </m:rPr>
                      <a:rPr lang="ru-RU" i="1"/>
                      <m:t> 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следует, что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)≤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Класс монотонных функций обозначим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i="1" dirty="0"/>
                  <a:t>Приведите пример.</a:t>
                </a:r>
              </a:p>
              <a:p>
                <a:pPr marL="0" indent="0">
                  <a:buNone/>
                </a:pPr>
                <a:r>
                  <a:rPr lang="en-US" i="1" dirty="0"/>
                  <a:t>f(</a:t>
                </a:r>
                <a:r>
                  <a:rPr lang="en-US" i="1" dirty="0" err="1"/>
                  <a:t>x,y</a:t>
                </a:r>
                <a:r>
                  <a:rPr lang="en-US" i="1" dirty="0"/>
                  <a:t>) = </a:t>
                </a:r>
                <a:r>
                  <a:rPr lang="en-US" i="1" dirty="0" err="1"/>
                  <a:t>x·y</a:t>
                </a:r>
                <a:r>
                  <a:rPr lang="en-US" i="1" dirty="0"/>
                  <a:t>;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/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/>
                  <a:t> = 1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= 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= 1</a:t>
                </a:r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90120" y="1923288"/>
                <a:ext cx="10363200" cy="4934712"/>
              </a:xfrm>
              <a:blipFill>
                <a:blip r:embed="rId2"/>
                <a:stretch>
                  <a:fillRect l="-1176" t="-2225" r="-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181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Специальные классы булевых функций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31392" y="1837944"/>
                <a:ext cx="10363200" cy="4572000"/>
              </a:xfrm>
            </p:spPr>
            <p:txBody>
              <a:bodyPr/>
              <a:lstStyle/>
              <a:p>
                <a:r>
                  <a:rPr lang="ru-RU" dirty="0"/>
                  <a:t>Булева функция функция 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  <m:r>
                          <a:rPr lang="ru-RU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r>
                          <a:rPr lang="ru-RU">
                            <a:latin typeface="Cambria Math"/>
                          </a:rPr>
                          <m:t>...,</m:t>
                        </m:r>
                        <m:r>
                          <m:rPr>
                            <m:nor/>
                          </m:rPr>
                          <a:rPr lang="ru-RU" i="1"/>
                          <m:t> 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называется  </a:t>
                </a:r>
                <a:r>
                  <a:rPr lang="ru-RU" i="1" dirty="0"/>
                  <a:t>линейной</a:t>
                </a:r>
                <a:r>
                  <a:rPr lang="ru-RU" dirty="0"/>
                  <a:t>, если ее можно представить в виде следующего выражения (называемого полиномом Жегалкина степени не выше первой): 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ru-RU" i="1"/>
                      <m:t> </m:t>
                    </m:r>
                    <m:r>
                      <a:rPr lang="ru-RU">
                        <a:latin typeface="Cambria Math" panose="02040503050406030204" pitchFamily="18" charset="0"/>
                      </a:rPr>
                      <m:t>...,</m:t>
                    </m:r>
                    <m:r>
                      <m:rPr>
                        <m:nor/>
                      </m:rPr>
                      <a:rPr lang="ru-RU" i="1"/>
                      <m:t> 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⊕...⊕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ru-RU" i="1"/>
                      <m:t> </m:t>
                    </m:r>
                    <m:r>
                      <a:rPr lang="ru-RU">
                        <a:latin typeface="Cambria Math" panose="02040503050406030204" pitchFamily="18" charset="0"/>
                      </a:rPr>
                      <m:t>...,</m:t>
                    </m:r>
                    <m:r>
                      <m:rPr>
                        <m:nor/>
                      </m:rPr>
                      <a:rPr lang="ru-RU" i="1"/>
                      <m:t> 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постоянные, равные либо 0, либо 1.</a:t>
                </a:r>
              </a:p>
              <a:p>
                <a:pPr marL="0" indent="0">
                  <a:buNone/>
                </a:pPr>
                <a:r>
                  <a:rPr lang="ru-RU" dirty="0"/>
                  <a:t>Обозначим класс всех линейных булевых функций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i="1" dirty="0"/>
                  <a:t>Приведите пример.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31392" y="1837944"/>
                <a:ext cx="10363200" cy="4572000"/>
              </a:xfrm>
              <a:blipFill>
                <a:blip r:embed="rId2"/>
                <a:stretch>
                  <a:fillRect l="-1176" t="-2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8528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P0, P1, S, M, L </a:t>
            </a:r>
            <a:r>
              <a:rPr lang="ru-RU" dirty="0"/>
              <a:t>собственные замкнутые классы.</a:t>
            </a:r>
          </a:p>
          <a:p>
            <a:r>
              <a:rPr lang="en-US" dirty="0"/>
              <a:t>I</a:t>
            </a:r>
            <a:r>
              <a:rPr lang="ru-RU" dirty="0"/>
              <a:t>)</a:t>
            </a:r>
          </a:p>
          <a:p>
            <a:r>
              <a:rPr lang="ru-RU" dirty="0"/>
              <a:t>1) Классу </a:t>
            </a:r>
            <a:r>
              <a:rPr lang="en-US" dirty="0"/>
              <a:t>P0 </a:t>
            </a:r>
            <a:r>
              <a:rPr lang="ru-RU" dirty="0"/>
              <a:t>и </a:t>
            </a:r>
            <a:r>
              <a:rPr lang="en-US" dirty="0"/>
              <a:t>P1 </a:t>
            </a:r>
            <a:r>
              <a:rPr lang="ru-RU" dirty="0"/>
              <a:t>принадлежит конъюнкция</a:t>
            </a:r>
            <a:r>
              <a:rPr lang="en-US" dirty="0"/>
              <a:t> </a:t>
            </a:r>
            <a:r>
              <a:rPr lang="ru-RU" dirty="0"/>
              <a:t>и не принадлежит отрицание</a:t>
            </a:r>
            <a:r>
              <a:rPr lang="en-US" dirty="0"/>
              <a:t>;</a:t>
            </a:r>
          </a:p>
          <a:p>
            <a:r>
              <a:rPr lang="en-US" dirty="0"/>
              <a:t>2) </a:t>
            </a:r>
            <a:r>
              <a:rPr lang="ru-RU" dirty="0"/>
              <a:t>Отрицание принадлежит </a:t>
            </a:r>
            <a:r>
              <a:rPr lang="en-US" dirty="0"/>
              <a:t>S</a:t>
            </a:r>
            <a:r>
              <a:rPr lang="ru-RU" dirty="0"/>
              <a:t>, но конъюнкция</a:t>
            </a:r>
            <a:r>
              <a:rPr lang="en-US" dirty="0"/>
              <a:t> </a:t>
            </a:r>
            <a:r>
              <a:rPr lang="ru-RU" dirty="0"/>
              <a:t>не принадлежит </a:t>
            </a:r>
            <a:r>
              <a:rPr lang="en-US" dirty="0"/>
              <a:t>S;</a:t>
            </a:r>
          </a:p>
          <a:p>
            <a:r>
              <a:rPr lang="en-US" dirty="0"/>
              <a:t>3) </a:t>
            </a:r>
            <a:r>
              <a:rPr lang="ru-RU" dirty="0"/>
              <a:t>Конъюнкция</a:t>
            </a:r>
            <a:r>
              <a:rPr lang="en-US" dirty="0"/>
              <a:t> </a:t>
            </a:r>
            <a:r>
              <a:rPr lang="ru-RU" dirty="0"/>
              <a:t>принадлежит </a:t>
            </a:r>
            <a:r>
              <a:rPr lang="en-US" dirty="0"/>
              <a:t>M</a:t>
            </a:r>
            <a:r>
              <a:rPr lang="ru-RU" dirty="0"/>
              <a:t>, импликация не принадлежит </a:t>
            </a:r>
            <a:r>
              <a:rPr lang="en-US" dirty="0"/>
              <a:t>M;</a:t>
            </a:r>
            <a:endParaRPr lang="ru-RU" dirty="0"/>
          </a:p>
          <a:p>
            <a:r>
              <a:rPr lang="ru-RU" dirty="0"/>
              <a:t>4) Дизъюнкция принадлежит </a:t>
            </a:r>
            <a:r>
              <a:rPr lang="en-US" dirty="0"/>
              <a:t>L</a:t>
            </a:r>
            <a:r>
              <a:rPr lang="ru-RU" dirty="0"/>
              <a:t>, а конъюнкция</a:t>
            </a:r>
            <a:r>
              <a:rPr lang="en-US" dirty="0"/>
              <a:t> </a:t>
            </a:r>
            <a:r>
              <a:rPr lang="ru-RU" dirty="0"/>
              <a:t>- нет</a:t>
            </a:r>
            <a:r>
              <a:rPr lang="en-US" dirty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98986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II)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18749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Поста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/>
          </p:nvPr>
        </p:nvSpPr>
        <p:spPr>
          <a:xfrm>
            <a:off x="838080" y="2900976"/>
            <a:ext cx="10515240" cy="1325160"/>
          </a:xfrm>
        </p:spPr>
        <p:txBody>
          <a:bodyPr/>
          <a:lstStyle/>
          <a:p>
            <a:pPr indent="457200" algn="just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полноты системы булевых функций В =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0 ,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f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…}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и достаточно, чтобы для каждого из классов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S, L, 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системе В нашлась функция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ему не принадлежащая.</a:t>
            </a:r>
          </a:p>
          <a:p>
            <a:pPr indent="457200" algn="just">
              <a:lnSpc>
                <a:spcPct val="15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Другая формулировка: необходимо и достаточно, чтобы система В не включалась ни в один из этих классов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S, L, 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0" indent="0"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558919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79576" y="332656"/>
            <a:ext cx="7772400" cy="508918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07568" y="836712"/>
                <a:ext cx="7762056" cy="518457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Задана таблица значений функции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𝐹</m:t>
                        </m:r>
                        <m:r>
                          <a:rPr lang="ru-RU">
                            <a:latin typeface="Cambria Math"/>
                          </a:rPr>
                          <m:t>(</m:t>
                        </m:r>
                        <m:r>
                          <a:rPr lang="ru-RU" i="1">
                            <a:latin typeface="Cambria Math"/>
                          </a:rPr>
                          <m:t>𝑥</m:t>
                        </m:r>
                        <m:r>
                          <a:rPr lang="ru-RU">
                            <a:latin typeface="Cambria Math"/>
                          </a:rPr>
                          <m:t>,</m:t>
                        </m:r>
                        <m:r>
                          <a:rPr lang="ru-RU" i="1">
                            <a:latin typeface="Cambria Math"/>
                          </a:rPr>
                          <m:t>𝑦</m:t>
                        </m:r>
                        <m:r>
                          <a:rPr lang="ru-RU">
                            <a:latin typeface="Cambria Math"/>
                          </a:rPr>
                          <m:t>,</m:t>
                        </m:r>
                        <m:r>
                          <a:rPr lang="ru-RU" i="1"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По таблице составьте формулу и упростите ее.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07568" y="836712"/>
                <a:ext cx="7762056" cy="5184576"/>
              </a:xfrm>
              <a:blipFill>
                <a:blip r:embed="rId2"/>
                <a:stretch>
                  <a:fillRect l="-1414" t="-32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/>
            </p:nvGraphicFramePr>
            <p:xfrm>
              <a:off x="2639616" y="1412776"/>
              <a:ext cx="6408712" cy="3744414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60217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1604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"/>
                                    <m:ctrlPr>
                                      <a:rPr kumimoji="0" lang="ru-RU" sz="20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𝐹</m:t>
                                    </m:r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𝑦</m:t>
                                    </m:r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kumimoji="0" lang="ru-RU" sz="2000" kern="1200">
                                        <a:latin typeface="Cambria Math"/>
                                      </a:rPr>
                                      <m:t>𝑧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639616" y="1412776"/>
              <a:ext cx="6408712" cy="3744414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60217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217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16046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60" t="-116176" r="-300760" b="-8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60" t="-116176" r="-200760" b="-8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60" t="-116176" r="-100760" b="-8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60" t="-116176" r="-760" b="-8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160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09003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Формула по таблице:</a:t>
                </a: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/>
                        </a:rPr>
                        <m:t>𝐹</m:t>
                      </m:r>
                      <m:r>
                        <a:rPr lang="ru-RU">
                          <a:latin typeface="Cambria Math"/>
                        </a:rPr>
                        <m:t>(</m:t>
                      </m:r>
                      <m:r>
                        <a:rPr lang="ru-RU" i="1">
                          <a:latin typeface="Cambria Math"/>
                        </a:rPr>
                        <m:t>𝑥</m:t>
                      </m:r>
                      <m:r>
                        <a:rPr lang="ru-RU">
                          <a:latin typeface="Cambria Math"/>
                        </a:rPr>
                        <m:t>,</m:t>
                      </m:r>
                      <m:r>
                        <a:rPr lang="ru-RU" i="1">
                          <a:latin typeface="Cambria Math"/>
                        </a:rPr>
                        <m:t>𝑦</m:t>
                      </m:r>
                      <m:r>
                        <a:rPr lang="ru-RU">
                          <a:latin typeface="Cambria Math"/>
                        </a:rPr>
                        <m:t>,</m:t>
                      </m:r>
                      <m:r>
                        <a:rPr lang="ru-RU" i="1">
                          <a:latin typeface="Cambria Math"/>
                        </a:rPr>
                        <m:t>𝑧</m:t>
                      </m:r>
                      <m:r>
                        <a:rPr lang="ru-RU">
                          <a:latin typeface="Cambria Math"/>
                        </a:rPr>
                        <m:t>)=(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/>
                        </a:rPr>
                        <m:t>⋅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/>
                        </a:rPr>
                        <m:t>⋅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𝑧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/>
                        </a:rPr>
                        <m:t>)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ru-RU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/>
                        </a:rPr>
                        <m:t>⋅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/>
                        </a:rPr>
                        <m:t>⋅</m:t>
                      </m:r>
                      <m:r>
                        <a:rPr lang="ru-RU" i="1">
                          <a:latin typeface="Cambria Math"/>
                        </a:rPr>
                        <m:t>𝑧</m:t>
                      </m:r>
                      <m:r>
                        <a:rPr lang="ru-RU">
                          <a:latin typeface="Cambria Math"/>
                        </a:rPr>
                        <m:t>)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ru-RU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>
                              <a:latin typeface="Cambria Math"/>
                            </a:rPr>
                            <m:t>⋅</m:t>
                          </m:r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  <m:r>
                            <a:rPr lang="ru-RU">
                              <a:latin typeface="Cambria Math"/>
                            </a:rPr>
                            <m:t>⋅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ru-RU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>
                              <a:latin typeface="Cambria Math"/>
                            </a:rPr>
                            <m:t>)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ru-RU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>
                              <a:latin typeface="Cambria Math"/>
                            </a:rPr>
                            <m:t>⋅</m:t>
                          </m:r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  <m:r>
                            <a:rPr lang="ru-RU">
                              <a:latin typeface="Cambria Math"/>
                            </a:rPr>
                            <m:t>⋅</m:t>
                          </m:r>
                          <m:r>
                            <a:rPr lang="ru-RU" i="1">
                              <a:latin typeface="Cambria Math"/>
                            </a:rPr>
                            <m:t>𝑧</m:t>
                          </m:r>
                          <m:r>
                            <a:rPr lang="ru-RU">
                              <a:latin typeface="Cambria Math"/>
                            </a:rPr>
                            <m:t>)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ru-RU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  <m:r>
                            <a:rPr lang="ru-RU">
                              <a:latin typeface="Cambria Math"/>
                            </a:rPr>
                            <m:t>⋅</m:t>
                          </m:r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  <m:r>
                            <a:rPr lang="ru-RU">
                              <a:latin typeface="Cambria Math"/>
                            </a:rPr>
                            <m:t>⋅</m:t>
                          </m:r>
                          <m:r>
                            <a:rPr lang="ru-RU" i="1"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ru-RU" b="0" i="0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ru-RU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/>
                        </a:rPr>
                        <m:t>=</m:t>
                      </m:r>
                      <m:r>
                        <a:rPr lang="ru-RU" i="1">
                          <a:latin typeface="Cambria Math"/>
                        </a:rPr>
                        <m:t>𝑦</m:t>
                      </m:r>
                      <m:r>
                        <a:rPr lang="ru-RU">
                          <a:latin typeface="Cambria Math"/>
                        </a:rPr>
                        <m:t>⋅</m:t>
                      </m:r>
                      <m:r>
                        <a:rPr lang="ru-RU" i="1">
                          <a:latin typeface="Cambria Math"/>
                        </a:rPr>
                        <m:t>𝑧</m:t>
                      </m:r>
                      <m:r>
                        <a:rPr lang="ru-RU">
                          <a:latin typeface="Cambria Math"/>
                        </a:rPr>
                        <m:t>⋅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∨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∨</m:t>
                      </m:r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/>
                        </a:rPr>
                        <m:t>⋅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𝑧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/>
                        </a:rPr>
                        <m:t>⋅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∨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ru-RU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∨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/>
                        </a:rPr>
                        <m:t>⋅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/>
                        </a:rPr>
                        <m:t>⋅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𝑧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/>
                        </a:rPr>
                        <m:t>=...=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ru-RU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  <m:r>
                            <a:rPr lang="ru-RU">
                              <a:latin typeface="Cambria Math"/>
                            </a:rPr>
                            <m:t>⋅</m:t>
                          </m:r>
                          <m:r>
                            <a:rPr lang="ru-RU" i="1"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ru-RU">
                          <a:latin typeface="Cambria Math"/>
                        </a:rPr>
                        <m:t>=</m:t>
                      </m:r>
                      <m:r>
                        <a:rPr lang="ru-RU" i="1">
                          <a:latin typeface="Cambria Math"/>
                        </a:rPr>
                        <m:t>𝑥</m:t>
                      </m:r>
                      <m:r>
                        <a:rPr lang="ru-RU">
                          <a:latin typeface="Cambria Math"/>
                        </a:rPr>
                        <m:t>⇒</m:t>
                      </m:r>
                      <m:r>
                        <a:rPr lang="ru-RU" i="1">
                          <a:latin typeface="Cambria Math"/>
                        </a:rPr>
                        <m:t>𝑦</m:t>
                      </m:r>
                      <m:r>
                        <a:rPr lang="ru-RU">
                          <a:latin typeface="Cambria Math"/>
                        </a:rPr>
                        <m:t>⋅</m:t>
                      </m:r>
                      <m:r>
                        <a:rPr lang="ru-RU" i="1">
                          <a:latin typeface="Cambria Math"/>
                        </a:rPr>
                        <m:t>𝑧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13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  <m:r>
                            <a:rPr lang="ru-RU">
                              <a:latin typeface="Cambria Math"/>
                            </a:rPr>
                            <m:t>;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  <m:r>
                            <a:rPr lang="ru-RU">
                              <a:latin typeface="Cambria Math"/>
                            </a:rPr>
                            <m:t>;</m:t>
                          </m:r>
                          <m:r>
                            <a:rPr lang="ru-RU" i="1">
                              <a:latin typeface="Cambria Math"/>
                            </a:rPr>
                            <m:t>𝑧</m:t>
                          </m:r>
                          <m:r>
                            <a:rPr lang="ru-RU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333" t="-18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2591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Практическое занятие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1) Найдите функции проводимости следующей релейно-контактной схемы:</a:t>
                </a:r>
              </a:p>
              <a:p>
                <a:pPr marL="514350" indent="-514350">
                  <a:buAutoNum type="arabicParenR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2) При каких значениях  булевых  переменных по РКС пойдет ток?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Решение:</a:t>
                </a:r>
              </a:p>
              <a:p>
                <a:pPr marL="0" indent="0">
                  <a:buNone/>
                </a:pPr>
                <a:r>
                  <a:rPr lang="ru-RU" dirty="0"/>
                  <a:t>1)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/>
                          </a:rPr>
                          <m:t> </m:t>
                        </m:r>
                        <m:r>
                          <a:rPr lang="ru-RU" i="1">
                            <a:latin typeface="Cambria Math"/>
                          </a:rPr>
                          <m:t>𝑥</m:t>
                        </m:r>
                        <m:r>
                          <a:rPr lang="ru-RU">
                            <a:latin typeface="Cambria Math"/>
                          </a:rPr>
                          <m:t>⋅</m:t>
                        </m:r>
                        <m:r>
                          <a:rPr lang="ru-RU" i="1">
                            <a:latin typeface="Cambria Math"/>
                          </a:rPr>
                          <m:t>𝑦</m:t>
                        </m:r>
                        <m:r>
                          <a:rPr lang="ru-RU">
                            <a:latin typeface="Cambria Math"/>
                          </a:rPr>
                          <m:t>⋅</m:t>
                        </m:r>
                        <m:r>
                          <a:rPr lang="ru-RU" i="1">
                            <a:latin typeface="Cambria Math"/>
                          </a:rPr>
                          <m:t>𝑧</m:t>
                        </m:r>
                        <m:r>
                          <a:rPr lang="ru-RU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(</m:t>
                        </m:r>
                        <m:r>
                          <a:rPr lang="ru-RU" i="1">
                            <a:latin typeface="Cambria Math"/>
                          </a:rPr>
                          <m:t>𝑥</m:t>
                        </m:r>
                        <m:r>
                          <a:rPr lang="ru-RU">
                            <a:latin typeface="Cambria Math"/>
                          </a:rPr>
                          <m:t>;</m:t>
                        </m:r>
                        <m:r>
                          <a:rPr lang="ru-RU" i="1">
                            <a:latin typeface="Cambria Math"/>
                          </a:rPr>
                          <m:t>𝑦</m:t>
                        </m:r>
                        <m:r>
                          <a:rPr lang="ru-RU">
                            <a:latin typeface="Cambria Math"/>
                          </a:rPr>
                          <m:t>)⋅</m:t>
                        </m:r>
                        <m:r>
                          <a:rPr lang="ru-RU" i="1">
                            <a:latin typeface="Cambria Math"/>
                          </a:rPr>
                          <m:t>𝑧</m:t>
                        </m:r>
                        <m:r>
                          <a:rPr lang="ru-RU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ru-RU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u-RU">
                            <a:latin typeface="Cambria Math"/>
                          </a:rPr>
                          <m:t>(</m:t>
                        </m:r>
                        <m:r>
                          <a:rPr lang="ru-RU" i="1">
                            <a:latin typeface="Cambria Math"/>
                          </a:rPr>
                          <m:t>𝑥</m:t>
                        </m:r>
                        <m:r>
                          <a:rPr lang="ru-RU">
                            <a:latin typeface="Cambria Math"/>
                          </a:rPr>
                          <m:t>;</m:t>
                        </m:r>
                        <m:r>
                          <a:rPr lang="ru-RU" i="1">
                            <a:latin typeface="Cambria Math"/>
                          </a:rPr>
                          <m:t>𝑦</m:t>
                        </m:r>
                        <m:r>
                          <a:rPr lang="ru-RU">
                            <a:latin typeface="Cambria Math"/>
                          </a:rPr>
                          <m:t>);</m:t>
                        </m:r>
                        <m:r>
                          <a:rPr lang="ru-RU" i="1"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333" t="-2133" r="-1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6" t="35039" r="30498" b="47541"/>
          <a:stretch/>
        </p:blipFill>
        <p:spPr bwMode="auto">
          <a:xfrm>
            <a:off x="2423592" y="2244437"/>
            <a:ext cx="7065818" cy="1094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78950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задание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2438400" y="1447800"/>
            <a:ext cx="7772400" cy="50055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2)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Только когда все переменные принимают значение 1, функция примет значение 1, что и означает по РКС пойдет ток.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/>
            </p:nvGraphicFramePr>
            <p:xfrm>
              <a:off x="3048000" y="1397000"/>
              <a:ext cx="6096000" cy="333756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"/>
                                    <m:ctrlPr>
                                      <a:rPr kumimoji="0" lang="ru-RU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ru-RU" i="1" kern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kern="1200">
                                            <a:latin typeface="Cambria Math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kumimoji="0" lang="ru-RU" kern="120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kumimoji="0" lang="ru-RU" kern="1200">
                                        <a:latin typeface="Cambria Math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kumimoji="0" lang="ru-RU" i="1" kern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kern="1200">
                                            <a:latin typeface="Cambria Math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kumimoji="0" lang="ru-RU" kern="120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kumimoji="0" lang="ru-RU" kern="120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kumimoji="0" lang="ru-RU" kern="120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kumimoji="0" lang="ru-RU" kern="1200">
                                        <a:latin typeface="Cambria Math"/>
                                      </a:rPr>
                                      <m:t>;</m:t>
                                    </m:r>
                                    <m:r>
                                      <a:rPr kumimoji="0" lang="ru-RU" kern="1200">
                                        <a:latin typeface="Cambria Math"/>
                                      </a:rPr>
                                      <m:t>𝑦</m:t>
                                    </m:r>
                                    <m:r>
                                      <a:rPr kumimoji="0" lang="ru-RU" kern="1200">
                                        <a:latin typeface="Cambria Math"/>
                                      </a:rPr>
                                      <m:t>);</m:t>
                                    </m:r>
                                    <m:r>
                                      <a:rPr kumimoji="0" lang="ru-RU" kern="1200">
                                        <a:latin typeface="Cambria Math"/>
                                      </a:rPr>
                                      <m:t>𝑧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48000" y="1397000"/>
              <a:ext cx="6096000" cy="333756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00" t="-118033" r="-301200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00" t="-118033" r="-201200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00" t="-118033" r="-101200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00" t="-118033" r="-1200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695513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задание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1) Найдите функции проводимости следующей релейно-контактной схемы:</a:t>
            </a:r>
          </a:p>
          <a:p>
            <a:pPr marL="514350" indent="-514350">
              <a:buAutoNum type="arabicParenR"/>
            </a:pPr>
            <a:endParaRPr lang="ru-RU" dirty="0"/>
          </a:p>
          <a:p>
            <a:pPr marL="514350" indent="-514350">
              <a:buAutoNum type="arabicParenR"/>
            </a:pPr>
            <a:endParaRPr lang="ru-RU" dirty="0"/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ru-RU" dirty="0"/>
              <a:t>2) При каких значениях  булевых  переменных по РКС пойдет ток?</a:t>
            </a:r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271" y="2322571"/>
            <a:ext cx="762952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18631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8400" y="260648"/>
            <a:ext cx="7772400" cy="724942"/>
          </a:xfrm>
        </p:spPr>
        <p:txBody>
          <a:bodyPr>
            <a:normAutofit/>
          </a:bodyPr>
          <a:lstStyle/>
          <a:p>
            <a:r>
              <a:rPr lang="ru-RU" dirty="0"/>
              <a:t>Практическое задание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423592" y="908720"/>
                <a:ext cx="7772400" cy="55446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Решение:</a:t>
                </a:r>
              </a:p>
              <a:p>
                <a:pPr marL="0" indent="0">
                  <a:buNone/>
                </a:pPr>
                <a:r>
                  <a:rPr lang="en-US" dirty="0"/>
                  <a:t>1)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⋅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𝑦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ru-RU" i="1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ru-RU">
                        <a:latin typeface="Cambria Math"/>
                      </a:rPr>
                      <m:t>⋅</m:t>
                    </m:r>
                    <m:r>
                      <a:rPr lang="ru-RU" i="1">
                        <a:latin typeface="Cambria Math"/>
                      </a:rPr>
                      <m:t>𝑡</m:t>
                    </m:r>
                    <m:r>
                      <a:rPr lang="ru-RU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𝑥</m:t>
                    </m:r>
                    <m:r>
                      <a:rPr lang="ru-RU">
                        <a:latin typeface="Cambria Math"/>
                      </a:rPr>
                      <m:t>⋅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ru-RU">
                            <a:latin typeface="Cambria Math"/>
                          </a:rPr>
                          <m:t>7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</a:rPr>
                          <m:t>𝑦</m:t>
                        </m:r>
                        <m:r>
                          <a:rPr lang="ru-RU">
                            <a:latin typeface="Cambria Math"/>
                          </a:rPr>
                          <m:t>;</m:t>
                        </m:r>
                        <m:r>
                          <a:rPr lang="ru-RU" i="1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ru-RU">
                        <a:latin typeface="Cambria Math"/>
                      </a:rPr>
                      <m:t>⋅</m:t>
                    </m:r>
                    <m:r>
                      <a:rPr lang="ru-RU" i="1">
                        <a:latin typeface="Cambria Math"/>
                      </a:rPr>
                      <m:t>𝑡</m:t>
                    </m:r>
                    <m:r>
                      <a:rPr lang="ru-RU">
                        <a:latin typeface="Cambria Math"/>
                      </a:rPr>
                      <m:t>=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  <m:r>
                            <a:rPr lang="ru-RU">
                              <a:latin typeface="Cambria Math"/>
                            </a:rPr>
                            <m:t>;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  <m:r>
                            <a:rPr lang="ru-RU">
                              <a:latin typeface="Cambria Math"/>
                            </a:rPr>
                            <m:t>;</m:t>
                          </m:r>
                          <m:r>
                            <a:rPr lang="ru-RU" i="1">
                              <a:latin typeface="Cambria Math"/>
                            </a:rPr>
                            <m:t>𝑧</m:t>
                          </m:r>
                          <m:r>
                            <a:rPr lang="ru-RU">
                              <a:latin typeface="Cambria Math"/>
                            </a:rPr>
                            <m:t>))⋅</m:t>
                          </m:r>
                          <m:r>
                            <a:rPr lang="ru-RU" i="1">
                              <a:latin typeface="Cambria Math"/>
                            </a:rPr>
                            <m:t>𝑡</m:t>
                          </m:r>
                          <m:r>
                            <a:rPr lang="ru-RU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𝑥</m:t>
                          </m:r>
                          <m:r>
                            <a:rPr lang="ru-RU">
                              <a:latin typeface="Cambria Math"/>
                            </a:rPr>
                            <m:t>;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>
                                  <a:latin typeface="Cambria Math"/>
                                </a:rPr>
                                <m:t>7</m:t>
                              </m:r>
                            </m:sub>
                          </m:sSub>
                          <m:r>
                            <a:rPr lang="ru-RU">
                              <a:latin typeface="Cambria Math"/>
                            </a:rPr>
                            <m:t>(</m:t>
                          </m:r>
                          <m:r>
                            <a:rPr lang="ru-RU" i="1">
                              <a:latin typeface="Cambria Math"/>
                            </a:rPr>
                            <m:t>𝑦</m:t>
                          </m:r>
                          <m:r>
                            <a:rPr lang="ru-RU">
                              <a:latin typeface="Cambria Math"/>
                            </a:rPr>
                            <m:t>;</m:t>
                          </m:r>
                          <m:r>
                            <a:rPr lang="ru-RU" i="1">
                              <a:latin typeface="Cambria Math"/>
                            </a:rPr>
                            <m:t>𝑧</m:t>
                          </m:r>
                          <m:r>
                            <a:rPr lang="ru-RU">
                              <a:latin typeface="Cambria Math"/>
                            </a:rPr>
                            <m:t>));</m:t>
                          </m:r>
                          <m:r>
                            <a:rPr lang="ru-RU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423592" y="908720"/>
                <a:ext cx="7772400" cy="5544616"/>
              </a:xfrm>
              <a:blipFill>
                <a:blip r:embed="rId2"/>
                <a:stretch>
                  <a:fillRect l="-1647" t="-18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/>
              <p:cNvGraphicFramePr>
                <a:graphicFrameLocks noGrp="1"/>
              </p:cNvGraphicFramePr>
              <p:nvPr/>
            </p:nvGraphicFramePr>
            <p:xfrm>
              <a:off x="3071664" y="2420888"/>
              <a:ext cx="6096002" cy="333248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5541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22682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kern="1200" smtClean="0">
                                    <a:latin typeface="Cambria Math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071664" y="2420888"/>
              <a:ext cx="6096002" cy="333248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5541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99" t="-1667" r="-1002198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99" t="-1667" r="-902198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099" t="-1667" r="-802198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099" t="-1667" r="-702198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099" t="-1667" r="-602198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1099" t="-1667" r="-402198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1099" t="-1667" r="-302198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1099" t="-1667" r="-202198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1099" t="-1667" r="-102198" b="-8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1099" t="-1667" r="-2198" b="-83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18746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задание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1) Найдите функции проводимости следующей релейно-контактной схемы: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AutoNum type="arabicParenR"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2) При каких значениях  булевых  переменных по РКС пойдет ток?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2564904"/>
            <a:ext cx="8122502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22619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задание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Постройте наиболее простую РКС по заданным условиям работы: </a:t>
                </a:r>
              </a:p>
              <a:p>
                <a:pPr marL="0" indent="0">
                  <a:buNone/>
                </a:pPr>
                <a:r>
                  <a:rPr lang="ru-RU" dirty="0"/>
                  <a:t>1)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𝑔</m:t>
                    </m:r>
                    <m:r>
                      <a:rPr lang="ru-RU">
                        <a:latin typeface="Cambria Math"/>
                      </a:rPr>
                      <m:t>(0;0;0)=</m:t>
                    </m:r>
                    <m:r>
                      <a:rPr lang="ru-RU" i="1">
                        <a:latin typeface="Cambria Math"/>
                      </a:rPr>
                      <m:t>𝑔</m:t>
                    </m:r>
                    <m:r>
                      <a:rPr lang="ru-RU">
                        <a:latin typeface="Cambria Math"/>
                      </a:rPr>
                      <m:t>(1;0;1)=1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2)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𝑔</m:t>
                    </m:r>
                    <m:r>
                      <a:rPr lang="ru-RU">
                        <a:latin typeface="Cambria Math"/>
                      </a:rPr>
                      <m:t>(1;1;0)=</m:t>
                    </m:r>
                    <m:r>
                      <a:rPr lang="ru-RU" i="1">
                        <a:latin typeface="Cambria Math"/>
                      </a:rPr>
                      <m:t>𝑔</m:t>
                    </m:r>
                    <m:r>
                      <a:rPr lang="ru-RU">
                        <a:latin typeface="Cambria Math"/>
                      </a:rPr>
                      <m:t>(0;0;0)=</m:t>
                    </m:r>
                    <m:r>
                      <a:rPr lang="ru-RU" i="1">
                        <a:latin typeface="Cambria Math"/>
                      </a:rPr>
                      <m:t>𝑔</m:t>
                    </m:r>
                    <m:r>
                      <a:rPr lang="ru-RU">
                        <a:latin typeface="Cambria Math"/>
                      </a:rPr>
                      <m:t>(1;0;0)=1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3)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𝑔</m:t>
                    </m:r>
                    <m:r>
                      <a:rPr lang="ru-RU">
                        <a:latin typeface="Cambria Math"/>
                      </a:rPr>
                      <m:t>(0;0;0)=</m:t>
                    </m:r>
                    <m:r>
                      <a:rPr lang="ru-RU" i="1">
                        <a:latin typeface="Cambria Math"/>
                      </a:rPr>
                      <m:t>𝑔</m:t>
                    </m:r>
                    <m:r>
                      <a:rPr lang="ru-RU">
                        <a:latin typeface="Cambria Math"/>
                      </a:rPr>
                      <m:t>(0;1;0)=</m:t>
                    </m:r>
                    <m:r>
                      <a:rPr lang="ru-RU" i="1">
                        <a:latin typeface="Cambria Math"/>
                      </a:rPr>
                      <m:t>𝑔</m:t>
                    </m:r>
                    <m:r>
                      <a:rPr lang="ru-RU">
                        <a:latin typeface="Cambria Math"/>
                      </a:rPr>
                      <m:t>(1;0;0)=</m:t>
                    </m:r>
                    <m:r>
                      <a:rPr lang="ru-RU" i="1">
                        <a:latin typeface="Cambria Math"/>
                      </a:rPr>
                      <m:t>𝑔</m:t>
                    </m:r>
                    <m:r>
                      <a:rPr lang="ru-RU">
                        <a:latin typeface="Cambria Math"/>
                      </a:rPr>
                      <m:t>(0;1;1)=1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План решения:</a:t>
                </a:r>
              </a:p>
              <a:p>
                <a:pPr marL="514350" indent="-514350">
                  <a:buAutoNum type="arabicPeriod"/>
                </a:pPr>
                <a:r>
                  <a:rPr lang="ru-RU" dirty="0"/>
                  <a:t>Составить таблицу значений.</a:t>
                </a:r>
              </a:p>
              <a:p>
                <a:pPr marL="514350" indent="-514350">
                  <a:buAutoNum type="arabicPeriod"/>
                </a:pPr>
                <a:r>
                  <a:rPr lang="ru-RU" dirty="0"/>
                  <a:t>По таблице составьте формулу.</a:t>
                </a:r>
              </a:p>
              <a:p>
                <a:pPr marL="514350" indent="-514350">
                  <a:buAutoNum type="arabicPeriod"/>
                </a:pPr>
                <a:r>
                  <a:rPr lang="ru-RU" dirty="0"/>
                  <a:t>Упростите составленную формулу.</a:t>
                </a:r>
              </a:p>
              <a:p>
                <a:pPr marL="514350" indent="-514350">
                  <a:buAutoNum type="arabicPeriod"/>
                </a:pPr>
                <a:r>
                  <a:rPr lang="ru-RU" dirty="0"/>
                  <a:t>Составьте РКС.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333" t="-21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6888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00808" y="188640"/>
            <a:ext cx="7772400" cy="854968"/>
          </a:xfrm>
        </p:spPr>
        <p:txBody>
          <a:bodyPr/>
          <a:lstStyle/>
          <a:p>
            <a:r>
              <a:rPr lang="ru-RU" dirty="0"/>
              <a:t>Практическое задание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/>
              <p:cNvGraphicFramePr>
                <a:graphicFrameLocks noGrp="1"/>
              </p:cNvGraphicFramePr>
              <p:nvPr>
                <p:ph sz="quarter" idx="1"/>
              </p:nvPr>
            </p:nvGraphicFramePr>
            <p:xfrm>
              <a:off x="2495600" y="1124744"/>
              <a:ext cx="6768752" cy="3414996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80066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66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3185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3557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280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2000" kern="1200" smtClean="0">
                                    <a:latin typeface="Cambria Math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28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8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28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28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28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28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280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/>
              <p:cNvGraphicFramePr>
                <a:graphicFrameLocks noGrp="1"/>
              </p:cNvGraphicFramePr>
              <p:nvPr>
                <p:ph sz="quarter" idx="1"/>
                <p:extLst/>
              </p:nvPr>
            </p:nvGraphicFramePr>
            <p:xfrm>
              <a:off x="2495600" y="1124744"/>
              <a:ext cx="6768752" cy="3414996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80066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66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3185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3557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944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8" t="-1613" r="-276014" b="-83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678" t="-1613" r="-176949" b="-83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1915" t="-1613" r="-122128" b="-83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0175" t="-1613" r="-702" b="-8370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9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9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9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9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9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9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9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9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ru-RU" sz="2000" dirty="0"/>
                        </a:p>
                      </a:txBody>
                      <a:tcPr marL="74644" marR="74644" marT="37322" marB="3732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495600" y="4581129"/>
                <a:ext cx="75608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/>
                  <a:t>Формула: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𝑔</m:t>
                    </m:r>
                    <m:r>
                      <a:rPr lang="ru-RU" sz="2400">
                        <a:latin typeface="Cambria Math"/>
                      </a:rPr>
                      <m:t>(</m:t>
                    </m:r>
                    <m:r>
                      <a:rPr lang="ru-RU" sz="2400" i="1">
                        <a:latin typeface="Cambria Math"/>
                      </a:rPr>
                      <m:t>𝑥</m:t>
                    </m:r>
                    <m:r>
                      <a:rPr lang="ru-RU" sz="2400">
                        <a:latin typeface="Cambria Math"/>
                      </a:rPr>
                      <m:t>;</m:t>
                    </m:r>
                    <m:r>
                      <a:rPr lang="ru-RU" sz="2400" i="1">
                        <a:latin typeface="Cambria Math"/>
                      </a:rPr>
                      <m:t>𝑦</m:t>
                    </m:r>
                    <m:r>
                      <a:rPr lang="ru-RU" sz="2400">
                        <a:latin typeface="Cambria Math"/>
                      </a:rPr>
                      <m:t>;</m:t>
                    </m:r>
                    <m:r>
                      <a:rPr lang="ru-RU" sz="2400" i="1">
                        <a:latin typeface="Cambria Math"/>
                      </a:rPr>
                      <m:t>𝑧</m:t>
                    </m:r>
                    <m:r>
                      <a:rPr lang="ru-RU" sz="2400">
                        <a:latin typeface="Cambria Math"/>
                      </a:rPr>
                      <m:t>)=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ru-RU" sz="2400">
                        <a:latin typeface="Cambria Math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𝑦</m:t>
                        </m:r>
                      </m:e>
                    </m:acc>
                    <m:r>
                      <a:rPr lang="ru-RU" sz="2400">
                        <a:latin typeface="Cambria Math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𝑧</m:t>
                        </m:r>
                      </m:e>
                    </m:acc>
                    <m:r>
                      <a:rPr lang="ru-RU" sz="2400">
                        <a:latin typeface="Cambria Math" panose="02040503050406030204" pitchFamily="18" charset="0"/>
                      </a:rPr>
                      <m:t>∨</m:t>
                    </m:r>
                    <m:r>
                      <a:rPr lang="ru-RU" sz="2400" i="1">
                        <a:latin typeface="Cambria Math"/>
                      </a:rPr>
                      <m:t>𝑥</m:t>
                    </m:r>
                    <m:r>
                      <a:rPr lang="ru-RU" sz="2400">
                        <a:latin typeface="Cambria Math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latin typeface="Cambria Math"/>
                          </a:rPr>
                          <m:t>𝑦</m:t>
                        </m:r>
                      </m:e>
                    </m:acc>
                    <m:r>
                      <a:rPr lang="ru-RU" sz="2400">
                        <a:latin typeface="Cambria Math"/>
                      </a:rPr>
                      <m:t>⋅</m:t>
                    </m:r>
                    <m:r>
                      <a:rPr lang="ru-RU" sz="2400" i="1">
                        <a:latin typeface="Cambria Math"/>
                      </a:rPr>
                      <m:t>𝑧</m:t>
                    </m:r>
                    <m:d>
                      <m:dPr>
                        <m:begChr m:val="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>
                            <a:latin typeface="Cambria Math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400" i="1">
                                <a:latin typeface="Cambria Math"/>
                              </a:rPr>
                              <m:t>𝑦</m:t>
                            </m:r>
                          </m:e>
                        </m:acc>
                        <m:r>
                          <a:rPr lang="ru-RU" sz="2400">
                            <a:latin typeface="Cambria Math"/>
                          </a:rPr>
                          <m:t>⋅(</m:t>
                        </m:r>
                        <m:acc>
                          <m:accPr>
                            <m:chr m:val="̅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400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  <m:r>
                          <a:rPr lang="ru-RU" sz="2400">
                            <a:latin typeface="Cambria Math"/>
                          </a:rPr>
                          <m:t>⋅</m:t>
                        </m:r>
                        <m:acc>
                          <m:accPr>
                            <m:chr m:val="̅"/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400" i="1">
                                <a:latin typeface="Cambria Math"/>
                              </a:rPr>
                              <m:t>𝑧</m:t>
                            </m:r>
                          </m:e>
                        </m:acc>
                        <m:r>
                          <a:rPr lang="ru-RU" sz="240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ru-RU" sz="2400" i="1">
                            <a:latin typeface="Cambria Math"/>
                          </a:rPr>
                          <m:t>𝑥</m:t>
                        </m:r>
                        <m:r>
                          <a:rPr lang="ru-RU" sz="2400">
                            <a:latin typeface="Cambria Math"/>
                          </a:rPr>
                          <m:t>⋅</m:t>
                        </m:r>
                        <m:r>
                          <a:rPr lang="ru-RU" sz="2400" i="1"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4581129"/>
                <a:ext cx="7560840" cy="1200329"/>
              </a:xfrm>
              <a:prstGeom prst="rect">
                <a:avLst/>
              </a:prstGeom>
              <a:blipFill>
                <a:blip r:embed="rId3"/>
                <a:stretch>
                  <a:fillRect l="-4190" t="-18782" b="-451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5445225"/>
            <a:ext cx="8568952" cy="1175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0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921</TotalTime>
  <Words>3456</Words>
  <Application>Microsoft Office PowerPoint</Application>
  <PresentationFormat>Широкоэкранный</PresentationFormat>
  <Paragraphs>745</Paragraphs>
  <Slides>57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57</vt:i4>
      </vt:variant>
    </vt:vector>
  </HeadingPairs>
  <TitlesOfParts>
    <vt:vector size="69" baseType="lpstr">
      <vt:lpstr>Arial</vt:lpstr>
      <vt:lpstr>Calibri</vt:lpstr>
      <vt:lpstr>Calibri Light</vt:lpstr>
      <vt:lpstr>Cambria Math</vt:lpstr>
      <vt:lpstr>Franklin Gothic Book</vt:lpstr>
      <vt:lpstr>Perpetua</vt:lpstr>
      <vt:lpstr>Symbol</vt:lpstr>
      <vt:lpstr>Times New Roman</vt:lpstr>
      <vt:lpstr>Wingdings</vt:lpstr>
      <vt:lpstr>Wingdings 2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Практическое занятие 2</vt:lpstr>
      <vt:lpstr>Дизъюнктивная нормальная форма (ДНФ)</vt:lpstr>
      <vt:lpstr>Конъюнктивная нормальная форма (КНФ)</vt:lpstr>
      <vt:lpstr>Совершенная дизъюнктивная нормальная форма (СДНФ)</vt:lpstr>
      <vt:lpstr>Совершенная конъюнктивная нормальная форма (СКНФ)</vt:lpstr>
      <vt:lpstr>Этапы построения СДНФ</vt:lpstr>
      <vt:lpstr>Этапы построения СКНФ</vt:lpstr>
      <vt:lpstr>Пример</vt:lpstr>
      <vt:lpstr>Презентация PowerPoint</vt:lpstr>
      <vt:lpstr>СДНФ, СКНФ</vt:lpstr>
      <vt:lpstr>Ответы:</vt:lpstr>
      <vt:lpstr>Приложения алгебры логики</vt:lpstr>
      <vt:lpstr>Релейно-контактные  схемы</vt:lpstr>
      <vt:lpstr>Задача</vt:lpstr>
      <vt:lpstr>Презентация PowerPoint</vt:lpstr>
      <vt:lpstr>Презентация PowerPoint</vt:lpstr>
      <vt:lpstr>Обратная задача</vt:lpstr>
      <vt:lpstr>Презентация PowerPoint</vt:lpstr>
      <vt:lpstr>Домашняя работа</vt:lpstr>
      <vt:lpstr>Презентация PowerPoint</vt:lpstr>
      <vt:lpstr>Презентация PowerPoint</vt:lpstr>
      <vt:lpstr>Проверка решения</vt:lpstr>
      <vt:lpstr>Презентация PowerPoint</vt:lpstr>
      <vt:lpstr>Равносильности:</vt:lpstr>
      <vt:lpstr>Булева алгебра</vt:lpstr>
      <vt:lpstr>Презентация PowerPoint</vt:lpstr>
      <vt:lpstr>Основные термины</vt:lpstr>
      <vt:lpstr>Булевы функции одной переменной</vt:lpstr>
      <vt:lpstr>Презентация PowerPoint</vt:lpstr>
      <vt:lpstr>Презентация PowerPoint</vt:lpstr>
      <vt:lpstr>Булевы функции от двух переменных</vt:lpstr>
      <vt:lpstr>Булевы функции от двух переменных</vt:lpstr>
      <vt:lpstr>Булевы функции от двух переменных</vt:lpstr>
      <vt:lpstr>Булевы функции от двух переменных</vt:lpstr>
      <vt:lpstr>Свойства дизъюнкции, конъюнкции и отрицания</vt:lpstr>
      <vt:lpstr>Системы булевых функций</vt:lpstr>
      <vt:lpstr>Специальные классы булевых функций</vt:lpstr>
      <vt:lpstr>Специальные классы булевых функций</vt:lpstr>
      <vt:lpstr>Специальные классы булевых функций</vt:lpstr>
      <vt:lpstr>Специальные классы булевых функций</vt:lpstr>
      <vt:lpstr>Теорема</vt:lpstr>
      <vt:lpstr>Презентация PowerPoint</vt:lpstr>
      <vt:lpstr>Теорема Поста</vt:lpstr>
      <vt:lpstr>Пример</vt:lpstr>
      <vt:lpstr>Решение</vt:lpstr>
      <vt:lpstr>Практическое занятие</vt:lpstr>
      <vt:lpstr>Практическое задание </vt:lpstr>
      <vt:lpstr>Практическое задание</vt:lpstr>
      <vt:lpstr>Практическое задание</vt:lpstr>
      <vt:lpstr>Практическое задание</vt:lpstr>
      <vt:lpstr>Практическое задание</vt:lpstr>
      <vt:lpstr>Практическое задание</vt:lpstr>
    </vt:vector>
  </TitlesOfParts>
  <Company>УрГЭУ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Заборовская Алена Евгеньевна</dc:creator>
  <dc:description/>
  <cp:lastModifiedBy>Матвей Прытков</cp:lastModifiedBy>
  <cp:revision>46</cp:revision>
  <dcterms:created xsi:type="dcterms:W3CDTF">2023-01-18T14:00:20Z</dcterms:created>
  <dcterms:modified xsi:type="dcterms:W3CDTF">2024-05-01T03:46:56Z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УрГЭУ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Широкоэкранный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8</vt:i4>
  </property>
</Properties>
</file>