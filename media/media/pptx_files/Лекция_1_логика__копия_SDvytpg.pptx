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  <p:sldMasterId id="2147483722" r:id="rId2"/>
  </p:sldMasterIdLst>
  <p:sldIdLst>
    <p:sldId id="256" r:id="rId3"/>
    <p:sldId id="270" r:id="rId4"/>
    <p:sldId id="271" r:id="rId5"/>
    <p:sldId id="262" r:id="rId6"/>
    <p:sldId id="257" r:id="rId7"/>
    <p:sldId id="275" r:id="rId8"/>
    <p:sldId id="284" r:id="rId9"/>
    <p:sldId id="272" r:id="rId10"/>
    <p:sldId id="258" r:id="rId11"/>
    <p:sldId id="276" r:id="rId12"/>
    <p:sldId id="259" r:id="rId13"/>
    <p:sldId id="260" r:id="rId14"/>
    <p:sldId id="278" r:id="rId15"/>
    <p:sldId id="267" r:id="rId16"/>
    <p:sldId id="268" r:id="rId17"/>
    <p:sldId id="280" r:id="rId18"/>
    <p:sldId id="281" r:id="rId19"/>
    <p:sldId id="265" r:id="rId20"/>
    <p:sldId id="277" r:id="rId21"/>
    <p:sldId id="269" r:id="rId22"/>
    <p:sldId id="282" r:id="rId23"/>
    <p:sldId id="283" r:id="rId2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Средний стиль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0DC8A-A3B7-4614-840A-C5706A004269}" type="datetimeFigureOut">
              <a:rPr lang="ru-RU" smtClean="0"/>
              <a:t>01.05.2024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9B22006D-FC65-4C87-824F-5ADC8EADF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6702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0DC8A-A3B7-4614-840A-C5706A004269}" type="datetimeFigureOut">
              <a:rPr lang="ru-RU" smtClean="0"/>
              <a:t>01.05.2024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2006D-FC65-4C87-824F-5ADC8EADF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8033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0DC8A-A3B7-4614-840A-C5706A004269}" type="datetimeFigureOut">
              <a:rPr lang="ru-RU" smtClean="0"/>
              <a:t>01.05.2024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B22006D-FC65-4C87-824F-5ADC8EADF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7666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0DC8A-A3B7-4614-840A-C5706A004269}" type="datetimeFigureOut">
              <a:rPr lang="ru-RU" smtClean="0"/>
              <a:t>01.05.2024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B22006D-FC65-4C87-824F-5ADC8EADF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351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0DC8A-A3B7-4614-840A-C5706A004269}" type="datetimeFigureOut">
              <a:rPr lang="ru-RU" smtClean="0"/>
              <a:t>01.05.2024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B22006D-FC65-4C87-824F-5ADC8EADF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4176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0DC8A-A3B7-4614-840A-C5706A004269}" type="datetimeFigureOut">
              <a:rPr lang="ru-RU" smtClean="0"/>
              <a:t>01.05.2024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2006D-FC65-4C87-824F-5ADC8EADF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23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0DC8A-A3B7-4614-840A-C5706A004269}" type="datetimeFigureOut">
              <a:rPr lang="ru-RU" smtClean="0"/>
              <a:t>01.05.2024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2006D-FC65-4C87-824F-5ADC8EADF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6877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0DC8A-A3B7-4614-840A-C5706A004269}" type="datetimeFigureOut">
              <a:rPr lang="ru-RU" smtClean="0"/>
              <a:t>01.05.2024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2006D-FC65-4C87-824F-5ADC8EADF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0068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0DC8A-A3B7-4614-840A-C5706A004269}" type="datetimeFigureOut">
              <a:rPr lang="ru-RU" smtClean="0"/>
              <a:t>01.05.2024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B22006D-FC65-4C87-824F-5ADC8EADF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6130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0DC8A-A3B7-4614-840A-C5706A004269}" type="datetimeFigureOut">
              <a:rPr lang="ru-RU" smtClean="0"/>
              <a:t>01.05.2024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B22006D-FC65-4C87-824F-5ADC8EADF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37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0DC8A-A3B7-4614-840A-C5706A004269}" type="datetimeFigureOut">
              <a:rPr lang="ru-RU" smtClean="0"/>
              <a:t>01.05.2024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B22006D-FC65-4C87-824F-5ADC8EADF34F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474867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0DC8A-A3B7-4614-840A-C5706A004269}" type="datetimeFigureOut">
              <a:rPr lang="ru-RU" smtClean="0"/>
              <a:t>01.05.2024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B22006D-FC65-4C87-824F-5ADC8EADF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81062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0DC8A-A3B7-4614-840A-C5706A004269}" type="datetimeFigureOut">
              <a:rPr lang="ru-RU" smtClean="0"/>
              <a:t>01.05.2024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B22006D-FC65-4C87-824F-5ADC8EADF34F}" type="slidenum">
              <a:rPr lang="ru-RU" smtClean="0"/>
              <a:t>‹#›</a:t>
            </a:fld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961880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0DC8A-A3B7-4614-840A-C5706A004269}" type="datetimeFigureOut">
              <a:rPr lang="ru-RU" smtClean="0"/>
              <a:t>01.05.2024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B22006D-FC65-4C87-824F-5ADC8EADF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3096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0DC8A-A3B7-4614-840A-C5706A004269}" type="datetimeFigureOut">
              <a:rPr lang="ru-RU" smtClean="0"/>
              <a:t>01.05.2024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2006D-FC65-4C87-824F-5ADC8EADF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04070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0DC8A-A3B7-4614-840A-C5706A004269}" type="datetimeFigureOut">
              <a:rPr lang="ru-RU" smtClean="0"/>
              <a:t>01.05.2024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2006D-FC65-4C87-824F-5ADC8EADF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00421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4F60F-A7C2-48B3-950B-61B425874E42}" type="datetimeFigureOut">
              <a:rPr lang="ru-RU" smtClean="0"/>
              <a:pPr/>
              <a:t>01.05.2024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21B7660F-7849-4385-BC23-C5D36184A52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22712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4F60F-A7C2-48B3-950B-61B425874E42}" type="datetimeFigureOut">
              <a:rPr lang="ru-RU" smtClean="0"/>
              <a:pPr/>
              <a:t>01.05.2024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7660F-7849-4385-BC23-C5D36184A52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656807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fld id="{77433D77-DD38-4445-B472-D589DB18FDF2}" type="datetime">
              <a:rPr lang="ru-RU" sz="1200" b="0" strike="noStrike" spc="-1" smtClean="0">
                <a:solidFill>
                  <a:srgbClr val="8B8B8B"/>
                </a:solidFill>
                <a:latin typeface="Calibri"/>
              </a:rPr>
              <a:pPr>
                <a:lnSpc>
                  <a:spcPct val="100000"/>
                </a:lnSpc>
              </a:pPr>
              <a:t>01.05.2024</a:t>
            </a:fld>
            <a:endParaRPr lang="ru-RU" sz="1200" b="0" strike="noStrike" spc="-1"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sz="2400" b="0" strike="noStrike" spc="-1">
              <a:latin typeface="Times New Roman"/>
            </a:endParaRP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pPr algn="r">
              <a:lnSpc>
                <a:spcPct val="100000"/>
              </a:lnSpc>
            </a:pPr>
            <a:fld id="{9634F992-0D28-4046-83C3-ED1A855DD8B8}" type="slidenum">
              <a:rPr lang="ru-RU" sz="1200" b="0" strike="noStrike" spc="-1" smtClean="0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ru-RU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90695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fld id="{77433D77-DD38-4445-B472-D589DB18FDF2}" type="datetime">
              <a:rPr lang="ru-RU" sz="1200" b="0" strike="noStrike" spc="-1" smtClean="0">
                <a:solidFill>
                  <a:srgbClr val="8B8B8B"/>
                </a:solidFill>
                <a:latin typeface="Calibri"/>
              </a:rPr>
              <a:pPr>
                <a:lnSpc>
                  <a:spcPct val="100000"/>
                </a:lnSpc>
              </a:pPr>
              <a:t>01.05.2024</a:t>
            </a:fld>
            <a:endParaRPr lang="ru-RU" sz="1200" b="0" strike="noStrike" spc="-1"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sz="2400" b="0" strike="noStrike" spc="-1">
              <a:latin typeface="Times New Roman"/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pPr algn="r">
              <a:lnSpc>
                <a:spcPct val="100000"/>
              </a:lnSpc>
            </a:pPr>
            <a:fld id="{9634F992-0D28-4046-83C3-ED1A855DD8B8}" type="slidenum">
              <a:rPr lang="ru-RU" sz="1200" b="0" strike="noStrike" spc="-1" smtClean="0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ru-RU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675720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fld id="{77433D77-DD38-4445-B472-D589DB18FDF2}" type="datetime">
              <a:rPr lang="ru-RU" sz="1200" b="0" strike="noStrike" spc="-1" smtClean="0">
                <a:solidFill>
                  <a:srgbClr val="8B8B8B"/>
                </a:solidFill>
                <a:latin typeface="Calibri"/>
              </a:rPr>
              <a:pPr>
                <a:lnSpc>
                  <a:spcPct val="100000"/>
                </a:lnSpc>
              </a:pPr>
              <a:t>01.05.2024</a:t>
            </a:fld>
            <a:endParaRPr lang="ru-RU" sz="1200" b="0" strike="noStrike" spc="-1">
              <a:latin typeface="Times New Roman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sz="2400" b="0" strike="noStrike" spc="-1">
              <a:latin typeface="Times New Roman"/>
            </a:endParaRPr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pPr algn="r">
              <a:lnSpc>
                <a:spcPct val="100000"/>
              </a:lnSpc>
            </a:pPr>
            <a:fld id="{9634F992-0D28-4046-83C3-ED1A855DD8B8}" type="slidenum">
              <a:rPr lang="ru-RU" sz="1200" b="0" strike="noStrike" spc="-1" smtClean="0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ru-RU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091081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fld id="{77433D77-DD38-4445-B472-D589DB18FDF2}" type="datetime">
              <a:rPr lang="ru-RU" sz="1200" b="0" strike="noStrike" spc="-1" smtClean="0">
                <a:solidFill>
                  <a:srgbClr val="8B8B8B"/>
                </a:solidFill>
                <a:latin typeface="Calibri"/>
              </a:rPr>
              <a:pPr>
                <a:lnSpc>
                  <a:spcPct val="100000"/>
                </a:lnSpc>
              </a:pPr>
              <a:t>01.05.2024</a:t>
            </a:fld>
            <a:endParaRPr lang="ru-RU" sz="1200" b="0" strike="noStrike" spc="-1">
              <a:latin typeface="Times New Roman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sz="2400" b="0" strike="noStrike" spc="-1">
              <a:latin typeface="Times New Roman"/>
            </a:endParaRPr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9634F992-0D28-4046-83C3-ED1A855DD8B8}" type="slidenum">
              <a:rPr lang="ru-RU" sz="1200" b="0" strike="noStrike" spc="-1" smtClean="0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ru-RU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805673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fld id="{77433D77-DD38-4445-B472-D589DB18FDF2}" type="datetime">
              <a:rPr lang="ru-RU" sz="1200" b="0" strike="noStrike" spc="-1" smtClean="0">
                <a:solidFill>
                  <a:srgbClr val="8B8B8B"/>
                </a:solidFill>
                <a:latin typeface="Calibri"/>
              </a:rPr>
              <a:pPr>
                <a:lnSpc>
                  <a:spcPct val="100000"/>
                </a:lnSpc>
              </a:pPr>
              <a:t>01.05.2024</a:t>
            </a:fld>
            <a:endParaRPr lang="ru-RU" sz="1200" b="0" strike="noStrike" spc="-1">
              <a:latin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sz="2400" b="0" strike="noStrike" spc="-1">
              <a:latin typeface="Times New Roman"/>
            </a:endParaRPr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9634F992-0D28-4046-83C3-ED1A855DD8B8}" type="slidenum">
              <a:rPr lang="ru-RU" sz="1200" b="0" strike="noStrike" spc="-1" smtClean="0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ru-RU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888624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fld id="{77433D77-DD38-4445-B472-D589DB18FDF2}" type="datetime">
              <a:rPr lang="ru-RU" sz="1200" b="0" strike="noStrike" spc="-1" smtClean="0">
                <a:solidFill>
                  <a:srgbClr val="8B8B8B"/>
                </a:solidFill>
                <a:latin typeface="Calibri"/>
              </a:rPr>
              <a:pPr>
                <a:lnSpc>
                  <a:spcPct val="100000"/>
                </a:lnSpc>
              </a:pPr>
              <a:t>01.05.2024</a:t>
            </a:fld>
            <a:endParaRPr lang="ru-RU" sz="1200" b="0" strike="noStrike" spc="-1"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sz="2400" b="0" strike="noStrike" spc="-1">
              <a:latin typeface="Times New Roman"/>
            </a:endParaRP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9634F992-0D28-4046-83C3-ED1A855DD8B8}" type="slidenum">
              <a:rPr lang="ru-RU" sz="1200" b="0" strike="noStrike" spc="-1" smtClean="0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ru-RU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3701395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fld id="{77433D77-DD38-4445-B472-D589DB18FDF2}" type="datetime">
              <a:rPr lang="ru-RU" sz="1200" b="0" strike="noStrike" spc="-1" smtClean="0">
                <a:solidFill>
                  <a:srgbClr val="8B8B8B"/>
                </a:solidFill>
                <a:latin typeface="Calibri"/>
              </a:rPr>
              <a:pPr>
                <a:lnSpc>
                  <a:spcPct val="100000"/>
                </a:lnSpc>
              </a:pPr>
              <a:t>01.05.2024</a:t>
            </a:fld>
            <a:endParaRPr lang="ru-RU" sz="1200" b="0" strike="noStrike" spc="-1"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sz="2400" b="0" strike="noStrike" spc="-1">
              <a:latin typeface="Times New Roman"/>
            </a:endParaRP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pPr algn="r">
              <a:lnSpc>
                <a:spcPct val="100000"/>
              </a:lnSpc>
            </a:pPr>
            <a:fld id="{9634F992-0D28-4046-83C3-ED1A855DD8B8}" type="slidenum">
              <a:rPr lang="ru-RU" sz="1200" b="0" strike="noStrike" spc="-1" smtClean="0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ru-RU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4690941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16ED3-A5E3-452B-A675-19C635F46F9A}" type="datetimeFigureOut">
              <a:rPr lang="ru-RU" smtClean="0"/>
              <a:t>01.05.2024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5C638BA-23E6-427E-9D46-EF6FA15FF6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218998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16ED3-A5E3-452B-A675-19C635F46F9A}" type="datetimeFigureOut">
              <a:rPr lang="ru-RU" smtClean="0"/>
              <a:t>01.05.2024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5C638BA-23E6-427E-9D46-EF6FA15FF636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2803111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16ED3-A5E3-452B-A675-19C635F46F9A}" type="datetimeFigureOut">
              <a:rPr lang="ru-RU" smtClean="0"/>
              <a:t>01.05.2024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5C638BA-23E6-427E-9D46-EF6FA15FF6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950700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16ED3-A5E3-452B-A675-19C635F46F9A}" type="datetimeFigureOut">
              <a:rPr lang="ru-RU" smtClean="0"/>
              <a:t>01.05.2024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5C638BA-23E6-427E-9D46-EF6FA15FF636}" type="slidenum">
              <a:rPr lang="ru-RU" smtClean="0"/>
              <a:t>‹#›</a:t>
            </a:fld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8569752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16ED3-A5E3-452B-A675-19C635F46F9A}" type="datetimeFigureOut">
              <a:rPr lang="ru-RU" smtClean="0"/>
              <a:t>01.05.2024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5C638BA-23E6-427E-9D46-EF6FA15FF6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597225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fld id="{77433D77-DD38-4445-B472-D589DB18FDF2}" type="datetime">
              <a:rPr lang="ru-RU" sz="1200" b="0" strike="noStrike" spc="-1" smtClean="0">
                <a:solidFill>
                  <a:srgbClr val="8B8B8B"/>
                </a:solidFill>
                <a:latin typeface="Calibri"/>
              </a:rPr>
              <a:pPr>
                <a:lnSpc>
                  <a:spcPct val="100000"/>
                </a:lnSpc>
              </a:pPr>
              <a:t>01.05.2024</a:t>
            </a:fld>
            <a:endParaRPr lang="ru-RU" sz="1200" b="0" strike="noStrike" spc="-1"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sz="2400" b="0" strike="noStrike" spc="-1">
              <a:latin typeface="Times New Roman"/>
            </a:endParaRPr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9634F992-0D28-4046-83C3-ED1A855DD8B8}" type="slidenum">
              <a:rPr lang="ru-RU" sz="1200" b="0" strike="noStrike" spc="-1" smtClean="0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ru-RU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9183872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fld id="{77433D77-DD38-4445-B472-D589DB18FDF2}" type="datetime">
              <a:rPr lang="ru-RU" sz="1200" b="0" strike="noStrike" spc="-1" smtClean="0">
                <a:solidFill>
                  <a:srgbClr val="8B8B8B"/>
                </a:solidFill>
                <a:latin typeface="Calibri"/>
              </a:rPr>
              <a:pPr>
                <a:lnSpc>
                  <a:spcPct val="100000"/>
                </a:lnSpc>
              </a:pPr>
              <a:t>01.05.2024</a:t>
            </a:fld>
            <a:endParaRPr lang="ru-RU" sz="1200" b="0" strike="noStrike" spc="-1"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sz="2400" b="0" strike="noStrike" spc="-1">
              <a:latin typeface="Times New Roman"/>
            </a:endParaRPr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9634F992-0D28-4046-83C3-ED1A855DD8B8}" type="slidenum">
              <a:rPr lang="ru-RU" sz="1200" b="0" strike="noStrike" spc="-1" smtClean="0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ru-RU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80434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F0DC8A-A3B7-4614-840A-C5706A004269}" type="datetimeFigureOut">
              <a:rPr lang="ru-RU" smtClean="0"/>
              <a:t>01.05.2024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9B22006D-FC65-4C87-824F-5ADC8EADF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2697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F16ED3-A5E3-452B-A675-19C635F46F9A}" type="datetimeFigureOut">
              <a:rPr lang="ru-RU" smtClean="0"/>
              <a:t>01.05.2024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85C638BA-23E6-427E-9D46-EF6FA15FF6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0774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  <p:sldLayoutId id="2147483735" r:id="rId13"/>
    <p:sldLayoutId id="2147483736" r:id="rId14"/>
    <p:sldLayoutId id="2147483737" r:id="rId15"/>
    <p:sldLayoutId id="214748373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19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01EE86-5ECE-0284-73A2-716332E17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34326" y="2519363"/>
            <a:ext cx="7333673" cy="1184419"/>
          </a:xfrm>
        </p:spPr>
        <p:txBody>
          <a:bodyPr>
            <a:normAutofit fontScale="90000"/>
          </a:bodyPr>
          <a:lstStyle/>
          <a:p>
            <a:r>
              <a:rPr lang="ru-RU" sz="7200" dirty="0"/>
              <a:t>Лекция 1</a:t>
            </a:r>
          </a:p>
        </p:txBody>
      </p:sp>
    </p:spTree>
    <p:extLst>
      <p:ext uri="{BB962C8B-B14F-4D97-AF65-F5344CB8AC3E}">
        <p14:creationId xmlns:p14="http://schemas.microsoft.com/office/powerpoint/2010/main" val="1352716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Shape 1"/>
          <p:cNvSpPr txBox="1"/>
          <p:nvPr/>
        </p:nvSpPr>
        <p:spPr>
          <a:xfrm>
            <a:off x="1854080" y="226495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0" i="0" u="none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</a:rPr>
              <a:t>Логика традиционная и математическая логика.</a:t>
            </a:r>
            <a:endParaRPr kumimoji="0" lang="ru-RU" sz="4400" b="0" i="0" u="none" strike="noStrike" kern="1200" cap="none" spc="-1" normalizeH="0" baseline="0" noProof="0" dirty="0">
              <a:ln>
                <a:noFill/>
              </a:ln>
              <a:effectLst/>
              <a:uLnTx/>
              <a:uFillTx/>
              <a:latin typeface="Calibri"/>
            </a:endParaRPr>
          </a:p>
        </p:txBody>
      </p:sp>
      <p:sp>
        <p:nvSpPr>
          <p:cNvPr id="85" name="TextShape 2"/>
          <p:cNvSpPr txBox="1"/>
          <p:nvPr/>
        </p:nvSpPr>
        <p:spPr>
          <a:xfrm>
            <a:off x="3251200" y="1825560"/>
            <a:ext cx="8102120" cy="4350960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77500" lnSpcReduction="20000"/>
          </a:bodyPr>
          <a:lstStyle/>
          <a:p>
            <a:pPr marL="228600" marR="0" lvl="0" indent="-228240" algn="l" defTabSz="914400" rtl="0" eaLnBrk="1" fontAlgn="auto" latinLnBrk="0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ru-RU" sz="2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</a:rPr>
              <a:t>Историческая справка : Аристотель </a:t>
            </a:r>
            <a:r>
              <a:rPr kumimoji="0" lang="ru-RU" sz="2800" b="0" i="0" u="none" strike="noStrike" kern="1200" cap="none" spc="-1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</a:rPr>
              <a:t>годы жизни</a:t>
            </a:r>
          </a:p>
          <a:p>
            <a:pPr marL="228600" marR="0" lvl="0" indent="-228240" algn="l" defTabSz="914400" rtl="0" eaLnBrk="1" fontAlgn="auto" latinLnBrk="0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ru-RU" sz="2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</a:rPr>
              <a:t>Евклид</a:t>
            </a:r>
          </a:p>
          <a:p>
            <a:pPr marL="228600" marR="0" lvl="0" indent="-228240" algn="l" defTabSz="914400" rtl="0" eaLnBrk="1" fontAlgn="auto" latinLnBrk="0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ru-RU" sz="2800" b="0" i="0" u="none" strike="noStrike" kern="1200" cap="none" spc="-1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</a:rPr>
              <a:t>Г.Лейбниц</a:t>
            </a:r>
            <a:endParaRPr kumimoji="0" lang="ru-RU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</a:endParaRPr>
          </a:p>
          <a:p>
            <a:pPr marL="228600" marR="0" lvl="0" indent="-228240" algn="l" defTabSz="914400" rtl="0" eaLnBrk="1" fontAlgn="auto" latinLnBrk="0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ru-RU" sz="2800" b="0" i="0" u="none" strike="noStrike" kern="1200" cap="none" spc="-1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</a:rPr>
              <a:t>Д.Буль</a:t>
            </a:r>
            <a:endParaRPr kumimoji="0" lang="ru-RU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</a:endParaRPr>
          </a:p>
          <a:p>
            <a:pPr marL="228600" marR="0" lvl="0" indent="-228240" algn="l" defTabSz="914400" rtl="0" eaLnBrk="1" fontAlgn="auto" latinLnBrk="0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ru-RU" sz="2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</a:rPr>
              <a:t>А де Морган</a:t>
            </a:r>
          </a:p>
          <a:p>
            <a:pPr marL="228600" marR="0" lvl="0" indent="-228240" algn="l" defTabSz="914400" rtl="0" eaLnBrk="1" fontAlgn="auto" latinLnBrk="0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ru-RU" sz="2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</a:rPr>
              <a:t>Н.И. Лобачевский</a:t>
            </a:r>
          </a:p>
          <a:p>
            <a:pPr marL="228600" marR="0" lvl="0" indent="-228240" algn="l" defTabSz="914400" rtl="0" eaLnBrk="1" fontAlgn="auto" latinLnBrk="0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ru-RU" sz="2800" b="0" i="0" u="none" strike="noStrike" kern="1200" cap="none" spc="-1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</a:rPr>
              <a:t>Я.Бояи</a:t>
            </a:r>
            <a:endParaRPr kumimoji="0" lang="ru-RU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</a:endParaRPr>
          </a:p>
          <a:p>
            <a:pPr marL="228600" marR="0" lvl="0" indent="-228240" algn="l" defTabSz="914400" rtl="0" eaLnBrk="1" fontAlgn="auto" latinLnBrk="0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ru-RU" sz="2800" b="0" i="0" u="none" strike="noStrike" kern="1200" cap="none" spc="-1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</a:rPr>
              <a:t>Г.Фреге</a:t>
            </a:r>
            <a:r>
              <a:rPr kumimoji="0" lang="ru-RU" sz="2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</a:rPr>
              <a:t>, </a:t>
            </a:r>
            <a:r>
              <a:rPr kumimoji="0" lang="ru-RU" sz="2800" b="0" i="0" u="none" strike="noStrike" kern="1200" cap="none" spc="-1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</a:rPr>
              <a:t>Ч.Пирс</a:t>
            </a:r>
            <a:endParaRPr kumimoji="0" lang="ru-RU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</a:endParaRPr>
          </a:p>
          <a:p>
            <a:pPr marL="228600" marR="0" lvl="0" indent="-228240" algn="l" defTabSz="914400" rtl="0" eaLnBrk="1" fontAlgn="auto" latinLnBrk="0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ru-RU" sz="2800" b="0" i="0" u="none" strike="noStrike" kern="1200" cap="none" spc="-1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</a:rPr>
              <a:t>П.С.Порецкий</a:t>
            </a:r>
            <a:endParaRPr kumimoji="0" lang="ru-RU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</a:endParaRPr>
          </a:p>
          <a:p>
            <a:pPr marL="228600" marR="0" lvl="0" indent="-228240" algn="l" defTabSz="914400" rtl="0" eaLnBrk="1" fontAlgn="auto" latinLnBrk="0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ru-RU" sz="2800" b="0" i="0" u="none" strike="noStrike" kern="1200" cap="none" spc="-1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</a:rPr>
              <a:t>Д.Гильберт</a:t>
            </a:r>
            <a:r>
              <a:rPr kumimoji="0" lang="ru-RU" sz="2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</a:rPr>
              <a:t>, </a:t>
            </a:r>
            <a:r>
              <a:rPr kumimoji="0" lang="ru-RU" sz="2800" b="0" i="0" u="none" strike="noStrike" kern="1200" cap="none" spc="-1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</a:rPr>
              <a:t>Л.Брауэр</a:t>
            </a:r>
            <a:endParaRPr kumimoji="0" lang="ru-RU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</a:endParaRPr>
          </a:p>
          <a:p>
            <a:pPr marL="228600" marR="0" lvl="0" indent="-228240" algn="l" defTabSz="914400" rtl="0" eaLnBrk="1" fontAlgn="auto" latinLnBrk="0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ru-RU" sz="2800" b="0" i="0" u="none" strike="noStrike" kern="1200" cap="none" spc="-1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</a:rPr>
              <a:t>Н.А.Васильев</a:t>
            </a:r>
            <a:r>
              <a:rPr kumimoji="0" lang="ru-RU" sz="2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</a:rPr>
              <a:t>, И.И. Жегалкин, А.Н. Колмогоров, П.С. Новиков, </a:t>
            </a:r>
            <a:r>
              <a:rPr kumimoji="0" lang="ru-RU" sz="2800" b="0" i="0" u="none" strike="noStrike" kern="1200" cap="none" spc="-1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</a:rPr>
              <a:t>А.А.Марков</a:t>
            </a:r>
            <a:r>
              <a:rPr kumimoji="0" lang="ru-RU" sz="2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</a:rPr>
              <a:t>, </a:t>
            </a:r>
            <a:r>
              <a:rPr kumimoji="0" lang="ru-RU" sz="2800" b="0" i="0" u="none" strike="noStrike" kern="1200" cap="none" spc="-1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</a:rPr>
              <a:t>А.И.Мальцев</a:t>
            </a:r>
            <a:r>
              <a:rPr kumimoji="0" lang="ru-RU" sz="2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</a:rPr>
              <a:t>, </a:t>
            </a:r>
            <a:r>
              <a:rPr kumimoji="0" lang="ru-RU" sz="2800" b="0" i="0" u="none" strike="noStrike" kern="1200" cap="none" spc="-1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</a:rPr>
              <a:t>С.А.Яновская</a:t>
            </a:r>
            <a:endParaRPr kumimoji="0" lang="ru-RU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Shape 1"/>
          <p:cNvSpPr txBox="1"/>
          <p:nvPr/>
        </p:nvSpPr>
        <p:spPr>
          <a:xfrm>
            <a:off x="277091" y="101600"/>
            <a:ext cx="11215376" cy="1570127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1" u="none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</a:rPr>
              <a:t>«Математическая логика по предмету есть логика, а по методу-математика»</a:t>
            </a:r>
          </a:p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2400" i="1" spc="-1" dirty="0">
              <a:latin typeface="Calibri Light"/>
            </a:endParaRPr>
          </a:p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1" u="none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</a:rPr>
              <a:t>                       </a:t>
            </a:r>
            <a:r>
              <a:rPr kumimoji="0" lang="ru-RU" sz="3200" b="0" i="0" u="none" strike="noStrike" kern="1200" cap="none" spc="-1" normalizeH="0" baseline="0" noProof="0" dirty="0" err="1">
                <a:ln>
                  <a:noFill/>
                </a:ln>
                <a:effectLst/>
                <a:uLnTx/>
                <a:uFillTx/>
                <a:latin typeface="Calibri Light"/>
              </a:rPr>
              <a:t>П.С.Порецкий</a:t>
            </a:r>
            <a:endParaRPr kumimoji="0" lang="ru-RU" sz="3200" b="0" i="0" u="none" strike="noStrike" kern="1200" cap="none" spc="-1" normalizeH="0" baseline="0" noProof="0" dirty="0">
              <a:ln>
                <a:noFill/>
              </a:ln>
              <a:effectLst/>
              <a:uLnTx/>
              <a:uFillTx/>
              <a:latin typeface="Calibri"/>
            </a:endParaRPr>
          </a:p>
        </p:txBody>
      </p:sp>
      <p:sp>
        <p:nvSpPr>
          <p:cNvPr id="87" name="TextShape 2"/>
          <p:cNvSpPr txBox="1"/>
          <p:nvPr/>
        </p:nvSpPr>
        <p:spPr>
          <a:xfrm>
            <a:off x="2558474" y="1450109"/>
            <a:ext cx="9494982" cy="5306291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92500" lnSpcReduction="20000"/>
          </a:bodyPr>
          <a:lstStyle/>
          <a:p>
            <a:pPr marL="228600" marR="0" lvl="0" indent="-228240" algn="l" defTabSz="914400" rtl="0" eaLnBrk="1" fontAlgn="auto" latinLnBrk="0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ru-RU" sz="20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</a:rPr>
              <a:t>В современной математике большое распространение получил </a:t>
            </a:r>
            <a:r>
              <a:rPr kumimoji="0" lang="ru-RU" sz="2000" b="0" i="1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</a:rPr>
              <a:t>аксиоматический метод</a:t>
            </a:r>
            <a:r>
              <a:rPr kumimoji="0" lang="ru-RU" sz="20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</a:rPr>
              <a:t>. Он породил не только новые методы</a:t>
            </a:r>
            <a:r>
              <a:rPr lang="ru-RU" sz="2000" spc="-1" dirty="0">
                <a:solidFill>
                  <a:srgbClr val="000000"/>
                </a:solidFill>
                <a:latin typeface="Calibri"/>
              </a:rPr>
              <a:t>,</a:t>
            </a:r>
            <a:r>
              <a:rPr kumimoji="0" lang="ru-RU" sz="20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</a:rPr>
              <a:t> но и новые </a:t>
            </a:r>
            <a:r>
              <a:rPr kumimoji="0" lang="ru-RU" sz="2000" b="0" i="1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</a:rPr>
              <a:t>принципы математического мышления.</a:t>
            </a:r>
            <a:endParaRPr kumimoji="0" lang="ru-RU" sz="20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</a:endParaRPr>
          </a:p>
          <a:p>
            <a:pPr marL="228600" marR="0" lvl="0" indent="-228240" algn="l" defTabSz="914400" rtl="0" eaLnBrk="1" fontAlgn="auto" latinLnBrk="0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ru-RU" sz="20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</a:rPr>
              <a:t>Первый этап от Лобачевского до работ Гильберта.</a:t>
            </a:r>
          </a:p>
          <a:p>
            <a:pPr marL="228600" marR="0" lvl="0" indent="-228240" algn="l" defTabSz="914400" rtl="0" eaLnBrk="1" fontAlgn="auto" latinLnBrk="0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ru-RU" sz="20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</a:rPr>
              <a:t>Второй от работ Гильберта до наших дней.</a:t>
            </a:r>
          </a:p>
          <a:p>
            <a:pPr marL="228600" marR="0" lvl="0" indent="-228240" algn="l" defTabSz="914400" rtl="0" eaLnBrk="1" fontAlgn="auto" latinLnBrk="0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ru-RU" sz="20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</a:rPr>
              <a:t>Рассмотрим 2 примера:</a:t>
            </a:r>
          </a:p>
          <a:p>
            <a:pPr marL="228600" marR="0" lvl="0" indent="-228240" algn="l" defTabSz="914400" rtl="0" eaLnBrk="1" fontAlgn="auto" latinLnBrk="0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ru-RU" sz="20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</a:rPr>
              <a:t>М – множество людей, </a:t>
            </a:r>
            <a:r>
              <a:rPr kumimoji="0" lang="en-US" sz="20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</a:rPr>
              <a:t>R </a:t>
            </a:r>
            <a:r>
              <a:rPr kumimoji="0" lang="ru-RU" sz="20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</a:rPr>
              <a:t> - действительные числа. Элементы М и </a:t>
            </a:r>
            <a:r>
              <a:rPr kumimoji="0" lang="en-US" sz="20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</a:rPr>
              <a:t>R </a:t>
            </a:r>
            <a:r>
              <a:rPr kumimoji="0" lang="ru-RU" sz="20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</a:rPr>
              <a:t>удовлетворяют следующим аксиомам:</a:t>
            </a:r>
          </a:p>
          <a:p>
            <a:pPr marL="228600" marR="0" lvl="0" indent="-228240" algn="l" defTabSz="914400" rtl="0" eaLnBrk="1" fontAlgn="auto" latinLnBrk="0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ru-RU" sz="20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</a:rPr>
              <a:t>1.Никакой объект не предшествует сам себе.</a:t>
            </a:r>
          </a:p>
          <a:p>
            <a:pPr marL="228600" marR="0" lvl="0" indent="-228240" algn="l" defTabSz="914400" rtl="0" eaLnBrk="1" fontAlgn="auto" latinLnBrk="0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ru-RU" sz="20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</a:rPr>
              <a:t>2.Если Х предшествует У, а У предшествует Z, то Х предшествует Z.</a:t>
            </a:r>
          </a:p>
          <a:p>
            <a:pPr marL="228600" marR="0" lvl="0" indent="-228240" algn="l" defTabSz="914400" rtl="0" eaLnBrk="1" fontAlgn="auto" latinLnBrk="0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ru-RU" sz="20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</a:rPr>
              <a:t>М</a:t>
            </a:r>
            <a:r>
              <a:rPr kumimoji="0" lang="en-US" sz="20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</a:rPr>
              <a:t> </a:t>
            </a:r>
            <a:r>
              <a:rPr kumimoji="0" lang="ru-RU" sz="20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</a:rPr>
              <a:t>- люди. Х старше У. R – числа Х меньше У.  </a:t>
            </a:r>
          </a:p>
          <a:p>
            <a:pPr marL="360" marR="0" lvl="0" algn="l" defTabSz="914400" rtl="0" eaLnBrk="1" fontAlgn="auto" latinLnBrk="0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kumimoji="0" lang="ru-RU" sz="20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</a:rPr>
              <a:t>Системы объектов в этих двух примерах : М и</a:t>
            </a:r>
            <a:r>
              <a:rPr kumimoji="0" lang="en-US" sz="20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</a:rPr>
              <a:t> </a:t>
            </a:r>
            <a:r>
              <a:rPr kumimoji="0" lang="ru-RU" sz="20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</a:rPr>
              <a:t>R </a:t>
            </a:r>
            <a:r>
              <a:rPr kumimoji="0" lang="ru-RU" sz="2000" b="0" i="0" u="none" strike="noStrike" kern="1200" cap="none" spc="-1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</a:rPr>
              <a:t>Система, состоящая из этих 2х аксиом</a:t>
            </a:r>
          </a:p>
          <a:p>
            <a:pPr marL="360" marR="0" lvl="0" algn="l" defTabSz="914400" rtl="0" eaLnBrk="1" fontAlgn="auto" latinLnBrk="0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lang="ru-RU" sz="2000" spc="-1" dirty="0">
                <a:solidFill>
                  <a:srgbClr val="FF0000"/>
                </a:solidFill>
                <a:latin typeface="Calibri"/>
              </a:rPr>
              <a:t>У</a:t>
            </a:r>
            <a:r>
              <a:rPr kumimoji="0" lang="ru-RU" sz="2000" b="0" i="0" u="none" strike="noStrike" kern="1200" cap="none" spc="-1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</a:rPr>
              <a:t>тверждения</a:t>
            </a:r>
            <a:r>
              <a:rPr kumimoji="0" lang="ru-RU" sz="2000" b="0" i="0" u="none" strike="noStrike" kern="1200" cap="none" spc="-1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</a:rPr>
              <a:t> 1 и</a:t>
            </a:r>
            <a:r>
              <a:rPr kumimoji="0" lang="en-US" sz="2000" b="0" i="0" u="none" strike="noStrike" kern="1200" cap="none" spc="-1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</a:rPr>
              <a:t> </a:t>
            </a:r>
            <a:r>
              <a:rPr kumimoji="0" lang="ru-RU" sz="2000" b="0" i="0" u="none" strike="noStrike" kern="1200" cap="none" spc="-1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</a:rPr>
              <a:t>2 называются аксиомами- </a:t>
            </a:r>
            <a:r>
              <a:rPr kumimoji="0" lang="ru-RU" sz="20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</a:rPr>
              <a:t>они определили эту систему, а совокупность объектов  называется интерпретацией данной системы аксиом. </a:t>
            </a:r>
          </a:p>
          <a:p>
            <a:pPr marL="360" marR="0" lvl="0" algn="l" defTabSz="914400" rtl="0" eaLnBrk="1" fontAlgn="auto" latinLnBrk="0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kumimoji="0" lang="ru-RU" sz="20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</a:rPr>
              <a:t>М  и R – интерпретации. Делая логические выводы, мы будем получать утверждения истинные  для любой системы объектов, удовлетворяющей данным аксиомам. Более значительным примером построения  аксиоматической системы  есть система аксиом геометрии.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Shape 1"/>
          <p:cNvSpPr txBox="1"/>
          <p:nvPr/>
        </p:nvSpPr>
        <p:spPr>
          <a:xfrm>
            <a:off x="1177236" y="200899"/>
            <a:ext cx="10515240" cy="119340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 fontScale="62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800" b="0" i="1" u="none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</a:rPr>
              <a:t>«В центре всякой трудности лежит возможность»</a:t>
            </a: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0" i="0" u="none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</a:rPr>
              <a:t>                                                                    </a:t>
            </a:r>
            <a:r>
              <a:rPr kumimoji="0" lang="ru-RU" sz="4400" b="0" i="0" u="none" strike="noStrike" kern="1200" cap="none" spc="-1" normalizeH="0" baseline="0" noProof="0" dirty="0" err="1">
                <a:ln>
                  <a:noFill/>
                </a:ln>
                <a:effectLst/>
                <a:uLnTx/>
                <a:uFillTx/>
                <a:latin typeface="Calibri Light"/>
              </a:rPr>
              <a:t>А.Энштейн</a:t>
            </a:r>
            <a:br>
              <a:rPr kumimoji="0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</a:br>
            <a:b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rPr>
            </a:br>
            <a:endParaRPr kumimoji="0" lang="ru-RU" sz="44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95" name="TextShape 2"/>
          <p:cNvSpPr txBox="1"/>
          <p:nvPr/>
        </p:nvSpPr>
        <p:spPr>
          <a:xfrm>
            <a:off x="2993342" y="1103746"/>
            <a:ext cx="9078586" cy="5754254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marL="228600" marR="0" lvl="0" indent="-228240" algn="l" defTabSz="914400" rtl="0" eaLnBrk="1" fontAlgn="auto" latinLnBrk="0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ru-RU" sz="2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</a:rPr>
              <a:t>Алгебра высказываний наиболее простая  часть математической логики.</a:t>
            </a:r>
          </a:p>
          <a:p>
            <a:pPr marL="3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defRPr/>
            </a:pPr>
            <a:r>
              <a:rPr lang="ru-RU" sz="2800" spc="-1" dirty="0">
                <a:solidFill>
                  <a:srgbClr val="000000"/>
                </a:solidFill>
                <a:latin typeface="Calibri"/>
              </a:rPr>
              <a:t>План изучения раздела:</a:t>
            </a:r>
            <a:endParaRPr kumimoji="0" lang="ru-RU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</a:endParaRPr>
          </a:p>
          <a:p>
            <a:pPr marL="228600" marR="0" lvl="0" indent="-228240" algn="l" defTabSz="914400" rtl="0" eaLnBrk="1" fontAlgn="auto" latinLnBrk="0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ru-RU" sz="2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</a:rPr>
              <a:t>Объект изучения: Высказывания, логические связки.</a:t>
            </a:r>
          </a:p>
          <a:p>
            <a:pPr marL="228600" lvl="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kumimoji="0" lang="ru-RU" sz="2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</a:rPr>
              <a:t>Законы 1-23</a:t>
            </a:r>
            <a:r>
              <a:rPr lang="ru-RU" sz="2800" spc="-1" dirty="0">
                <a:solidFill>
                  <a:srgbClr val="000000"/>
                </a:solidFill>
                <a:latin typeface="Calibri"/>
              </a:rPr>
              <a:t>, ФЛВ</a:t>
            </a:r>
            <a:endParaRPr kumimoji="0" lang="ru-RU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</a:endParaRPr>
          </a:p>
          <a:p>
            <a:pPr marL="228600" marR="0" lvl="0" indent="-228240" algn="l" defTabSz="914400" rtl="0" eaLnBrk="1" fontAlgn="auto" latinLnBrk="0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ru-RU" sz="2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</a:rPr>
              <a:t>Дизъюнктивная нормальная форма (ДНФ).</a:t>
            </a:r>
          </a:p>
          <a:p>
            <a:pPr marL="360" marR="0" lvl="0" algn="l" defTabSz="914400" rtl="0" eaLnBrk="1" fontAlgn="auto" latinLnBrk="0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kumimoji="0" lang="ru-RU" sz="2800" b="0" i="1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</a:rPr>
              <a:t>Основное положение</a:t>
            </a:r>
            <a:r>
              <a:rPr kumimoji="0" lang="ru-RU" sz="2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</a:rPr>
              <a:t>: Любое высказывание можно задать формулой логики высказываний, а именно некоторой ДНФ. </a:t>
            </a:r>
          </a:p>
          <a:p>
            <a:pPr marL="228600" marR="0" lvl="0" indent="-228240" algn="l" defTabSz="914400" rtl="0" eaLnBrk="1" fontAlgn="auto" latinLnBrk="0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ru-RU" sz="2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</a:rPr>
              <a:t>Конъюнктивная нормальная форма(КНФ).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2F76A-DC0F-66D8-2341-49602A460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6868" y="156896"/>
            <a:ext cx="10224077" cy="1376218"/>
          </a:xfrm>
        </p:spPr>
        <p:txBody>
          <a:bodyPr>
            <a:noAutofit/>
          </a:bodyPr>
          <a:lstStyle/>
          <a:p>
            <a:r>
              <a:rPr lang="ru-RU" sz="4400" dirty="0"/>
              <a:t>Основные понятия алгебры высказываний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92CDE22-0ACB-AFD8-8867-10B4023D1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36140" y="1685605"/>
            <a:ext cx="9051059" cy="4650539"/>
          </a:xfrm>
        </p:spPr>
        <p:txBody>
          <a:bodyPr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D34817"/>
              </a:buClr>
              <a:buSzPct val="85000"/>
              <a:buFont typeface="Wingdings 2"/>
              <a:buNone/>
              <a:tabLst/>
              <a:defRPr/>
            </a:pPr>
            <a:r>
              <a:rPr kumimoji="0" lang="ru-RU" sz="26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rPr>
              <a:t>Какие из предложений являются высказываниями?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D34817"/>
              </a:buClr>
              <a:buSzPct val="85000"/>
              <a:buFont typeface="+mj-lt"/>
              <a:buAutoNum type="arabicPeriod"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rPr>
              <a:t>Москва-столица России;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D34817"/>
              </a:buClr>
              <a:buSzPct val="85000"/>
              <a:buFont typeface="+mj-lt"/>
              <a:buAutoNum type="arabicPeriod"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rPr>
              <a:t>Студент медицинского </a:t>
            </a:r>
            <a:r>
              <a:rPr kumimoji="0" lang="ru-RU" sz="2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rPr>
              <a:t>универститета</a:t>
            </a: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rPr>
              <a:t>;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D34817"/>
              </a:buClr>
              <a:buSzPct val="85000"/>
              <a:buFont typeface="+mj-lt"/>
              <a:buAutoNum type="arabicPeriod"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rPr>
              <a:t>Треугольник АВС  подобен треугольнику ВТК;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D34817"/>
              </a:buClr>
              <a:buSzPct val="85000"/>
              <a:buFont typeface="+mj-lt"/>
              <a:buAutoNum type="arabicPeriod"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rPr>
              <a:t>В Екатеринбурге 23 марта 2015 года в 15:00 на перекрёстке улиц Большакова и Малышева светило солнце;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D34817"/>
              </a:buClr>
              <a:buSzPct val="85000"/>
              <a:buFont typeface="+mj-lt"/>
              <a:buAutoNum type="arabicPeriod"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rPr>
              <a:t>Луна есть спутник  Земли;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D34817"/>
              </a:buClr>
              <a:buSzPct val="85000"/>
              <a:buFont typeface="+mj-lt"/>
              <a:buAutoNum type="arabicPeriod"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rPr>
              <a:t>Треугольник называется равносторонним, если все его стороны равны;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D34817"/>
              </a:buClr>
              <a:buSzPct val="85000"/>
              <a:buFont typeface="+mj-lt"/>
              <a:buAutoNum type="arabicPeriod"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rPr>
              <a:t>Кислород-газ.</a:t>
            </a:r>
          </a:p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1814C4-2F68-A437-F32C-63D5F5CF8AC2}"/>
              </a:ext>
            </a:extLst>
          </p:cNvPr>
          <p:cNvSpPr txBox="1"/>
          <p:nvPr/>
        </p:nvSpPr>
        <p:spPr>
          <a:xfrm>
            <a:off x="2836141" y="6419334"/>
            <a:ext cx="2327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hlinkClick r:id="rId2" action="ppaction://hlinksldjump"/>
              </a:rPr>
              <a:t>Ответы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93514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DCB07A-4F18-AE56-33F1-896294B04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849"/>
            <a:ext cx="10515600" cy="1236662"/>
          </a:xfrm>
        </p:spPr>
        <p:txBody>
          <a:bodyPr/>
          <a:lstStyle/>
          <a:p>
            <a:r>
              <a:rPr lang="ru-RU" dirty="0"/>
              <a:t>Ответы: 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3924CB0-53AD-9EDF-CFC9-0216E673BB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50470"/>
            <a:ext cx="1486477" cy="396803"/>
          </a:xfrm>
        </p:spPr>
        <p:txBody>
          <a:bodyPr>
            <a:normAutofit fontScale="25000" lnSpcReduction="20000"/>
          </a:bodyPr>
          <a:lstStyle/>
          <a:p>
            <a:r>
              <a:rPr lang="ru-RU" sz="8000" dirty="0"/>
              <a:t>1,4,</a:t>
            </a:r>
            <a:r>
              <a:rPr lang="en-US" sz="8000" dirty="0"/>
              <a:t> 5, 6, 7</a:t>
            </a:r>
          </a:p>
          <a:p>
            <a:r>
              <a:rPr lang="en-US" dirty="0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426325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Логические операции.</a:t>
            </a:r>
            <a:br>
              <a:rPr lang="ru-RU" dirty="0"/>
            </a:b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2589212" y="1514763"/>
                <a:ext cx="8915400" cy="5163127"/>
              </a:xfrm>
            </p:spPr>
            <p:txBody>
              <a:bodyPr>
                <a:normAutofit/>
              </a:bodyPr>
              <a:lstStyle/>
              <a:p>
                <a:r>
                  <a:rPr lang="ru-RU" sz="2400" i="1" dirty="0"/>
                  <a:t>Конъюнкцией</a:t>
                </a:r>
                <a:r>
                  <a:rPr lang="ru-RU" sz="2400" dirty="0"/>
                  <a:t> высказываний А и В называется высказывание А</a:t>
                </a:r>
                <a:r>
                  <a:rPr lang="ru-RU" sz="2400" dirty="0">
                    <a:latin typeface="Times New Roman"/>
                    <a:cs typeface="Times New Roman"/>
                  </a:rPr>
                  <a:t>&amp;</a:t>
                </a:r>
                <a:r>
                  <a:rPr lang="ru-RU" sz="2400" dirty="0">
                    <a:latin typeface="Cambria Math"/>
                    <a:ea typeface="Cambria Math"/>
                  </a:rPr>
                  <a:t>В (читается «А и В»), которое истинно тогда и только тогда, когда оба высказывание А и В истинны.</a:t>
                </a:r>
              </a:p>
              <a:p>
                <a:r>
                  <a:rPr lang="ru-RU" sz="2400" i="1" dirty="0">
                    <a:latin typeface="Cambria Math"/>
                    <a:ea typeface="Cambria Math"/>
                  </a:rPr>
                  <a:t>Дизъюнкцией</a:t>
                </a:r>
                <a:r>
                  <a:rPr lang="ru-RU" sz="2400" dirty="0">
                    <a:latin typeface="Cambria Math"/>
                    <a:ea typeface="Cambria Math"/>
                  </a:rPr>
                  <a:t> </a:t>
                </a:r>
                <a:r>
                  <a:rPr lang="ru-RU" sz="2400" dirty="0">
                    <a:ea typeface="Cambria Math"/>
                  </a:rPr>
                  <a:t>высказываний А и В называется высказывание А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1" smtClean="0">
                        <a:latin typeface="Cambria Math"/>
                        <a:ea typeface="Cambria Math"/>
                      </a:rPr>
                      <m:t>V</m:t>
                    </m:r>
                    <m:r>
                      <a:rPr lang="ru-RU" sz="2400" b="0" i="1" smtClean="0">
                        <a:latin typeface="Cambria Math"/>
                        <a:ea typeface="Cambria Math"/>
                      </a:rPr>
                      <m:t>В</m:t>
                    </m:r>
                  </m:oMath>
                </a14:m>
                <a:r>
                  <a:rPr lang="ru-RU" sz="2400" dirty="0"/>
                  <a:t> (читается «А или В» ), которое ложно тогда и только тогда, когда </a:t>
                </a:r>
                <a:r>
                  <a:rPr lang="ru-RU" sz="2400" dirty="0">
                    <a:latin typeface="Cambria Math"/>
                    <a:ea typeface="Cambria Math"/>
                  </a:rPr>
                  <a:t>оба высказывание А и В </a:t>
                </a:r>
                <a:r>
                  <a:rPr lang="ru-RU" sz="2400" dirty="0"/>
                  <a:t>ложны.</a:t>
                </a:r>
              </a:p>
              <a:p>
                <a:r>
                  <a:rPr lang="ru-RU" sz="2400" i="1" dirty="0"/>
                  <a:t>Импликацией</a:t>
                </a:r>
                <a:r>
                  <a:rPr lang="ru-RU" sz="2400" dirty="0"/>
                  <a:t> высказываний</a:t>
                </a:r>
                <a:r>
                  <a:rPr lang="ru-RU" sz="2400" dirty="0">
                    <a:ea typeface="Cambria Math"/>
                  </a:rPr>
                  <a:t> А и В называется высказывание А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  <a:ea typeface="Cambria Math"/>
                      </a:rPr>
                      <m:t>→</m:t>
                    </m:r>
                    <m:r>
                      <a:rPr lang="ru-RU" sz="2400" i="1">
                        <a:latin typeface="Cambria Math"/>
                        <a:ea typeface="Cambria Math"/>
                      </a:rPr>
                      <m:t>В</m:t>
                    </m:r>
                  </m:oMath>
                </a14:m>
                <a:r>
                  <a:rPr lang="ru-RU" sz="2400" dirty="0"/>
                  <a:t> (читается « если А то В» ), которое ложно тогда и только тогда, когда </a:t>
                </a:r>
                <a:r>
                  <a:rPr lang="ru-RU" sz="2400" dirty="0">
                    <a:latin typeface="Cambria Math"/>
                    <a:ea typeface="Cambria Math"/>
                  </a:rPr>
                  <a:t>высказывание А истинно, а В </a:t>
                </a:r>
                <a:r>
                  <a:rPr lang="ru-RU" sz="2400" dirty="0"/>
                  <a:t>ложно.</a:t>
                </a:r>
              </a:p>
              <a:p>
                <a:endParaRPr lang="ru-RU" dirty="0"/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2589212" y="1514763"/>
                <a:ext cx="8915400" cy="5163127"/>
              </a:xfrm>
              <a:blipFill>
                <a:blip r:embed="rId2"/>
                <a:stretch>
                  <a:fillRect l="-958" t="-945" r="-82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15545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70362" y="161636"/>
            <a:ext cx="9624474" cy="1280890"/>
          </a:xfrm>
        </p:spPr>
        <p:txBody>
          <a:bodyPr>
            <a:normAutofit/>
          </a:bodyPr>
          <a:lstStyle/>
          <a:p>
            <a:r>
              <a:rPr lang="ru-RU" dirty="0"/>
              <a:t>А- посылка или условие, а В следствие или заключение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2589212" y="1442526"/>
                <a:ext cx="9279516" cy="5253838"/>
              </a:xfrm>
            </p:spPr>
            <p:txBody>
              <a:bodyPr>
                <a:normAutofit/>
              </a:bodyPr>
              <a:lstStyle/>
              <a:p>
                <a:r>
                  <a:rPr lang="ru-RU" sz="2400" i="1" dirty="0" err="1">
                    <a:ea typeface="Cambria Math"/>
                  </a:rPr>
                  <a:t>Эквиваленцией</a:t>
                </a:r>
                <a:r>
                  <a:rPr lang="ru-RU" sz="2400" dirty="0">
                    <a:ea typeface="Cambria Math"/>
                  </a:rPr>
                  <a:t> высказываний А и В называется высказывание А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  <a:ea typeface="Cambria Math"/>
                        <a:cs typeface="Times New Roman"/>
                      </a:rPr>
                      <m:t>↔</m:t>
                    </m:r>
                    <m:r>
                      <a:rPr lang="ru-RU" sz="2400" i="1">
                        <a:latin typeface="Cambria Math"/>
                        <a:ea typeface="Cambria Math"/>
                      </a:rPr>
                      <m:t>В</m:t>
                    </m:r>
                  </m:oMath>
                </a14:m>
                <a:r>
                  <a:rPr lang="ru-RU" sz="2400" dirty="0"/>
                  <a:t> (читается «А тогда и только тогда , когда В» ), которое истинно тогда и только тогда, когда </a:t>
                </a:r>
                <a:r>
                  <a:rPr lang="ru-RU" sz="2400" dirty="0">
                    <a:latin typeface="Cambria Math"/>
                    <a:ea typeface="Cambria Math"/>
                  </a:rPr>
                  <a:t>оба высказывание А и В одновременно истинны или </a:t>
                </a:r>
                <a:r>
                  <a:rPr lang="ru-RU" sz="2400" dirty="0"/>
                  <a:t>ложны. </a:t>
                </a:r>
              </a:p>
              <a:p>
                <a:r>
                  <a:rPr lang="ru-RU" sz="2400" dirty="0"/>
                  <a:t>ПРИМЕРЫ:</a:t>
                </a:r>
              </a:p>
              <a:p>
                <a:r>
                  <a:rPr lang="ru-RU" sz="2400" dirty="0"/>
                  <a:t>1)Если 2 нечетное число то  5-простое число.</a:t>
                </a:r>
              </a:p>
              <a:p>
                <a:r>
                  <a:rPr lang="ru-RU" sz="2400" dirty="0"/>
                  <a:t>А- 2 нечетное число ; В- 5-простое число.</a:t>
                </a:r>
              </a:p>
              <a:p>
                <a:r>
                  <a:rPr lang="ru-RU" sz="2400" dirty="0"/>
                  <a:t>А→В</a:t>
                </a:r>
              </a:p>
              <a:p>
                <a:r>
                  <a:rPr lang="ru-RU" sz="2400" dirty="0"/>
                  <a:t>2) Москва –столица России и Лондон-главный город в Англии.</a:t>
                </a:r>
              </a:p>
              <a:p>
                <a:r>
                  <a:rPr lang="ru-RU" sz="2400" dirty="0"/>
                  <a:t>А</a:t>
                </a:r>
                <a:r>
                  <a:rPr lang="ru-RU" sz="2400" dirty="0">
                    <a:latin typeface="Times New Roman"/>
                    <a:cs typeface="Times New Roman"/>
                  </a:rPr>
                  <a:t>&amp;В или А˄В</a:t>
                </a:r>
                <a:endParaRPr lang="ru-RU" sz="2400" dirty="0"/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2589212" y="1442526"/>
                <a:ext cx="9279516" cy="5253838"/>
              </a:xfrm>
              <a:blipFill>
                <a:blip r:embed="rId2"/>
                <a:stretch>
                  <a:fillRect l="-920" t="-92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36270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06816B-222E-1659-B454-16BEDD3B8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10837"/>
            <a:ext cx="10515600" cy="849746"/>
          </a:xfrm>
        </p:spPr>
        <p:txBody>
          <a:bodyPr>
            <a:normAutofit/>
          </a:bodyPr>
          <a:lstStyle/>
          <a:p>
            <a:r>
              <a:rPr lang="ru-RU" dirty="0"/>
              <a:t>Операции над высказываниями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92D93F9-7407-8D04-4AB1-AE35D16315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09454" y="1143837"/>
            <a:ext cx="9282546" cy="4611891"/>
          </a:xfrm>
        </p:spPr>
        <p:txBody>
          <a:bodyPr/>
          <a:lstStyle/>
          <a:p>
            <a:pPr marL="274320" indent="-274320" defTabSz="914400">
              <a:spcBef>
                <a:spcPts val="580"/>
              </a:spcBef>
              <a:buClr>
                <a:srgbClr val="D34817"/>
              </a:buClr>
              <a:buSzPct val="85000"/>
              <a:buFont typeface="Wingdings 2"/>
              <a:buChar char=""/>
              <a:defRPr/>
            </a:pPr>
            <a:r>
              <a:rPr lang="ru-RU" sz="2600" i="1" dirty="0">
                <a:solidFill>
                  <a:prstClr val="black"/>
                </a:solidFill>
                <a:latin typeface="Cambria" panose="02040503050406030204" pitchFamily="18" charset="0"/>
              </a:rPr>
              <a:t>Задание: Указать значение истинности  высказываний</a:t>
            </a:r>
            <a:endParaRPr kumimoji="0" lang="ru-RU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+mn-ea"/>
              <a:cs typeface="+mn-cs"/>
            </a:endParaRP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D34817"/>
              </a:buClr>
              <a:buSzPct val="85000"/>
              <a:buFont typeface="+mj-lt"/>
              <a:buAutoNum type="arabicPeriod"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rPr>
              <a:t>Санкт-Петербург расположен на Неве и 2+3=5;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D34817"/>
              </a:buClr>
              <a:buSzPct val="85000"/>
              <a:buFont typeface="+mj-lt"/>
              <a:buAutoNum type="arabicPeriod"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rPr>
              <a:t>7-простое число и 9-простое число;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D34817"/>
              </a:buClr>
              <a:buSzPct val="85000"/>
              <a:buFont typeface="+mj-lt"/>
              <a:buAutoNum type="arabicPeriod"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rPr>
              <a:t>7-простое число или 9-простое число;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D34817"/>
              </a:buClr>
              <a:buSzPct val="85000"/>
              <a:buFont typeface="+mj-lt"/>
              <a:buAutoNum type="arabicPeriod"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rPr>
              <a:t>Число 2 четное или это число простое;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D34817"/>
              </a:buClr>
              <a:buSzPct val="85000"/>
              <a:buFont typeface="+mj-lt"/>
              <a:buAutoNum type="arabicPeriod"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rPr>
              <a:t>3+4=7 и 4*3=12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D34817"/>
              </a:buClr>
              <a:buSzPct val="85000"/>
              <a:buFont typeface="+mj-lt"/>
              <a:buAutoNum type="arabicPeriod"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rPr>
              <a:t>Фобос и Луна –спутники Марса;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D34817"/>
              </a:buClr>
              <a:buSzPct val="85000"/>
              <a:buFont typeface="+mj-lt"/>
              <a:buAutoNum type="arabicPeriod"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rPr>
              <a:t>2-рациональное число или -5-иррациональное число;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D34817"/>
              </a:buClr>
              <a:buSzPct val="85000"/>
              <a:buFont typeface="+mj-lt"/>
              <a:buAutoNum type="arabicPeriod"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rPr>
              <a:t>Если 2 нечетное число то  5-простое число;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Perpetua"/>
              <a:ea typeface="+mn-ea"/>
              <a:cs typeface="+mn-cs"/>
            </a:endParaRPr>
          </a:p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329F7A-5DE6-EE97-B2BB-B2546B71A2C1}"/>
              </a:ext>
            </a:extLst>
          </p:cNvPr>
          <p:cNvSpPr txBox="1"/>
          <p:nvPr/>
        </p:nvSpPr>
        <p:spPr>
          <a:xfrm>
            <a:off x="2909454" y="5938982"/>
            <a:ext cx="1145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hlinkClick r:id="rId2" action="ppaction://hlinksldjump"/>
              </a:rPr>
              <a:t>Ответы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002598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0AE150-CAB0-2718-1D48-618055002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6254" y="180615"/>
            <a:ext cx="2235201" cy="1088880"/>
          </a:xfrm>
        </p:spPr>
        <p:txBody>
          <a:bodyPr/>
          <a:lstStyle/>
          <a:p>
            <a:r>
              <a:rPr lang="ru-RU" dirty="0"/>
              <a:t>Ответы: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BAAF872-A1B3-D00E-047A-1A74488DB6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06254" y="1855500"/>
            <a:ext cx="1136073" cy="4277445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ru-RU" dirty="0"/>
              <a:t>И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Л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И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И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И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Л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И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И</a:t>
            </a:r>
          </a:p>
          <a:p>
            <a:endParaRPr lang="ru-RU" dirty="0"/>
          </a:p>
          <a:p>
            <a:pPr marL="457200" indent="-457200">
              <a:buFont typeface="+mj-lt"/>
              <a:buAutoNum type="arabicPeriod"/>
            </a:pPr>
            <a:endParaRPr lang="ru-RU" dirty="0"/>
          </a:p>
          <a:p>
            <a:pPr marL="457200" indent="-457200">
              <a:buFont typeface="+mj-lt"/>
              <a:buAutoNum type="arabicPeriod"/>
            </a:pPr>
            <a:endParaRPr lang="ru-RU" dirty="0"/>
          </a:p>
          <a:p>
            <a:pPr marL="457200" indent="-457200">
              <a:buFont typeface="+mj-lt"/>
              <a:buAutoNum type="arabicPeriod"/>
            </a:pPr>
            <a:endParaRPr lang="ru-RU" dirty="0"/>
          </a:p>
          <a:p>
            <a:pPr marL="457200" indent="-457200">
              <a:buFont typeface="+mj-lt"/>
              <a:buAutoNum type="arabicPeriod"/>
            </a:pPr>
            <a:endParaRPr lang="ru-RU" dirty="0"/>
          </a:p>
          <a:p>
            <a:pPr marL="457200" indent="-457200">
              <a:buFont typeface="+mj-lt"/>
              <a:buAutoNum type="arabicPeriod"/>
            </a:pPr>
            <a:endParaRPr lang="ru-RU" dirty="0"/>
          </a:p>
          <a:p>
            <a:pPr marL="457200" indent="-457200">
              <a:buFont typeface="+mj-lt"/>
              <a:buAutoNum type="arabicPeriod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97862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2AC4AF-D90F-C6C8-09D8-2D5D0CFAF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77092"/>
            <a:ext cx="10515600" cy="831272"/>
          </a:xfrm>
        </p:spPr>
        <p:txBody>
          <a:bodyPr>
            <a:normAutofit/>
          </a:bodyPr>
          <a:lstStyle/>
          <a:p>
            <a:r>
              <a:rPr lang="ru-RU" dirty="0"/>
              <a:t>Формулы высказываний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60CBEEE7-9D53-4546-EC69-120FAE27359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2650837" y="1422401"/>
                <a:ext cx="8890577" cy="4981286"/>
              </a:xfrm>
            </p:spPr>
            <p:txBody>
              <a:bodyPr>
                <a:normAutofit/>
              </a:bodyPr>
              <a:lstStyle/>
              <a:p>
                <a:pPr marL="274320" marR="0" lvl="0" indent="-274320" algn="l" defTabSz="914400" rtl="0" eaLnBrk="1" fontAlgn="auto" latinLnBrk="0" hangingPunct="1">
                  <a:lnSpc>
                    <a:spcPct val="100000"/>
                  </a:lnSpc>
                  <a:spcBef>
                    <a:spcPts val="580"/>
                  </a:spcBef>
                  <a:spcAft>
                    <a:spcPts val="0"/>
                  </a:spcAft>
                  <a:buClr>
                    <a:srgbClr val="D34817"/>
                  </a:buClr>
                  <a:buSzPct val="85000"/>
                  <a:buFont typeface="Wingdings 2"/>
                  <a:buChar char=""/>
                  <a:tabLst/>
                  <a:defRPr/>
                </a:pPr>
                <a:r>
                  <a:rPr kumimoji="0" lang="ru-RU" sz="26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+mn-ea"/>
                    <a:cs typeface="+mn-cs"/>
                  </a:rPr>
                  <a:t>Пропозициональными переменными  </a:t>
                </a:r>
                <a:r>
                  <a:rPr kumimoji="0" lang="ru-RU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+mn-ea"/>
                    <a:cs typeface="+mn-cs"/>
                  </a:rPr>
                  <a:t>называются такие переменные, вместо которых можно подставлять конкретные высказывания.</a:t>
                </a:r>
              </a:p>
              <a:p>
                <a:pPr marL="274320" marR="0" lvl="0" indent="-274320" algn="l" defTabSz="914400" rtl="0" eaLnBrk="1" fontAlgn="auto" latinLnBrk="0" hangingPunct="1">
                  <a:lnSpc>
                    <a:spcPct val="100000"/>
                  </a:lnSpc>
                  <a:spcBef>
                    <a:spcPts val="580"/>
                  </a:spcBef>
                  <a:spcAft>
                    <a:spcPts val="0"/>
                  </a:spcAft>
                  <a:buClr>
                    <a:srgbClr val="D34817"/>
                  </a:buClr>
                  <a:buSzPct val="85000"/>
                  <a:buFont typeface="Wingdings 2"/>
                  <a:buChar char=""/>
                  <a:tabLst/>
                  <a:defRPr/>
                </a:pPr>
                <a:r>
                  <a:rPr kumimoji="0" lang="ru-RU" sz="26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+mn-ea"/>
                    <a:cs typeface="+mn-cs"/>
                  </a:rPr>
                  <a:t>Определение понятия формулы алгебры высказываний даётся индуктивным образом: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580"/>
                  </a:spcBef>
                  <a:spcAft>
                    <a:spcPts val="0"/>
                  </a:spcAft>
                  <a:buClr>
                    <a:srgbClr val="D34817"/>
                  </a:buClr>
                  <a:buSzPct val="85000"/>
                  <a:buFont typeface="Wingdings 2"/>
                  <a:buNone/>
                  <a:tabLst/>
                  <a:defRPr/>
                </a:pPr>
                <a:r>
                  <a:rPr kumimoji="0" lang="ru-RU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+mn-ea"/>
                    <a:cs typeface="+mn-cs"/>
                  </a:rPr>
                  <a:t>а) всякая пропозициональная переменная есть формула (также И </a:t>
                </a:r>
                <a:r>
                  <a:rPr kumimoji="0" lang="ru-RU" sz="2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+mn-ea"/>
                    <a:cs typeface="+mn-cs"/>
                  </a:rPr>
                  <a:t>и</a:t>
                </a:r>
                <a:r>
                  <a:rPr kumimoji="0" lang="ru-RU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+mn-ea"/>
                    <a:cs typeface="+mn-cs"/>
                  </a:rPr>
                  <a:t> Л);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580"/>
                  </a:spcBef>
                  <a:spcAft>
                    <a:spcPts val="0"/>
                  </a:spcAft>
                  <a:buClr>
                    <a:srgbClr val="D34817"/>
                  </a:buClr>
                  <a:buSzPct val="85000"/>
                  <a:buFont typeface="Wingdings 2"/>
                  <a:buNone/>
                  <a:tabLst/>
                  <a:defRPr/>
                </a:pPr>
                <a:r>
                  <a:rPr kumimoji="0" lang="ru-RU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+mn-ea"/>
                    <a:cs typeface="+mn-cs"/>
                  </a:rPr>
                  <a:t>б) если </a:t>
                </a:r>
                <a:r>
                  <a:rPr kumimoji="0" lang="en-US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Perpetua"/>
                    <a:ea typeface="+mn-ea"/>
                    <a:cs typeface="+mn-cs"/>
                  </a:rPr>
                  <a:t>F </a:t>
                </a:r>
                <a:r>
                  <a:rPr kumimoji="0" lang="ru-RU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+mn-ea"/>
                    <a:cs typeface="+mn-cs"/>
                  </a:rPr>
                  <a:t> и </a:t>
                </a:r>
                <a:r>
                  <a:rPr kumimoji="0" lang="en-US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Perpetua"/>
                    <a:ea typeface="+mn-ea"/>
                    <a:cs typeface="+mn-cs"/>
                  </a:rPr>
                  <a:t>G</a:t>
                </a:r>
                <a:r>
                  <a:rPr kumimoji="0" lang="ru-RU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+mn-ea"/>
                    <a:cs typeface="+mn-cs"/>
                  </a:rPr>
                  <a:t>-формулы, то   </a:t>
                </a:r>
                <a14:m>
                  <m:oMath xmlns:m="http://schemas.openxmlformats.org/officeDocument/2006/math">
                    <m:r>
                      <a:rPr kumimoji="0" lang="ru-RU" sz="2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(</m:t>
                    </m:r>
                    <m:r>
                      <a:rPr kumimoji="0" lang="ru-RU" sz="2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¬</m:t>
                    </m:r>
                  </m:oMath>
                </a14:m>
                <a:r>
                  <a:rPr kumimoji="0" lang="ru-RU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+mn-ea"/>
                    <a:cs typeface="+mn-cs"/>
                  </a:rPr>
                  <a:t>  </a:t>
                </a:r>
                <a:r>
                  <a:rPr kumimoji="0" lang="en-US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Perpetua"/>
                    <a:ea typeface="+mn-ea"/>
                    <a:cs typeface="+mn-cs"/>
                  </a:rPr>
                  <a:t>F</a:t>
                </a:r>
                <a:r>
                  <a:rPr kumimoji="0" lang="ru-RU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+mn-ea"/>
                    <a:cs typeface="+mn-cs"/>
                  </a:rPr>
                  <a:t>),  (</a:t>
                </a:r>
                <a:r>
                  <a:rPr kumimoji="0" lang="en-US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Perpetua"/>
                    <a:ea typeface="+mn-ea"/>
                    <a:cs typeface="+mn-cs"/>
                  </a:rPr>
                  <a:t>F</a:t>
                </a:r>
                <a:r>
                  <a:rPr kumimoji="0" lang="ru-RU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ru-RU" sz="2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∧</m:t>
                    </m:r>
                  </m:oMath>
                </a14:m>
                <a:r>
                  <a:rPr kumimoji="0" lang="en-US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Perpetua"/>
                    <a:ea typeface="+mn-ea"/>
                    <a:cs typeface="+mn-cs"/>
                  </a:rPr>
                  <a:t> G</a:t>
                </a:r>
                <a:r>
                  <a:rPr kumimoji="0" lang="ru-RU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+mn-ea"/>
                    <a:cs typeface="+mn-cs"/>
                  </a:rPr>
                  <a:t> ), (</a:t>
                </a:r>
                <a:r>
                  <a:rPr kumimoji="0" lang="en-US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Perpetua"/>
                    <a:ea typeface="+mn-ea"/>
                    <a:cs typeface="+mn-cs"/>
                  </a:rPr>
                  <a:t>F</a:t>
                </a:r>
                <a:r>
                  <a:rPr kumimoji="0" lang="ru-RU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ru-RU" sz="2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∨</m:t>
                    </m:r>
                  </m:oMath>
                </a14:m>
                <a:r>
                  <a:rPr kumimoji="0" lang="en-US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Perpetua"/>
                    <a:ea typeface="+mn-ea"/>
                    <a:cs typeface="+mn-cs"/>
                  </a:rPr>
                  <a:t> G</a:t>
                </a:r>
                <a:r>
                  <a:rPr kumimoji="0" lang="ru-RU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+mn-ea"/>
                    <a:cs typeface="+mn-cs"/>
                  </a:rPr>
                  <a:t> ), (</a:t>
                </a:r>
                <a:r>
                  <a:rPr kumimoji="0" lang="en-US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Perpetua"/>
                    <a:ea typeface="+mn-ea"/>
                    <a:cs typeface="+mn-cs"/>
                  </a:rPr>
                  <a:t>F </a:t>
                </a:r>
                <a14:m>
                  <m:oMath xmlns:m="http://schemas.openxmlformats.org/officeDocument/2006/math">
                    <m:r>
                      <a:rPr kumimoji="0" lang="ru-RU" sz="2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→</m:t>
                    </m:r>
                    <m:r>
                      <a:rPr kumimoji="0" lang="ru-RU" sz="26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 </m:t>
                    </m:r>
                  </m:oMath>
                </a14:m>
                <a:r>
                  <a:rPr kumimoji="0" lang="en-US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Perpetua"/>
                    <a:ea typeface="+mn-ea"/>
                    <a:cs typeface="+mn-cs"/>
                  </a:rPr>
                  <a:t>G</a:t>
                </a:r>
                <a:r>
                  <a:rPr kumimoji="0" lang="ru-RU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+mn-ea"/>
                    <a:cs typeface="+mn-cs"/>
                  </a:rPr>
                  <a:t> ), ( </a:t>
                </a:r>
                <a:r>
                  <a:rPr kumimoji="0" lang="en-US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Perpetua"/>
                    <a:ea typeface="+mn-ea"/>
                    <a:cs typeface="+mn-cs"/>
                  </a:rPr>
                  <a:t>F </a:t>
                </a:r>
                <a14:m>
                  <m:oMath xmlns:m="http://schemas.openxmlformats.org/officeDocument/2006/math">
                    <m:r>
                      <a:rPr kumimoji="0" lang="ru-RU" sz="2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↔</m:t>
                    </m:r>
                  </m:oMath>
                </a14:m>
                <a:r>
                  <a:rPr kumimoji="0" lang="ru-RU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ru-RU" sz="26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 </m:t>
                    </m:r>
                  </m:oMath>
                </a14:m>
                <a:r>
                  <a:rPr kumimoji="0" lang="en-US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Perpetua"/>
                    <a:ea typeface="+mn-ea"/>
                    <a:cs typeface="+mn-cs"/>
                  </a:rPr>
                  <a:t>G</a:t>
                </a:r>
                <a:r>
                  <a:rPr kumimoji="0" lang="ru-RU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+mn-ea"/>
                    <a:cs typeface="+mn-cs"/>
                  </a:rPr>
                  <a:t>) также являются формулами;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580"/>
                  </a:spcBef>
                  <a:spcAft>
                    <a:spcPts val="0"/>
                  </a:spcAft>
                  <a:buClr>
                    <a:srgbClr val="D34817"/>
                  </a:buClr>
                  <a:buSzPct val="85000"/>
                  <a:buFont typeface="Wingdings 2"/>
                  <a:buNone/>
                  <a:tabLst/>
                  <a:defRPr/>
                </a:pPr>
                <a:r>
                  <a:rPr kumimoji="0" lang="ru-RU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+mn-ea"/>
                    <a:cs typeface="+mn-cs"/>
                  </a:rPr>
                  <a:t>в) других формул, кроме построенных по правилам  двух предыдущих пунктов, нет.</a:t>
                </a:r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60CBEEE7-9D53-4546-EC69-120FAE2735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650837" y="1422401"/>
                <a:ext cx="8890577" cy="4981286"/>
              </a:xfrm>
              <a:blipFill>
                <a:blip r:embed="rId2"/>
                <a:stretch>
                  <a:fillRect l="-1235" t="-1102" r="-171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72053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EE1911-CB6F-F2A6-60D6-DDB25937A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20073"/>
            <a:ext cx="10953750" cy="840509"/>
          </a:xfrm>
        </p:spPr>
        <p:txBody>
          <a:bodyPr>
            <a:normAutofit/>
          </a:bodyPr>
          <a:lstStyle/>
          <a:p>
            <a:r>
              <a:rPr lang="ru-RU" dirty="0"/>
              <a:t>Формулы алгебры высказываний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4993D074-8C3F-447B-1FF4-C4FB58A98C7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2927925" y="1182255"/>
                <a:ext cx="8737601" cy="4738253"/>
              </a:xfrm>
            </p:spPr>
            <p:txBody>
              <a:bodyPr>
                <a:norm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580"/>
                  </a:spcBef>
                  <a:spcAft>
                    <a:spcPts val="0"/>
                  </a:spcAft>
                  <a:buClr>
                    <a:srgbClr val="D34817"/>
                  </a:buClr>
                  <a:buSzPct val="85000"/>
                  <a:buFont typeface="Wingdings 2"/>
                  <a:buNone/>
                  <a:tabLst/>
                  <a:defRPr/>
                </a:pPr>
                <a:r>
                  <a:rPr kumimoji="0" lang="ru-RU" sz="3200" b="0" i="1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+mn-ea"/>
                    <a:cs typeface="+mn-cs"/>
                  </a:rPr>
                  <a:t>В следующей последовательности символов всевозможными способами расставьте скобки так, чтобы получилась формула и установите порядок действий:</a:t>
                </a:r>
              </a:p>
              <a:p>
                <a:pPr lvl="0">
                  <a:lnSpc>
                    <a:spcPct val="100000"/>
                  </a:lnSpc>
                  <a:spcBef>
                    <a:spcPts val="580"/>
                  </a:spcBef>
                  <a:buClr>
                    <a:srgbClr val="D34817"/>
                  </a:buClr>
                  <a:buSzPct val="85000"/>
                  <a:defRPr/>
                </a:pPr>
                <a:r>
                  <a:rPr kumimoji="0" lang="ru-RU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+mn-ea"/>
                    <a:cs typeface="+mn-cs"/>
                  </a:rPr>
                  <a:t>А) </a:t>
                </a:r>
                <a14:m>
                  <m:oMath xmlns:m="http://schemas.openxmlformats.org/officeDocument/2006/math">
                    <m:r>
                      <a:rPr lang="ru-RU" sz="3200">
                        <a:solidFill>
                          <a:schemeClr val="tx1"/>
                        </a:solidFill>
                        <a:latin typeface="Cambria Math"/>
                      </a:rPr>
                      <m:t>¬</m:t>
                    </m:r>
                    <m:r>
                      <a:rPr lang="ru-RU" sz="3200" i="1">
                        <a:solidFill>
                          <a:schemeClr val="tx1"/>
                        </a:solidFill>
                        <a:latin typeface="Cambria Math"/>
                      </a:rPr>
                      <m:t>𝑃</m:t>
                    </m:r>
                    <m:r>
                      <a:rPr lang="ru-RU" sz="3200">
                        <a:solidFill>
                          <a:schemeClr val="tx1"/>
                        </a:solidFill>
                        <a:latin typeface="Cambria Math"/>
                      </a:rPr>
                      <m:t>∧</m:t>
                    </m:r>
                    <m:r>
                      <a:rPr lang="ru-RU" sz="3200" i="1">
                        <a:solidFill>
                          <a:schemeClr val="tx1"/>
                        </a:solidFill>
                        <a:latin typeface="Cambria Math"/>
                      </a:rPr>
                      <m:t>𝑄</m:t>
                    </m:r>
                    <m:r>
                      <a:rPr lang="ru-RU" sz="3200">
                        <a:solidFill>
                          <a:schemeClr val="tx1"/>
                        </a:solidFill>
                        <a:latin typeface="Cambria Math"/>
                      </a:rPr>
                      <m:t>→</m:t>
                    </m:r>
                    <m:r>
                      <a:rPr lang="ru-RU" sz="3200" i="1">
                        <a:solidFill>
                          <a:schemeClr val="tx1"/>
                        </a:solidFill>
                        <a:latin typeface="Cambria Math"/>
                      </a:rPr>
                      <m:t>𝑅</m:t>
                    </m:r>
                    <m:r>
                      <a:rPr kumimoji="0" lang="ru-RU" sz="3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;</m:t>
                    </m:r>
                  </m:oMath>
                </a14:m>
                <a:endParaRPr kumimoji="0" lang="ru-RU" sz="32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mbria" panose="02040503050406030204" pitchFamily="18" charset="0"/>
                  <a:ea typeface="+mn-ea"/>
                  <a:cs typeface="+mn-cs"/>
                </a:endParaRPr>
              </a:p>
              <a:p>
                <a:pPr>
                  <a:lnSpc>
                    <a:spcPct val="100000"/>
                  </a:lnSpc>
                  <a:spcBef>
                    <a:spcPts val="580"/>
                  </a:spcBef>
                  <a:buClr>
                    <a:srgbClr val="D34817"/>
                  </a:buClr>
                  <a:buSzPct val="85000"/>
                  <a:defRPr/>
                </a:pPr>
                <a:r>
                  <a:rPr lang="ru-RU" sz="32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Б)</a:t>
                </a:r>
                <a14:m>
                  <m:oMath xmlns:m="http://schemas.openxmlformats.org/officeDocument/2006/math">
                    <m:r>
                      <a:rPr lang="ru-RU" sz="3200" i="1">
                        <a:solidFill>
                          <a:schemeClr val="tx1"/>
                        </a:solidFill>
                        <a:latin typeface="Cambria Math"/>
                      </a:rPr>
                      <m:t>𝑃</m:t>
                    </m:r>
                    <m:r>
                      <a:rPr lang="ru-RU" sz="3200">
                        <a:solidFill>
                          <a:schemeClr val="tx1"/>
                        </a:solidFill>
                        <a:latin typeface="Cambria Math"/>
                      </a:rPr>
                      <m:t>→</m:t>
                    </m:r>
                    <m:r>
                      <a:rPr lang="ru-RU" sz="3200" i="1">
                        <a:solidFill>
                          <a:schemeClr val="tx1"/>
                        </a:solidFill>
                        <a:latin typeface="Cambria Math"/>
                      </a:rPr>
                      <m:t>𝑄</m:t>
                    </m:r>
                    <m:r>
                      <a:rPr lang="ru-RU" sz="3200">
                        <a:solidFill>
                          <a:schemeClr val="tx1"/>
                        </a:solidFill>
                        <a:latin typeface="Cambria Math"/>
                      </a:rPr>
                      <m:t>∧¬</m:t>
                    </m:r>
                    <m:r>
                      <a:rPr lang="ru-RU" sz="3200" i="1">
                        <a:solidFill>
                          <a:schemeClr val="tx1"/>
                        </a:solidFill>
                        <a:latin typeface="Cambria Math"/>
                      </a:rPr>
                      <m:t>𝑅</m:t>
                    </m:r>
                    <m:r>
                      <a:rPr lang="ru-RU" sz="3200">
                        <a:solidFill>
                          <a:schemeClr val="tx1"/>
                        </a:solidFill>
                        <a:latin typeface="Cambria Math"/>
                      </a:rPr>
                      <m:t>∨</m:t>
                    </m:r>
                    <m:r>
                      <a:rPr lang="ru-RU" sz="3200" i="1">
                        <a:solidFill>
                          <a:schemeClr val="tx1"/>
                        </a:solidFill>
                        <a:latin typeface="Cambria Math"/>
                      </a:rPr>
                      <m:t>𝑆</m:t>
                    </m:r>
                    <m:r>
                      <a:rPr lang="ru-RU" sz="3200">
                        <a:solidFill>
                          <a:schemeClr val="tx1"/>
                        </a:solidFill>
                        <a:latin typeface="Cambria Math"/>
                      </a:rPr>
                      <m:t>;</m:t>
                    </m:r>
                  </m:oMath>
                </a14:m>
                <a:endParaRPr kumimoji="0" lang="ru-RU" sz="32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mbria" panose="02040503050406030204" pitchFamily="18" charset="0"/>
                  <a:ea typeface="+mn-ea"/>
                  <a:cs typeface="+mn-cs"/>
                </a:endParaRPr>
              </a:p>
              <a:p>
                <a:pPr>
                  <a:lnSpc>
                    <a:spcPct val="100000"/>
                  </a:lnSpc>
                  <a:spcBef>
                    <a:spcPts val="580"/>
                  </a:spcBef>
                  <a:buClr>
                    <a:srgbClr val="D34817"/>
                  </a:buClr>
                  <a:buSzPct val="85000"/>
                  <a:defRPr/>
                </a:pPr>
                <a:r>
                  <a:rPr lang="ru-RU" sz="32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В) </a:t>
                </a:r>
                <a14:m>
                  <m:oMath xmlns:m="http://schemas.openxmlformats.org/officeDocument/2006/math">
                    <m:r>
                      <a:rPr lang="ru-RU" sz="3200">
                        <a:solidFill>
                          <a:schemeClr val="tx1"/>
                        </a:solidFill>
                        <a:latin typeface="Cambria Math"/>
                      </a:rPr>
                      <m:t>¬</m:t>
                    </m:r>
                    <m:r>
                      <a:rPr lang="ru-RU" sz="3200" i="1">
                        <a:solidFill>
                          <a:schemeClr val="tx1"/>
                        </a:solidFill>
                        <a:latin typeface="Cambria Math"/>
                      </a:rPr>
                      <m:t>𝑃</m:t>
                    </m:r>
                    <m:r>
                      <a:rPr lang="ru-RU" sz="3200">
                        <a:solidFill>
                          <a:schemeClr val="tx1"/>
                        </a:solidFill>
                        <a:latin typeface="Cambria Math"/>
                      </a:rPr>
                      <m:t>↔</m:t>
                    </m:r>
                    <m:r>
                      <a:rPr lang="ru-RU" sz="3200">
                        <a:solidFill>
                          <a:schemeClr val="tx1"/>
                        </a:solidFill>
                        <a:latin typeface="Cambria Math"/>
                      </a:rPr>
                      <m:t>¬</m:t>
                    </m:r>
                    <m:r>
                      <a:rPr lang="ru-RU" sz="3200" i="1">
                        <a:solidFill>
                          <a:schemeClr val="tx1"/>
                        </a:solidFill>
                        <a:latin typeface="Cambria Math"/>
                      </a:rPr>
                      <m:t>𝑄</m:t>
                    </m:r>
                    <m:r>
                      <a:rPr lang="ru-RU" sz="3200">
                        <a:solidFill>
                          <a:schemeClr val="tx1"/>
                        </a:solidFill>
                        <a:latin typeface="Cambria Math"/>
                      </a:rPr>
                      <m:t>∨</m:t>
                    </m:r>
                    <m:r>
                      <a:rPr lang="ru-RU" sz="3200" i="1">
                        <a:solidFill>
                          <a:schemeClr val="tx1"/>
                        </a:solidFill>
                        <a:latin typeface="Cambria Math"/>
                      </a:rPr>
                      <m:t>𝑅</m:t>
                    </m:r>
                    <m:r>
                      <a:rPr lang="ru-RU" sz="3200">
                        <a:solidFill>
                          <a:schemeClr val="tx1"/>
                        </a:solidFill>
                        <a:latin typeface="Cambria Math"/>
                      </a:rPr>
                      <m:t>∧</m:t>
                    </m:r>
                    <m:r>
                      <a:rPr lang="ru-RU" sz="3200" i="1">
                        <a:solidFill>
                          <a:schemeClr val="tx1"/>
                        </a:solidFill>
                        <a:latin typeface="Cambria Math"/>
                      </a:rPr>
                      <m:t>𝑄</m:t>
                    </m:r>
                    <m:r>
                      <a:rPr lang="en-US" sz="3200" i="1">
                        <a:solidFill>
                          <a:schemeClr val="tx1"/>
                        </a:solidFill>
                        <a:latin typeface="Cambria Math"/>
                      </a:rPr>
                      <m:t>.</m:t>
                    </m:r>
                  </m:oMath>
                </a14:m>
                <a:endParaRPr kumimoji="0" lang="ru-RU" sz="32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mbria" panose="02040503050406030204" pitchFamily="18" charset="0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580"/>
                  </a:spcBef>
                  <a:spcAft>
                    <a:spcPts val="0"/>
                  </a:spcAft>
                  <a:buClr>
                    <a:srgbClr val="D34817"/>
                  </a:buClr>
                  <a:buSzPct val="85000"/>
                  <a:buFont typeface="Wingdings 2"/>
                  <a:buNone/>
                  <a:tabLst/>
                  <a:defRPr/>
                </a:pPr>
                <a:r>
                  <a:rPr lang="ru-RU" sz="32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Г</a:t>
                </a:r>
                <a:r>
                  <a:rPr kumimoji="0" lang="ru-RU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+mn-ea"/>
                    <a:cs typeface="+mn-cs"/>
                  </a:rPr>
                  <a:t>) </a:t>
                </a:r>
                <a14:m>
                  <m:oMath xmlns:m="http://schemas.openxmlformats.org/officeDocument/2006/math">
                    <m:r>
                      <a:rPr kumimoji="0" lang="ru-RU" sz="32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𝑃</m:t>
                    </m:r>
                    <m:r>
                      <a:rPr kumimoji="0" lang="ru-RU" sz="3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→¬</m:t>
                    </m:r>
                    <m:r>
                      <a:rPr kumimoji="0" lang="ru-RU" sz="32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𝑄</m:t>
                    </m:r>
                    <m:r>
                      <a:rPr kumimoji="0" lang="ru-RU" sz="3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∨</m:t>
                    </m:r>
                    <m:r>
                      <a:rPr kumimoji="0" lang="ru-RU" sz="32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𝑅</m:t>
                    </m:r>
                    <m:r>
                      <a:rPr kumimoji="0" lang="ru-RU" sz="3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→¬</m:t>
                    </m:r>
                    <m:r>
                      <a:rPr kumimoji="0" lang="ru-RU" sz="32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𝑃</m:t>
                    </m:r>
                    <m:r>
                      <a:rPr kumimoji="0" lang="ru-RU" sz="3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;</m:t>
                    </m:r>
                  </m:oMath>
                </a14:m>
                <a:endParaRPr kumimoji="0" lang="ru-RU" sz="32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mbria" panose="02040503050406030204" pitchFamily="18" charset="0"/>
                  <a:ea typeface="+mn-ea"/>
                  <a:cs typeface="+mn-cs"/>
                </a:endParaRPr>
              </a:p>
              <a:p>
                <a:endParaRPr lang="ru-RU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4993D074-8C3F-447B-1FF4-C4FB58A98C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927925" y="1182255"/>
                <a:ext cx="8737601" cy="4738253"/>
              </a:xfrm>
              <a:blipFill>
                <a:blip r:embed="rId2"/>
                <a:stretch>
                  <a:fillRect l="-1743" t="-167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F33968E2-0BF4-A5C8-B6E7-3DFEDE3EF2F2}"/>
              </a:ext>
            </a:extLst>
          </p:cNvPr>
          <p:cNvSpPr txBox="1"/>
          <p:nvPr/>
        </p:nvSpPr>
        <p:spPr>
          <a:xfrm>
            <a:off x="2974108" y="6285406"/>
            <a:ext cx="969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hlinkClick r:id="rId3" action="ppaction://hlinksldjump"/>
              </a:rPr>
              <a:t>Ответы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525783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F822C6-78B1-127C-2938-19A5067A2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5510"/>
            <a:ext cx="10515600" cy="885680"/>
          </a:xfrm>
        </p:spPr>
        <p:txBody>
          <a:bodyPr>
            <a:normAutofit/>
          </a:bodyPr>
          <a:lstStyle/>
          <a:p>
            <a:r>
              <a:rPr lang="ru-RU" dirty="0"/>
              <a:t>Ответы: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C9D40133-EAA1-7A92-0228-6B1194E4D04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3491346" y="1137299"/>
                <a:ext cx="7656368" cy="5226555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ru-RU" dirty="0"/>
                  <a:t>Покажем на примере пункта А):</a:t>
                </a:r>
              </a:p>
              <a:p>
                <a:r>
                  <a:rPr lang="ru-RU" dirty="0"/>
                  <a:t>     </a:t>
                </a:r>
              </a:p>
              <a:p>
                <a:r>
                  <a:rPr lang="ru-RU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А</a:t>
                </a:r>
                <a:r>
                  <a:rPr kumimoji="0" lang="ru-R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+mn-ea"/>
                    <a:cs typeface="+mn-cs"/>
                  </a:rPr>
                  <a:t>) </a:t>
                </a:r>
                <a14:m>
                  <m:oMath xmlns:m="http://schemas.openxmlformats.org/officeDocument/2006/math">
                    <m:r>
                      <a:rPr kumimoji="0" lang="ru-RU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¬</m:t>
                    </m:r>
                    <m:r>
                      <a:rPr kumimoji="0" lang="ru-RU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𝑃</m:t>
                    </m:r>
                    <m:r>
                      <a:rPr kumimoji="0" lang="ru-RU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∧</m:t>
                    </m:r>
                    <m:r>
                      <a:rPr kumimoji="0" lang="ru-RU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𝑄</m:t>
                    </m:r>
                    <m:r>
                      <a:rPr kumimoji="0" lang="ru-RU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→</m:t>
                    </m:r>
                    <m:r>
                      <a:rPr kumimoji="0" lang="ru-RU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𝑅</m:t>
                    </m:r>
                    <m:r>
                      <a:rPr kumimoji="0" lang="ru-RU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;</m:t>
                    </m:r>
                  </m:oMath>
                </a14:m>
                <a:r>
                  <a:rPr kumimoji="0" lang="ru-R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+mn-ea"/>
                    <a:cs typeface="+mn-cs"/>
                  </a:rPr>
                  <a:t>                                                             </a:t>
                </a:r>
              </a:p>
              <a:p>
                <a:r>
                  <a:rPr kumimoji="0" lang="ru-R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+mn-ea"/>
                    <a:cs typeface="+mn-cs"/>
                  </a:rPr>
                  <a:t>        </a:t>
                </a: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kumimoji="0" lang="ru-RU" sz="24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¬</m:t>
                    </m:r>
                    <m:r>
                      <a:rPr kumimoji="0" lang="ru-RU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𝑃</m:t>
                    </m:r>
                    <m:r>
                      <a:rPr kumimoji="0" lang="ru-RU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∧</m:t>
                    </m:r>
                    <m:r>
                      <a:rPr kumimoji="0" lang="ru-RU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𝑄</m:t>
                    </m:r>
                    <m:r>
                      <a:rPr kumimoji="0" lang="ru-RU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→</m:t>
                    </m:r>
                    <m:r>
                      <a:rPr kumimoji="0" lang="ru-RU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𝑅</m:t>
                    </m:r>
                  </m:oMath>
                </a14:m>
                <a:endParaRPr lang="ru-RU" dirty="0">
                  <a:solidFill>
                    <a:schemeClr val="tx1"/>
                  </a:solidFill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ru-RU" dirty="0">
                  <a:solidFill>
                    <a:schemeClr val="tx1"/>
                  </a:solidFill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kumimoji="0" lang="ru-RU" sz="24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¬</m:t>
                    </m:r>
                    <m:r>
                      <a:rPr kumimoji="0" lang="ru-RU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𝑃</m:t>
                    </m:r>
                    <m:r>
                      <a:rPr kumimoji="0" lang="ru-RU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∧</m:t>
                    </m:r>
                    <m:r>
                      <a:rPr kumimoji="0" lang="ru-R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(</m:t>
                    </m:r>
                    <m:r>
                      <a:rPr kumimoji="0" lang="ru-RU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𝑄</m:t>
                    </m:r>
                    <m:r>
                      <a:rPr kumimoji="0" lang="ru-RU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→</m:t>
                    </m:r>
                    <m:r>
                      <a:rPr kumimoji="0" lang="ru-RU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𝑅</m:t>
                    </m:r>
                  </m:oMath>
                </a14:m>
                <a:r>
                  <a:rPr lang="ru-RU" dirty="0">
                    <a:solidFill>
                      <a:schemeClr val="tx1"/>
                    </a:solidFill>
                  </a:rPr>
                  <a:t>)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ru-RU" dirty="0">
                  <a:solidFill>
                    <a:schemeClr val="tx1"/>
                  </a:solidFill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kumimoji="0" lang="ru-RU" sz="24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¬</m:t>
                    </m:r>
                    <m:r>
                      <a:rPr kumimoji="0" lang="ru-RU" sz="24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(</m:t>
                    </m:r>
                    <m:r>
                      <a:rPr kumimoji="0" lang="ru-RU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𝑃</m:t>
                    </m:r>
                    <m:r>
                      <a:rPr kumimoji="0" lang="ru-RU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∧</m:t>
                    </m:r>
                    <m:r>
                      <a:rPr kumimoji="0" lang="ru-RU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𝑄</m:t>
                    </m:r>
                    <m:r>
                      <a:rPr kumimoji="0" lang="ru-R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</m:t>
                    </m:r>
                    <m:r>
                      <a:rPr kumimoji="0" lang="ru-RU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→</m:t>
                    </m:r>
                    <m:r>
                      <a:rPr kumimoji="0" lang="ru-RU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𝑅</m:t>
                    </m:r>
                  </m:oMath>
                </a14:m>
                <a:endParaRPr lang="ru-RU" dirty="0">
                  <a:solidFill>
                    <a:schemeClr val="tx1"/>
                  </a:solidFill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ru-RU" dirty="0">
                  <a:solidFill>
                    <a:schemeClr val="tx1"/>
                  </a:solidFill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kumimoji="0" lang="ru-RU" sz="24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¬</m:t>
                    </m:r>
                    <m:r>
                      <a:rPr kumimoji="0" lang="ru-R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(</m:t>
                    </m:r>
                    <m:r>
                      <a:rPr kumimoji="0" lang="ru-RU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𝑃</m:t>
                    </m:r>
                    <m:r>
                      <a:rPr kumimoji="0" lang="ru-RU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∧</m:t>
                    </m:r>
                    <m:r>
                      <a:rPr kumimoji="0" lang="ru-RU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𝑄</m:t>
                    </m:r>
                    <m:r>
                      <a:rPr kumimoji="0" lang="ru-RU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→</m:t>
                    </m:r>
                    <m:r>
                      <a:rPr kumimoji="0" lang="ru-RU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𝑅</m:t>
                    </m:r>
                  </m:oMath>
                </a14:m>
                <a:r>
                  <a:rPr lang="ru-RU" dirty="0">
                    <a:solidFill>
                      <a:schemeClr val="tx1"/>
                    </a:solidFill>
                  </a:rPr>
                  <a:t>)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ru-RU" dirty="0">
                  <a:solidFill>
                    <a:schemeClr val="tx1"/>
                  </a:solidFill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kumimoji="0" lang="ru-RU" sz="24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¬</m:t>
                    </m:r>
                    <m:r>
                      <a:rPr kumimoji="0" lang="ru-R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(</m:t>
                    </m:r>
                    <m:r>
                      <a:rPr kumimoji="0" lang="ru-RU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𝑃</m:t>
                    </m:r>
                    <m:r>
                      <a:rPr kumimoji="0" lang="ru-RU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∧</m:t>
                    </m:r>
                    <m:r>
                      <a:rPr kumimoji="0" lang="ru-R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(</m:t>
                    </m:r>
                    <m:r>
                      <a:rPr kumimoji="0" lang="ru-RU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𝑄</m:t>
                    </m:r>
                    <m:r>
                      <a:rPr kumimoji="0" lang="ru-RU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→</m:t>
                    </m:r>
                    <m:r>
                      <a:rPr kumimoji="0" lang="ru-RU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𝑅</m:t>
                    </m:r>
                    <m:r>
                      <a:rPr kumimoji="0" lang="ru-R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</m:t>
                    </m:r>
                  </m:oMath>
                </a14:m>
                <a:r>
                  <a:rPr lang="ru-RU" dirty="0">
                    <a:solidFill>
                      <a:schemeClr val="tx1"/>
                    </a:solidFill>
                  </a:rPr>
                  <a:t>)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ru-RU" dirty="0"/>
              </a:p>
              <a:p>
                <a:pPr marL="457200" indent="-457200">
                  <a:buFont typeface="+mj-lt"/>
                  <a:buAutoNum type="arabicPeriod"/>
                </a:pPr>
                <a:endParaRPr lang="ru-RU" dirty="0"/>
              </a:p>
              <a:p>
                <a:pPr marL="457200" indent="-457200">
                  <a:buFont typeface="+mj-lt"/>
                  <a:buAutoNum type="arabicPeriod"/>
                </a:pPr>
                <a:endParaRPr lang="ru-RU" dirty="0"/>
              </a:p>
              <a:p>
                <a:pPr marL="457200" indent="-457200">
                  <a:buFont typeface="+mj-lt"/>
                  <a:buAutoNum type="arabicPeriod"/>
                </a:pPr>
                <a:endParaRPr lang="ru-RU" dirty="0"/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C9D40133-EAA1-7A92-0228-6B1194E4D0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491346" y="1137299"/>
                <a:ext cx="7656368" cy="5226555"/>
              </a:xfrm>
              <a:blipFill>
                <a:blip r:embed="rId2"/>
                <a:stretch>
                  <a:fillRect l="-1035" t="-175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D3B005B0-91F2-1B3E-86BB-92BA869A549F}"/>
              </a:ext>
            </a:extLst>
          </p:cNvPr>
          <p:cNvSpPr txBox="1"/>
          <p:nvPr/>
        </p:nvSpPr>
        <p:spPr>
          <a:xfrm>
            <a:off x="3962400" y="3059668"/>
            <a:ext cx="1487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  </a:t>
            </a:r>
            <a:r>
              <a:rPr lang="ru-RU" sz="1200" dirty="0"/>
              <a:t>2      3             1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34D461-5BD8-1B57-875B-476C144349ED}"/>
              </a:ext>
            </a:extLst>
          </p:cNvPr>
          <p:cNvSpPr txBox="1"/>
          <p:nvPr/>
        </p:nvSpPr>
        <p:spPr>
          <a:xfrm>
            <a:off x="3833090" y="2309285"/>
            <a:ext cx="1616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   </a:t>
            </a:r>
            <a:r>
              <a:rPr lang="ru-RU" sz="1200" dirty="0"/>
              <a:t>1        2          3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DD0BF2-0292-EEA0-C0CE-D7D9FA15446F}"/>
              </a:ext>
            </a:extLst>
          </p:cNvPr>
          <p:cNvSpPr txBox="1"/>
          <p:nvPr/>
        </p:nvSpPr>
        <p:spPr>
          <a:xfrm>
            <a:off x="4061688" y="3871607"/>
            <a:ext cx="14870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2        1           3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70821F-37BE-FE72-CD34-9884592E0C3E}"/>
              </a:ext>
            </a:extLst>
          </p:cNvPr>
          <p:cNvSpPr txBox="1"/>
          <p:nvPr/>
        </p:nvSpPr>
        <p:spPr>
          <a:xfrm>
            <a:off x="4012043" y="4687204"/>
            <a:ext cx="15863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3         1         2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7FD8BD-5887-AEEF-1467-129FBA36A320}"/>
              </a:ext>
            </a:extLst>
          </p:cNvPr>
          <p:cNvSpPr txBox="1"/>
          <p:nvPr/>
        </p:nvSpPr>
        <p:spPr>
          <a:xfrm>
            <a:off x="8700655" y="5204691"/>
            <a:ext cx="33245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Примечание:</a:t>
            </a:r>
          </a:p>
          <a:p>
            <a:r>
              <a:rPr lang="ru-RU" dirty="0"/>
              <a:t>Остальные пункты выполнить аналогично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CCD4CA-5B53-C652-91D5-398ADA885BEF}"/>
              </a:ext>
            </a:extLst>
          </p:cNvPr>
          <p:cNvSpPr txBox="1"/>
          <p:nvPr/>
        </p:nvSpPr>
        <p:spPr>
          <a:xfrm>
            <a:off x="3805381" y="5387657"/>
            <a:ext cx="20539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   3          2            1</a:t>
            </a:r>
          </a:p>
        </p:txBody>
      </p:sp>
    </p:spTree>
    <p:extLst>
      <p:ext uri="{BB962C8B-B14F-4D97-AF65-F5344CB8AC3E}">
        <p14:creationId xmlns:p14="http://schemas.microsoft.com/office/powerpoint/2010/main" val="27825136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383798" y="386407"/>
            <a:ext cx="7772400" cy="954360"/>
          </a:xfrm>
        </p:spPr>
        <p:txBody>
          <a:bodyPr/>
          <a:lstStyle/>
          <a:p>
            <a:r>
              <a:rPr lang="ru-RU" dirty="0"/>
              <a:t>Виды формул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2892941" y="1340767"/>
                <a:ext cx="8754114" cy="5235523"/>
              </a:xfrm>
            </p:spPr>
            <p:txBody>
              <a:bodyPr>
                <a:normAutofit/>
              </a:bodyPr>
              <a:lstStyle/>
              <a:p>
                <a:r>
                  <a:rPr lang="ru-RU" sz="2800" dirty="0"/>
                  <a:t>Формула </a:t>
                </a:r>
                <a:r>
                  <a:rPr lang="ru-RU" sz="2800" i="1" dirty="0"/>
                  <a:t>тождественно  истинна (тавтология)</a:t>
                </a:r>
                <a:r>
                  <a:rPr lang="ru-RU" sz="2800" dirty="0"/>
                  <a:t>, если она при всех значениях  входящих в нее переменных  высказываний принимает значение  </a:t>
                </a:r>
                <a:r>
                  <a:rPr lang="ru-RU" sz="2800" i="1" dirty="0"/>
                  <a:t>И</a:t>
                </a:r>
              </a:p>
              <a:p>
                <a:pPr marL="0" indent="0">
                  <a:buNone/>
                </a:pPr>
                <a:r>
                  <a:rPr lang="ru-RU" sz="2800" dirty="0"/>
                  <a:t>Примеры:</a:t>
                </a:r>
                <a:r>
                  <a:rPr lang="en-US" sz="2800" dirty="0"/>
                  <a:t>1)</a:t>
                </a:r>
                <a:r>
                  <a:rPr lang="ru-RU" sz="2800" dirty="0"/>
                  <a:t> </a:t>
                </a:r>
                <a:r>
                  <a:rPr lang="en-US" sz="2800" dirty="0"/>
                  <a:t>X </a:t>
                </a:r>
                <a14:m>
                  <m:oMath xmlns:m="http://schemas.openxmlformats.org/officeDocument/2006/math">
                    <m:r>
                      <a:rPr lang="ru-RU" sz="2800">
                        <a:latin typeface="Cambria Math"/>
                      </a:rPr>
                      <m:t>∨</m:t>
                    </m:r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 dirty="0">
                            <a:latin typeface="Cambria Math"/>
                          </a:rPr>
                          <m:t>𝑋</m:t>
                        </m:r>
                      </m:e>
                    </m:acc>
                  </m:oMath>
                </a14:m>
                <a:r>
                  <a:rPr lang="en-US" sz="2800" dirty="0"/>
                  <a:t>; 2) X </a:t>
                </a:r>
                <a14:m>
                  <m:oMath xmlns:m="http://schemas.openxmlformats.org/officeDocument/2006/math">
                    <m:r>
                      <a:rPr lang="ru-RU" sz="2800">
                        <a:latin typeface="Cambria Math"/>
                      </a:rPr>
                      <m:t>→</m:t>
                    </m:r>
                  </m:oMath>
                </a14:m>
                <a:r>
                  <a:rPr lang="en-US" sz="2800" dirty="0"/>
                  <a:t>(Y</a:t>
                </a:r>
                <a:r>
                  <a:rPr lang="ru-RU" sz="2800" dirty="0"/>
                  <a:t> </a:t>
                </a:r>
                <a14:m>
                  <m:oMath xmlns:m="http://schemas.openxmlformats.org/officeDocument/2006/math">
                    <m:r>
                      <a:rPr lang="ru-RU" sz="2800">
                        <a:latin typeface="Cambria Math"/>
                      </a:rPr>
                      <m:t>→</m:t>
                    </m:r>
                    <m:r>
                      <m:rPr>
                        <m:sty m:val="p"/>
                      </m:rPr>
                      <a:rPr lang="en-US" sz="2800" b="0" i="0" smtClean="0">
                        <a:latin typeface="Cambria Math"/>
                      </a:rPr>
                      <m:t>X</m:t>
                    </m:r>
                  </m:oMath>
                </a14:m>
                <a:r>
                  <a:rPr lang="en-US" sz="2800" dirty="0"/>
                  <a:t> );3) X </a:t>
                </a:r>
                <a14:m>
                  <m:oMath xmlns:m="http://schemas.openxmlformats.org/officeDocument/2006/math">
                    <m:r>
                      <a:rPr lang="ru-RU" sz="2800">
                        <a:latin typeface="Cambria Math"/>
                      </a:rPr>
                      <m:t>∧</m:t>
                    </m:r>
                  </m:oMath>
                </a14:m>
                <a:r>
                  <a:rPr lang="en-US" sz="2800" dirty="0"/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latin typeface="Cambria Math"/>
                      </a:rPr>
                      <m:t>X</m:t>
                    </m:r>
                    <m:r>
                      <a:rPr lang="ru-RU" sz="2800">
                        <a:latin typeface="Cambria Math"/>
                      </a:rPr>
                      <m:t>→</m:t>
                    </m:r>
                    <m:r>
                      <m:rPr>
                        <m:nor/>
                      </m:rPr>
                      <a:rPr lang="en-US" sz="2800" dirty="0"/>
                      <m:t>Y</m:t>
                    </m:r>
                  </m:oMath>
                </a14:m>
                <a:r>
                  <a:rPr lang="en-US" sz="2800" dirty="0"/>
                  <a:t> )</a:t>
                </a:r>
                <a:r>
                  <a:rPr lang="ru-RU" sz="2800" dirty="0"/>
                  <a:t> </a:t>
                </a:r>
                <a14:m>
                  <m:oMath xmlns:m="http://schemas.openxmlformats.org/officeDocument/2006/math">
                    <m:r>
                      <a:rPr lang="ru-RU" sz="2800">
                        <a:latin typeface="Cambria Math"/>
                      </a:rPr>
                      <m:t>→</m:t>
                    </m:r>
                  </m:oMath>
                </a14:m>
                <a:r>
                  <a:rPr lang="en-US" sz="2800" dirty="0"/>
                  <a:t>Y</a:t>
                </a:r>
                <a:r>
                  <a:rPr lang="ru-RU" sz="2800" dirty="0"/>
                  <a:t>.</a:t>
                </a:r>
              </a:p>
              <a:p>
                <a:r>
                  <a:rPr lang="ru-RU" sz="2800" dirty="0"/>
                  <a:t>Формула </a:t>
                </a:r>
                <a:r>
                  <a:rPr lang="ru-RU" sz="2800" i="1" dirty="0"/>
                  <a:t>выполнима</a:t>
                </a:r>
                <a:r>
                  <a:rPr lang="ru-RU" sz="2800" dirty="0"/>
                  <a:t>, если она принимает значение  </a:t>
                </a:r>
                <a:r>
                  <a:rPr lang="ru-RU" sz="2800" i="1" dirty="0"/>
                  <a:t> И  </a:t>
                </a:r>
                <a:r>
                  <a:rPr lang="ru-RU" sz="2800" dirty="0"/>
                  <a:t>при некоторых значениях входящих в нее переменных.</a:t>
                </a:r>
              </a:p>
              <a:p>
                <a:pPr marL="0" indent="0">
                  <a:buNone/>
                </a:pPr>
                <a:r>
                  <a:rPr lang="ru-RU" sz="2800" dirty="0"/>
                  <a:t>Примеры: 1) Х; 2)</a:t>
                </a:r>
                <a:r>
                  <a:rPr lang="en-US" sz="2800" dirty="0"/>
                  <a:t> X </a:t>
                </a:r>
                <a14:m>
                  <m:oMath xmlns:m="http://schemas.openxmlformats.org/officeDocument/2006/math">
                    <m:r>
                      <a:rPr lang="ru-RU" sz="2800">
                        <a:latin typeface="Cambria Math"/>
                      </a:rPr>
                      <m:t>∨</m:t>
                    </m:r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 dirty="0">
                            <a:latin typeface="Cambria Math"/>
                          </a:rPr>
                          <m:t>𝑋</m:t>
                        </m:r>
                      </m:e>
                    </m:acc>
                    <m:r>
                      <a:rPr lang="ru-RU" sz="2800" b="0" i="0" dirty="0" smtClean="0">
                        <a:latin typeface="Cambria Math"/>
                      </a:rPr>
                      <m:t>;3)</m:t>
                    </m:r>
                    <m:r>
                      <a:rPr lang="en-US" sz="2800" b="0" i="0" dirty="0" smtClean="0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2800" b="0" i="0" dirty="0" smtClean="0">
                        <a:latin typeface="Cambria Math"/>
                      </a:rPr>
                      <m:t>X</m:t>
                    </m:r>
                  </m:oMath>
                </a14:m>
                <a:r>
                  <a:rPr lang="ru-RU" sz="2800" dirty="0"/>
                  <a:t> </a:t>
                </a:r>
                <a14:m>
                  <m:oMath xmlns:m="http://schemas.openxmlformats.org/officeDocument/2006/math">
                    <m:r>
                      <a:rPr lang="ru-RU" sz="2800">
                        <a:latin typeface="Cambria Math"/>
                      </a:rPr>
                      <m:t>→</m:t>
                    </m:r>
                    <m:acc>
                      <m:accPr>
                        <m:chr m:val="̅"/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sz="2800" i="1">
                            <a:latin typeface="Cambria Math"/>
                          </a:rPr>
                          <m:t>𝑋</m:t>
                        </m:r>
                      </m:e>
                    </m:acc>
                  </m:oMath>
                </a14:m>
                <a:r>
                  <a:rPr lang="ru-RU" sz="2800" dirty="0"/>
                  <a:t>.</a:t>
                </a:r>
              </a:p>
              <a:p>
                <a:endParaRPr lang="ru-RU" dirty="0"/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892941" y="1340767"/>
                <a:ext cx="8754114" cy="5235523"/>
              </a:xfrm>
              <a:blipFill>
                <a:blip r:embed="rId2"/>
                <a:stretch>
                  <a:fillRect l="-1462" t="-12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0049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F09ECD-C206-F396-1A94-F8ABC502C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Виды формул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2F5A84E-FB7C-8F43-1D3F-0ACDEE1851E9}"/>
                  </a:ext>
                </a:extLst>
              </p:cNvPr>
              <p:cNvSpPr txBox="1"/>
              <p:nvPr/>
            </p:nvSpPr>
            <p:spPr>
              <a:xfrm>
                <a:off x="2592925" y="1722438"/>
                <a:ext cx="9164966" cy="42947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74320" marR="0" lvl="0" indent="-274320" algn="l" defTabSz="914400" rtl="0" eaLnBrk="1" fontAlgn="auto" latinLnBrk="0" hangingPunct="1">
                  <a:lnSpc>
                    <a:spcPct val="100000"/>
                  </a:lnSpc>
                  <a:spcBef>
                    <a:spcPts val="580"/>
                  </a:spcBef>
                  <a:spcAft>
                    <a:spcPts val="0"/>
                  </a:spcAft>
                  <a:buClr>
                    <a:srgbClr val="D34817"/>
                  </a:buClr>
                  <a:buSzPct val="85000"/>
                  <a:buFont typeface="Wingdings 2"/>
                  <a:buChar char=""/>
                  <a:tabLst/>
                  <a:defRPr/>
                </a:pPr>
                <a:r>
                  <a:rPr kumimoji="0" lang="ru-RU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+mn-ea"/>
                    <a:cs typeface="+mn-cs"/>
                  </a:rPr>
                  <a:t>Формула </a:t>
                </a:r>
                <a:r>
                  <a:rPr kumimoji="0" lang="ru-RU" sz="26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+mn-ea"/>
                    <a:cs typeface="+mn-cs"/>
                  </a:rPr>
                  <a:t>тождественно  ложна (противоречие)</a:t>
                </a:r>
                <a:r>
                  <a:rPr kumimoji="0" lang="ru-RU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+mn-ea"/>
                    <a:cs typeface="+mn-cs"/>
                  </a:rPr>
                  <a:t>, если она при всех значениях  входящих в нее переменных  высказываний принимает значение  </a:t>
                </a:r>
                <a:r>
                  <a:rPr kumimoji="0" lang="ru-RU" sz="26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+mn-ea"/>
                    <a:cs typeface="+mn-cs"/>
                  </a:rPr>
                  <a:t>Л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580"/>
                  </a:spcBef>
                  <a:spcAft>
                    <a:spcPts val="0"/>
                  </a:spcAft>
                  <a:buClr>
                    <a:srgbClr val="D34817"/>
                  </a:buClr>
                  <a:buSzPct val="85000"/>
                  <a:buFont typeface="Wingdings 2"/>
                  <a:buNone/>
                  <a:tabLst/>
                  <a:defRPr/>
                </a:pPr>
                <a:r>
                  <a:rPr kumimoji="0" lang="ru-RU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+mn-ea"/>
                    <a:cs typeface="+mn-cs"/>
                  </a:rPr>
                  <a:t>Примеры:</a:t>
                </a:r>
                <a:r>
                  <a:rPr kumimoji="0" lang="en-US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Perpetua"/>
                    <a:ea typeface="+mn-ea"/>
                    <a:cs typeface="+mn-cs"/>
                  </a:rPr>
                  <a:t>1)</a:t>
                </a:r>
                <a:r>
                  <a:rPr kumimoji="0" lang="ru-RU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+mn-ea"/>
                    <a:cs typeface="+mn-cs"/>
                  </a:rPr>
                  <a:t> </a:t>
                </a:r>
                <a:r>
                  <a:rPr kumimoji="0" lang="en-US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Perpetua"/>
                    <a:ea typeface="+mn-ea"/>
                    <a:cs typeface="+mn-cs"/>
                  </a:rPr>
                  <a:t>X </a:t>
                </a:r>
                <a14:m>
                  <m:oMath xmlns:m="http://schemas.openxmlformats.org/officeDocument/2006/math">
                    <m:r>
                      <a:rPr kumimoji="0" lang="ru-RU" sz="2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</a:rPr>
                      <m:t>∧</m:t>
                    </m:r>
                  </m:oMath>
                </a14:m>
                <a:r>
                  <a:rPr kumimoji="0" lang="en-US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Perpetua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0" lang="en-US" sz="2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accPr>
                      <m:e>
                        <m:r>
                          <a:rPr kumimoji="0" lang="en-US" sz="26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𝑋</m:t>
                        </m:r>
                      </m:e>
                    </m:acc>
                  </m:oMath>
                </a14:m>
                <a:r>
                  <a:rPr kumimoji="0" lang="en-US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Perpetua"/>
                    <a:ea typeface="+mn-ea"/>
                    <a:cs typeface="+mn-cs"/>
                  </a:rPr>
                  <a:t>; 2)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accPr>
                      <m:e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𝑋</m:t>
                        </m:r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∨</m:t>
                        </m:r>
                        <m:acc>
                          <m:accPr>
                            <m:chr m:val="̅"/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accPr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𝑋</m:t>
                            </m:r>
                          </m:e>
                        </m:acc>
                      </m:e>
                    </m:acc>
                  </m:oMath>
                </a14:m>
                <a:endParaRPr kumimoji="0" lang="ru-RU" sz="2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erpetua"/>
                  <a:ea typeface="+mn-ea"/>
                  <a:cs typeface="+mn-cs"/>
                </a:endParaRPr>
              </a:p>
              <a:p>
                <a:pPr marL="457200" marR="0" lvl="0" indent="-457200" algn="l" defTabSz="914400" rtl="0" eaLnBrk="1" fontAlgn="auto" latinLnBrk="0" hangingPunct="1">
                  <a:lnSpc>
                    <a:spcPct val="100000"/>
                  </a:lnSpc>
                  <a:spcBef>
                    <a:spcPts val="580"/>
                  </a:spcBef>
                  <a:spcAft>
                    <a:spcPts val="0"/>
                  </a:spcAft>
                  <a:buClr>
                    <a:srgbClr val="D34817"/>
                  </a:buClr>
                  <a:buSzPct val="85000"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ru-RU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+mn-ea"/>
                    <a:cs typeface="+mn-cs"/>
                  </a:rPr>
                  <a:t>Формула </a:t>
                </a:r>
                <a:r>
                  <a:rPr kumimoji="0" lang="ru-RU" sz="26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+mn-ea"/>
                    <a:cs typeface="+mn-cs"/>
                  </a:rPr>
                  <a:t>опровержима</a:t>
                </a:r>
                <a:r>
                  <a:rPr kumimoji="0" lang="ru-RU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+mn-ea"/>
                    <a:cs typeface="+mn-cs"/>
                  </a:rPr>
                  <a:t>, если она принимает значение  </a:t>
                </a:r>
                <a:r>
                  <a:rPr kumimoji="0" lang="ru-RU" sz="26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+mn-ea"/>
                    <a:cs typeface="+mn-cs"/>
                  </a:rPr>
                  <a:t> Л  </a:t>
                </a:r>
                <a:r>
                  <a:rPr kumimoji="0" lang="ru-RU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+mn-ea"/>
                    <a:cs typeface="+mn-cs"/>
                  </a:rPr>
                  <a:t>при некоторых значениях входящих в нее переменных.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580"/>
                  </a:spcBef>
                  <a:spcAft>
                    <a:spcPts val="0"/>
                  </a:spcAft>
                  <a:buClr>
                    <a:srgbClr val="D34817"/>
                  </a:buClr>
                  <a:buSzPct val="85000"/>
                  <a:buFont typeface="Wingdings 2"/>
                  <a:buNone/>
                  <a:tabLst/>
                  <a:defRPr/>
                </a:pPr>
                <a:r>
                  <a:rPr kumimoji="0" lang="ru-RU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+mn-ea"/>
                    <a:cs typeface="+mn-cs"/>
                  </a:rPr>
                  <a:t>Примеры: 1) </a:t>
                </a:r>
                <a:r>
                  <a:rPr kumimoji="0" lang="en-US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+mn-ea"/>
                    <a:cs typeface="+mn-cs"/>
                  </a:rPr>
                  <a:t>Y</a:t>
                </a:r>
                <a:r>
                  <a:rPr kumimoji="0" lang="ru-RU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+mn-ea"/>
                    <a:cs typeface="+mn-cs"/>
                  </a:rPr>
                  <a:t>; 2)</a:t>
                </a:r>
                <a:r>
                  <a:rPr kumimoji="0" lang="en-US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Perpetua"/>
                    <a:ea typeface="+mn-ea"/>
                    <a:cs typeface="+mn-cs"/>
                  </a:rPr>
                  <a:t> Y </a:t>
                </a:r>
                <a14:m>
                  <m:oMath xmlns:m="http://schemas.openxmlformats.org/officeDocument/2006/math">
                    <m:r>
                      <a:rPr kumimoji="0" lang="ru-RU" sz="2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∨</m:t>
                    </m:r>
                  </m:oMath>
                </a14:m>
                <a:r>
                  <a:rPr kumimoji="0" lang="en-US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Perpetua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0" lang="en-US" sz="2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accPr>
                      <m:e>
                        <m:r>
                          <a:rPr kumimoji="0" lang="en-US" sz="26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𝑋</m:t>
                        </m:r>
                      </m:e>
                    </m:acc>
                    <m:r>
                      <a:rPr kumimoji="0" lang="ru-RU" sz="26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;3)</m:t>
                    </m:r>
                    <m:r>
                      <a:rPr kumimoji="0" lang="en-US" sz="26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 </m:t>
                    </m:r>
                    <m:r>
                      <m:rPr>
                        <m:sty m:val="p"/>
                      </m:rPr>
                      <a:rPr kumimoji="0" lang="en-US" sz="26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X</m:t>
                    </m:r>
                  </m:oMath>
                </a14:m>
                <a:r>
                  <a:rPr kumimoji="0" lang="ru-RU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ru-RU" sz="2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→</m:t>
                    </m:r>
                    <m:r>
                      <a:rPr kumimoji="0" lang="en-US" sz="2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𝑌</m:t>
                    </m:r>
                  </m:oMath>
                </a14:m>
                <a:r>
                  <a:rPr kumimoji="0" lang="ru-RU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+mn-ea"/>
                    <a:cs typeface="+mn-cs"/>
                  </a:rPr>
                  <a:t>.</a:t>
                </a:r>
                <a:endParaRPr kumimoji="0" lang="en-US" sz="2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  <a:ea typeface="+mn-ea"/>
                  <a:cs typeface="+mn-cs"/>
                </a:endParaRPr>
              </a:p>
              <a:p>
                <a:pPr marL="457200" marR="0" lvl="0" indent="-457200" algn="l" defTabSz="914400" rtl="0" eaLnBrk="1" fontAlgn="auto" latinLnBrk="0" hangingPunct="1">
                  <a:lnSpc>
                    <a:spcPct val="100000"/>
                  </a:lnSpc>
                  <a:spcBef>
                    <a:spcPts val="580"/>
                  </a:spcBef>
                  <a:spcAft>
                    <a:spcPts val="0"/>
                  </a:spcAft>
                  <a:buClr>
                    <a:srgbClr val="D34817"/>
                  </a:buClr>
                  <a:buSzPct val="85000"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ru-RU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+mn-ea"/>
                    <a:cs typeface="+mn-cs"/>
                  </a:rPr>
                  <a:t>Может ли формула быть одновременно опровержимой и выполнимой</a:t>
                </a:r>
                <a:r>
                  <a:rPr lang="ru-RU" sz="2600" dirty="0">
                    <a:solidFill>
                      <a:prstClr val="black"/>
                    </a:solidFill>
                    <a:latin typeface="Cambria" panose="02040503050406030204" pitchFamily="18" charset="0"/>
                  </a:rPr>
                  <a:t>?</a:t>
                </a:r>
                <a:endParaRPr kumimoji="0" lang="ru-RU" sz="2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  <a:ea typeface="+mn-ea"/>
                  <a:cs typeface="+mn-cs"/>
                </a:endParaRPr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2F5A84E-FB7C-8F43-1D3F-0ACDEE1851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2925" y="1722438"/>
                <a:ext cx="9164966" cy="4294765"/>
              </a:xfrm>
              <a:prstGeom prst="rect">
                <a:avLst/>
              </a:prstGeom>
              <a:blipFill>
                <a:blip r:embed="rId2"/>
                <a:stretch>
                  <a:fillRect l="-1197" t="-1420" r="-272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32973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4B4970-36B6-73DB-EB58-AD4892033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7161" y="360217"/>
            <a:ext cx="9951893" cy="684717"/>
          </a:xfrm>
        </p:spPr>
        <p:txBody>
          <a:bodyPr>
            <a:normAutofit fontScale="90000"/>
          </a:bodyPr>
          <a:lstStyle/>
          <a:p>
            <a:r>
              <a:rPr lang="ru-RU" sz="5400" dirty="0"/>
              <a:t>Законы логики высказываний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8599EE1-EA1F-25CF-59E1-CD83372D27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43200" y="1394691"/>
            <a:ext cx="8604250" cy="5297055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A ∧ A ≡ A</a:t>
            </a:r>
            <a:endParaRPr lang="ru-RU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2. A ∨ A ≡ A,) — </a:t>
            </a:r>
            <a:r>
              <a:rPr lang="ru-RU" dirty="0">
                <a:solidFill>
                  <a:schemeClr val="tx1"/>
                </a:solidFill>
              </a:rPr>
              <a:t>свойства идемпотентности </a:t>
            </a:r>
          </a:p>
          <a:p>
            <a:r>
              <a:rPr lang="ru-RU" dirty="0">
                <a:solidFill>
                  <a:schemeClr val="tx1"/>
                </a:solidFill>
              </a:rPr>
              <a:t>3. </a:t>
            </a:r>
            <a:r>
              <a:rPr lang="en-US" dirty="0">
                <a:solidFill>
                  <a:schemeClr val="tx1"/>
                </a:solidFill>
              </a:rPr>
              <a:t>A ∧ B ≡ B ∧ A</a:t>
            </a:r>
            <a:endParaRPr lang="ru-RU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4. A ∨ B ≡ B ∨ A,) — </a:t>
            </a:r>
            <a:r>
              <a:rPr lang="ru-RU" dirty="0">
                <a:solidFill>
                  <a:schemeClr val="tx1"/>
                </a:solidFill>
              </a:rPr>
              <a:t>свойства коммутативности </a:t>
            </a:r>
          </a:p>
          <a:p>
            <a:r>
              <a:rPr lang="ru-RU" dirty="0">
                <a:solidFill>
                  <a:schemeClr val="tx1"/>
                </a:solidFill>
              </a:rPr>
              <a:t>5. </a:t>
            </a:r>
            <a:r>
              <a:rPr lang="en-US" dirty="0">
                <a:solidFill>
                  <a:schemeClr val="tx1"/>
                </a:solidFill>
              </a:rPr>
              <a:t>A ∧ (B ∧ C) ≡ (A ∧ B) ∧ C</a:t>
            </a:r>
            <a:endParaRPr lang="ru-RU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6. A ∨ (B ∨ C) ≡ (A ∨ B) ∨ C, ) — </a:t>
            </a:r>
            <a:r>
              <a:rPr lang="ru-RU" dirty="0">
                <a:solidFill>
                  <a:schemeClr val="tx1"/>
                </a:solidFill>
              </a:rPr>
              <a:t>свойства ассоциативности </a:t>
            </a:r>
          </a:p>
          <a:p>
            <a:r>
              <a:rPr lang="ru-RU" dirty="0">
                <a:solidFill>
                  <a:schemeClr val="tx1"/>
                </a:solidFill>
              </a:rPr>
              <a:t>7. </a:t>
            </a:r>
            <a:r>
              <a:rPr lang="en-US" dirty="0">
                <a:solidFill>
                  <a:schemeClr val="tx1"/>
                </a:solidFill>
              </a:rPr>
              <a:t>A ∧ (B ∨ C) ≡ (A ∧ B) ∨ (A ∧ C)</a:t>
            </a:r>
            <a:endParaRPr lang="ru-RU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8. A ∨ (B ∧ C) ≡ (A ∨ B) ∧ (A ∨ C), ) — </a:t>
            </a:r>
            <a:r>
              <a:rPr lang="ru-RU" dirty="0">
                <a:solidFill>
                  <a:schemeClr val="tx1"/>
                </a:solidFill>
              </a:rPr>
              <a:t>свойства дистрибутивности </a:t>
            </a:r>
          </a:p>
          <a:p>
            <a:r>
              <a:rPr lang="ru-RU" dirty="0">
                <a:solidFill>
                  <a:schemeClr val="tx1"/>
                </a:solidFill>
              </a:rPr>
              <a:t>9. ¬(</a:t>
            </a:r>
            <a:r>
              <a:rPr lang="en-US" dirty="0">
                <a:solidFill>
                  <a:schemeClr val="tx1"/>
                </a:solidFill>
              </a:rPr>
              <a:t>A ∧ B) ≡ ¬A ∨ ¬B</a:t>
            </a:r>
            <a:endParaRPr lang="ru-RU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10. ¬(A ∨ B) ≡ ¬A ∧ ¬B, ) — </a:t>
            </a:r>
            <a:r>
              <a:rPr lang="ru-RU" dirty="0">
                <a:solidFill>
                  <a:schemeClr val="tx1"/>
                </a:solidFill>
              </a:rPr>
              <a:t>свойства де Моргана </a:t>
            </a:r>
          </a:p>
          <a:p>
            <a:r>
              <a:rPr lang="ru-RU" dirty="0">
                <a:solidFill>
                  <a:schemeClr val="tx1"/>
                </a:solidFill>
              </a:rPr>
              <a:t>11. </a:t>
            </a:r>
            <a:r>
              <a:rPr lang="en-US" dirty="0">
                <a:solidFill>
                  <a:schemeClr val="tx1"/>
                </a:solidFill>
              </a:rPr>
              <a:t>A ∧ (A ∨ B) ≡ A</a:t>
            </a:r>
            <a:endParaRPr lang="ru-RU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12. A ∨ (A ∧ B) ≡ A,) — </a:t>
            </a:r>
            <a:r>
              <a:rPr lang="ru-RU" dirty="0">
                <a:solidFill>
                  <a:schemeClr val="tx1"/>
                </a:solidFill>
              </a:rPr>
              <a:t>свойства поглощения</a:t>
            </a:r>
          </a:p>
        </p:txBody>
      </p:sp>
    </p:spTree>
    <p:extLst>
      <p:ext uri="{BB962C8B-B14F-4D97-AF65-F5344CB8AC3E}">
        <p14:creationId xmlns:p14="http://schemas.microsoft.com/office/powerpoint/2010/main" val="9950516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165418-FC73-A889-8C64-0291E79A7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159" y="222395"/>
            <a:ext cx="10515600" cy="895206"/>
          </a:xfrm>
        </p:spPr>
        <p:txBody>
          <a:bodyPr>
            <a:normAutofit fontScale="90000"/>
          </a:bodyPr>
          <a:lstStyle/>
          <a:p>
            <a:r>
              <a:rPr lang="ru-RU" sz="6000" dirty="0"/>
              <a:t>Законы логики высказываний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01BED3B-11A3-0EAB-D053-188A3B03AB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63668" y="1694873"/>
            <a:ext cx="8913091" cy="5163127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tx1"/>
                </a:solidFill>
              </a:rPr>
              <a:t>13. ¬(¬</a:t>
            </a:r>
            <a:r>
              <a:rPr lang="en-US" dirty="0">
                <a:solidFill>
                  <a:schemeClr val="tx1"/>
                </a:solidFill>
              </a:rPr>
              <a:t>A) ≡ A — </a:t>
            </a:r>
            <a:r>
              <a:rPr lang="ru-RU" dirty="0">
                <a:solidFill>
                  <a:schemeClr val="tx1"/>
                </a:solidFill>
              </a:rPr>
              <a:t>свойство двойного отрицания </a:t>
            </a:r>
          </a:p>
          <a:p>
            <a:r>
              <a:rPr lang="ru-RU" dirty="0">
                <a:solidFill>
                  <a:schemeClr val="tx1"/>
                </a:solidFill>
              </a:rPr>
              <a:t>14. </a:t>
            </a:r>
            <a:r>
              <a:rPr lang="en-US" dirty="0">
                <a:solidFill>
                  <a:schemeClr val="tx1"/>
                </a:solidFill>
              </a:rPr>
              <a:t>A ⇒ B ≡ ¬B ⇒ ¬A — </a:t>
            </a:r>
            <a:r>
              <a:rPr lang="ru-RU" dirty="0">
                <a:solidFill>
                  <a:schemeClr val="tx1"/>
                </a:solidFill>
              </a:rPr>
              <a:t>свойство контрапозиции </a:t>
            </a:r>
          </a:p>
          <a:p>
            <a:r>
              <a:rPr lang="ru-RU" dirty="0">
                <a:solidFill>
                  <a:schemeClr val="tx1"/>
                </a:solidFill>
              </a:rPr>
              <a:t>15. ¬(</a:t>
            </a:r>
            <a:r>
              <a:rPr lang="en-US" dirty="0">
                <a:solidFill>
                  <a:schemeClr val="tx1"/>
                </a:solidFill>
              </a:rPr>
              <a:t>A ⇒ B) ≡ A ∧ ¬B — </a:t>
            </a:r>
            <a:r>
              <a:rPr lang="ru-RU" dirty="0">
                <a:solidFill>
                  <a:schemeClr val="tx1"/>
                </a:solidFill>
              </a:rPr>
              <a:t>свойство отрицания импликации </a:t>
            </a:r>
          </a:p>
          <a:p>
            <a:r>
              <a:rPr lang="ru-RU" dirty="0">
                <a:solidFill>
                  <a:schemeClr val="tx1"/>
                </a:solidFill>
              </a:rPr>
              <a:t>16. </a:t>
            </a:r>
            <a:r>
              <a:rPr lang="en-US" dirty="0">
                <a:solidFill>
                  <a:schemeClr val="tx1"/>
                </a:solidFill>
              </a:rPr>
              <a:t>A ∧ ¬A ≡ </a:t>
            </a:r>
            <a:r>
              <a:rPr lang="ru-RU" dirty="0">
                <a:solidFill>
                  <a:schemeClr val="tx1"/>
                </a:solidFill>
              </a:rPr>
              <a:t>Л — свойство противоречия </a:t>
            </a:r>
          </a:p>
          <a:p>
            <a:r>
              <a:rPr lang="ru-RU" dirty="0">
                <a:solidFill>
                  <a:schemeClr val="tx1"/>
                </a:solidFill>
              </a:rPr>
              <a:t>17. </a:t>
            </a:r>
            <a:r>
              <a:rPr lang="en-US" dirty="0">
                <a:solidFill>
                  <a:schemeClr val="tx1"/>
                </a:solidFill>
              </a:rPr>
              <a:t>A ∨ ¬A ≡ </a:t>
            </a:r>
            <a:r>
              <a:rPr lang="ru-RU" dirty="0">
                <a:solidFill>
                  <a:schemeClr val="tx1"/>
                </a:solidFill>
              </a:rPr>
              <a:t>И — свойство исключенного третьего </a:t>
            </a:r>
          </a:p>
          <a:p>
            <a:r>
              <a:rPr lang="ru-RU" dirty="0">
                <a:solidFill>
                  <a:schemeClr val="tx1"/>
                </a:solidFill>
              </a:rPr>
              <a:t>18. </a:t>
            </a:r>
            <a:r>
              <a:rPr lang="en-US" dirty="0">
                <a:solidFill>
                  <a:schemeClr val="tx1"/>
                </a:solidFill>
              </a:rPr>
              <a:t>A ⇒ B ≡ ¬A ∨ B </a:t>
            </a:r>
            <a:endParaRPr lang="ru-RU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19. A ⇔ B ≡ (A ⇒ B) ∧ (B ⇒ A)</a:t>
            </a:r>
            <a:endParaRPr lang="ru-RU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20. A ∧ </a:t>
            </a:r>
            <a:r>
              <a:rPr lang="ru-RU" dirty="0">
                <a:solidFill>
                  <a:schemeClr val="tx1"/>
                </a:solidFill>
              </a:rPr>
              <a:t>И ≡ </a:t>
            </a:r>
            <a:r>
              <a:rPr lang="en-US" dirty="0">
                <a:solidFill>
                  <a:schemeClr val="tx1"/>
                </a:solidFill>
              </a:rPr>
              <a:t>A</a:t>
            </a:r>
            <a:endParaRPr lang="ru-RU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21. A ∨ </a:t>
            </a:r>
            <a:r>
              <a:rPr lang="ru-RU" dirty="0">
                <a:solidFill>
                  <a:schemeClr val="tx1"/>
                </a:solidFill>
              </a:rPr>
              <a:t>И ≡ И</a:t>
            </a:r>
          </a:p>
          <a:p>
            <a:r>
              <a:rPr lang="ru-RU" dirty="0">
                <a:solidFill>
                  <a:schemeClr val="tx1"/>
                </a:solidFill>
              </a:rPr>
              <a:t>22. </a:t>
            </a:r>
            <a:r>
              <a:rPr lang="en-US" dirty="0">
                <a:solidFill>
                  <a:schemeClr val="tx1"/>
                </a:solidFill>
              </a:rPr>
              <a:t>A ∧ </a:t>
            </a:r>
            <a:r>
              <a:rPr lang="ru-RU" dirty="0">
                <a:solidFill>
                  <a:schemeClr val="tx1"/>
                </a:solidFill>
              </a:rPr>
              <a:t>Л ≡ Л</a:t>
            </a:r>
          </a:p>
          <a:p>
            <a:r>
              <a:rPr lang="ru-RU" dirty="0">
                <a:solidFill>
                  <a:schemeClr val="tx1"/>
                </a:solidFill>
              </a:rPr>
              <a:t>23. </a:t>
            </a:r>
            <a:r>
              <a:rPr lang="en-US" dirty="0">
                <a:solidFill>
                  <a:schemeClr val="tx1"/>
                </a:solidFill>
              </a:rPr>
              <a:t>A ∨ </a:t>
            </a:r>
            <a:r>
              <a:rPr lang="ru-RU" dirty="0">
                <a:solidFill>
                  <a:schemeClr val="tx1"/>
                </a:solidFill>
              </a:rPr>
              <a:t>Л ≡ </a:t>
            </a:r>
            <a:r>
              <a:rPr lang="en-US" dirty="0">
                <a:solidFill>
                  <a:schemeClr val="tx1"/>
                </a:solidFill>
              </a:rPr>
              <a:t>A.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84765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Формулы алгебры высказываний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3315855" y="1484746"/>
                <a:ext cx="7592290" cy="360449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2800" i="1" dirty="0">
                    <a:solidFill>
                      <a:schemeClr val="tx1"/>
                    </a:solidFill>
                  </a:rPr>
                  <a:t>Для следующих формул определите, будет ли какая-либо из них логическим следствием другой:</a:t>
                </a:r>
              </a:p>
              <a:p>
                <a:pPr marL="0" indent="0">
                  <a:buNone/>
                </a:pPr>
                <a:r>
                  <a:rPr lang="ru-RU" sz="2800" dirty="0">
                    <a:solidFill>
                      <a:schemeClr val="tx1"/>
                    </a:solidFill>
                  </a:rPr>
                  <a:t>А) </a:t>
                </a:r>
                <a:r>
                  <a:rPr lang="en-US" sz="2800" dirty="0">
                    <a:solidFill>
                      <a:schemeClr val="tx1"/>
                    </a:solidFill>
                  </a:rPr>
                  <a:t>a=</a:t>
                </a:r>
                <a14:m>
                  <m:oMath xmlns:m="http://schemas.openxmlformats.org/officeDocument/2006/math">
                    <m:d>
                      <m:dPr>
                        <m:endChr m:val=""/>
                        <m:ctrlPr>
                          <a:rPr lang="ru-RU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28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𝑃</m:t>
                        </m:r>
                        <m:r>
                          <a:rPr lang="ru-RU" sz="2800">
                            <a:solidFill>
                              <a:schemeClr val="tx1"/>
                            </a:solidFill>
                            <a:latin typeface="Cambria Math"/>
                          </a:rPr>
                          <m:t>→</m:t>
                        </m:r>
                        <m:r>
                          <a:rPr lang="ru-RU" sz="28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𝑄</m:t>
                        </m:r>
                        <m:r>
                          <a:rPr lang="ru-RU" sz="2800">
                            <a:solidFill>
                              <a:schemeClr val="tx1"/>
                            </a:solidFill>
                            <a:latin typeface="Cambria Math"/>
                          </a:rPr>
                          <m:t>)→</m:t>
                        </m:r>
                        <m:r>
                          <a:rPr lang="ru-RU" sz="28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𝑅</m:t>
                        </m:r>
                        <m:r>
                          <a:rPr lang="ru-RU" sz="2800">
                            <a:solidFill>
                              <a:schemeClr val="tx1"/>
                            </a:solidFill>
                            <a:latin typeface="Cambria Math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ru-RU" sz="2800" i="1">
                            <a:solidFill>
                              <a:schemeClr val="tx1"/>
                            </a:solidFill>
                          </a:rPr>
                          <m:t>  </m:t>
                        </m:r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ru-RU" sz="28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𝑃</m:t>
                        </m:r>
                        <m:r>
                          <a:rPr lang="ru-RU" sz="2800">
                            <a:solidFill>
                              <a:schemeClr val="tx1"/>
                            </a:solidFill>
                            <a:latin typeface="Cambria Math"/>
                          </a:rPr>
                          <m:t>∨</m:t>
                        </m:r>
                        <m:r>
                          <a:rPr lang="ru-RU" sz="28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𝑄</m:t>
                        </m:r>
                        <m:r>
                          <a:rPr lang="ru-RU" sz="2800">
                            <a:solidFill>
                              <a:schemeClr val="tx1"/>
                            </a:solidFill>
                            <a:latin typeface="Cambria Math"/>
                          </a:rPr>
                          <m:t>∨</m:t>
                        </m:r>
                        <m:r>
                          <a:rPr lang="ru-RU" sz="28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𝑅</m:t>
                        </m:r>
                        <m:r>
                          <a:rPr lang="ru-RU" sz="2800">
                            <a:solidFill>
                              <a:schemeClr val="tx1"/>
                            </a:solidFill>
                            <a:latin typeface="Cambria Math"/>
                          </a:rPr>
                          <m:t>;</m:t>
                        </m:r>
                      </m:e>
                    </m:d>
                  </m:oMath>
                </a14:m>
                <a:endParaRPr lang="ru-RU" sz="28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ru-RU" sz="2800" dirty="0">
                    <a:solidFill>
                      <a:schemeClr val="tx1"/>
                    </a:solidFill>
                  </a:rPr>
                  <a:t>Б)</a:t>
                </a:r>
                <a:r>
                  <a:rPr lang="en-US" sz="2800" dirty="0">
                    <a:solidFill>
                      <a:schemeClr val="tx1"/>
                    </a:solidFill>
                  </a:rPr>
                  <a:t> a=</a:t>
                </a:r>
                <a14:m>
                  <m:oMath xmlns:m="http://schemas.openxmlformats.org/officeDocument/2006/math">
                    <m:r>
                      <a:rPr lang="ru-RU" sz="2800" i="1">
                        <a:solidFill>
                          <a:schemeClr val="tx1"/>
                        </a:solidFill>
                        <a:latin typeface="Cambria Math"/>
                      </a:rPr>
                      <m:t>𝑃</m:t>
                    </m:r>
                    <m:r>
                      <a:rPr lang="ru-RU" sz="2800">
                        <a:solidFill>
                          <a:schemeClr val="tx1"/>
                        </a:solidFill>
                        <a:latin typeface="Cambria Math"/>
                      </a:rPr>
                      <m:t>→(</m:t>
                    </m:r>
                    <m:r>
                      <a:rPr lang="ru-RU" sz="2800" i="1">
                        <a:solidFill>
                          <a:schemeClr val="tx1"/>
                        </a:solidFill>
                        <a:latin typeface="Cambria Math"/>
                      </a:rPr>
                      <m:t>𝑄</m:t>
                    </m:r>
                    <m:r>
                      <a:rPr lang="ru-RU" sz="2800">
                        <a:solidFill>
                          <a:schemeClr val="tx1"/>
                        </a:solidFill>
                        <a:latin typeface="Cambria Math"/>
                      </a:rPr>
                      <m:t>→</m:t>
                    </m:r>
                    <m:r>
                      <a:rPr lang="ru-RU" sz="2800" i="1">
                        <a:solidFill>
                          <a:schemeClr val="tx1"/>
                        </a:solidFill>
                        <a:latin typeface="Cambria Math"/>
                      </a:rPr>
                      <m:t>𝑅</m:t>
                    </m:r>
                    <m:r>
                      <a:rPr lang="ru-RU" sz="2800">
                        <a:solidFill>
                          <a:schemeClr val="tx1"/>
                        </a:solidFill>
                        <a:latin typeface="Cambria Math"/>
                      </a:rPr>
                      <m:t>),</m:t>
                    </m:r>
                    <m:r>
                      <m:rPr>
                        <m:nor/>
                      </m:rPr>
                      <a:rPr lang="ru-RU" sz="2800" i="1">
                        <a:solidFill>
                          <a:schemeClr val="tx1"/>
                        </a:solidFill>
                      </a:rPr>
                      <m:t>  </m:t>
                    </m:r>
                    <m:r>
                      <a:rPr 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sz="2800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a:rPr lang="ru-RU" sz="2800" i="1">
                        <a:solidFill>
                          <a:schemeClr val="tx1"/>
                        </a:solidFill>
                        <a:latin typeface="Cambria Math"/>
                      </a:rPr>
                      <m:t>𝑃</m:t>
                    </m:r>
                    <m:r>
                      <a:rPr lang="ru-RU" sz="2800">
                        <a:solidFill>
                          <a:schemeClr val="tx1"/>
                        </a:solidFill>
                        <a:latin typeface="Cambria Math"/>
                      </a:rPr>
                      <m:t>→</m:t>
                    </m:r>
                    <m:r>
                      <a:rPr lang="ru-RU" sz="2800" i="1">
                        <a:solidFill>
                          <a:schemeClr val="tx1"/>
                        </a:solidFill>
                        <a:latin typeface="Cambria Math"/>
                      </a:rPr>
                      <m:t>𝑄</m:t>
                    </m:r>
                    <m:r>
                      <a:rPr lang="ru-RU" sz="2800">
                        <a:solidFill>
                          <a:schemeClr val="tx1"/>
                        </a:solidFill>
                        <a:latin typeface="Cambria Math"/>
                      </a:rPr>
                      <m:t>)→</m:t>
                    </m:r>
                    <m:r>
                      <a:rPr lang="ru-RU" sz="2800" i="1">
                        <a:solidFill>
                          <a:schemeClr val="tx1"/>
                        </a:solidFill>
                        <a:latin typeface="Cambria Math"/>
                      </a:rPr>
                      <m:t>𝑅</m:t>
                    </m:r>
                    <m:r>
                      <a:rPr lang="ru-RU" sz="2800">
                        <a:solidFill>
                          <a:schemeClr val="tx1"/>
                        </a:solidFill>
                        <a:latin typeface="Cambria Math"/>
                      </a:rPr>
                      <m:t>;</m:t>
                    </m:r>
                  </m:oMath>
                </a14:m>
                <a:endParaRPr lang="ru-RU" sz="28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ru-RU" sz="2800" dirty="0">
                    <a:solidFill>
                      <a:schemeClr val="tx1"/>
                    </a:solidFill>
                  </a:rPr>
                  <a:t>В) </a:t>
                </a:r>
                <a:r>
                  <a:rPr lang="en-US" sz="2800" dirty="0">
                    <a:solidFill>
                      <a:schemeClr val="tx1"/>
                    </a:solidFill>
                  </a:rPr>
                  <a:t>a= </a:t>
                </a:r>
                <a14:m>
                  <m:oMath xmlns:m="http://schemas.openxmlformats.org/officeDocument/2006/math">
                    <m:d>
                      <m:dPr>
                        <m:endChr m:val=""/>
                        <m:ctrlPr>
                          <a:rPr lang="ru-RU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28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𝑃</m:t>
                        </m:r>
                        <m:r>
                          <a:rPr lang="ru-RU" sz="2800">
                            <a:solidFill>
                              <a:schemeClr val="tx1"/>
                            </a:solidFill>
                            <a:latin typeface="Cambria Math"/>
                          </a:rPr>
                          <m:t>∨</m:t>
                        </m:r>
                        <m:r>
                          <a:rPr lang="ru-RU" sz="28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𝑅</m:t>
                        </m:r>
                        <m:r>
                          <a:rPr lang="ru-RU" sz="2800">
                            <a:solidFill>
                              <a:schemeClr val="tx1"/>
                            </a:solidFill>
                            <a:latin typeface="Cambria Math"/>
                          </a:rPr>
                          <m:t>)</m:t>
                        </m:r>
                        <m:r>
                          <a:rPr lang="ru-RU" sz="2800">
                            <a:solidFill>
                              <a:schemeClr val="tx1"/>
                            </a:solidFill>
                            <a:latin typeface="Cambria Math"/>
                          </a:rPr>
                          <m:t>↔</m:t>
                        </m:r>
                        <m:r>
                          <a:rPr lang="ru-RU" sz="28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𝑄</m:t>
                        </m:r>
                        <m:r>
                          <a:rPr lang="ru-RU" sz="2800">
                            <a:solidFill>
                              <a:schemeClr val="tx1"/>
                            </a:solidFill>
                            <a:latin typeface="Cambria Math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ru-RU" sz="2800" i="1">
                            <a:solidFill>
                              <a:schemeClr val="tx1"/>
                            </a:solidFill>
                          </a:rPr>
                          <m:t>  </m:t>
                        </m:r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ru-RU" sz="2800">
                            <a:solidFill>
                              <a:schemeClr val="tx1"/>
                            </a:solidFill>
                            <a:latin typeface="Cambria Math"/>
                          </a:rPr>
                          <m:t>(</m:t>
                        </m:r>
                        <m:r>
                          <a:rPr lang="ru-RU" sz="28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𝑃</m:t>
                        </m:r>
                        <m:r>
                          <a:rPr lang="ru-RU" sz="2800">
                            <a:solidFill>
                              <a:schemeClr val="tx1"/>
                            </a:solidFill>
                            <a:latin typeface="Cambria Math"/>
                          </a:rPr>
                          <m:t>∨</m:t>
                        </m:r>
                        <m:r>
                          <a:rPr lang="ru-RU" sz="28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𝑄</m:t>
                        </m:r>
                        <m:r>
                          <a:rPr lang="ru-RU" sz="2800">
                            <a:solidFill>
                              <a:schemeClr val="tx1"/>
                            </a:solidFill>
                            <a:latin typeface="Cambria Math"/>
                          </a:rPr>
                          <m:t>)</m:t>
                        </m:r>
                        <m:r>
                          <a:rPr lang="ru-RU" sz="2800">
                            <a:solidFill>
                              <a:schemeClr val="tx1"/>
                            </a:solidFill>
                            <a:latin typeface="Cambria Math"/>
                          </a:rPr>
                          <m:t>↔</m:t>
                        </m:r>
                        <m:r>
                          <a:rPr lang="ru-RU" sz="28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𝑅</m:t>
                        </m:r>
                        <m:r>
                          <a:rPr lang="ru-RU" sz="2800">
                            <a:solidFill>
                              <a:schemeClr val="tx1"/>
                            </a:solidFill>
                            <a:latin typeface="Cambria Math"/>
                          </a:rPr>
                          <m:t>.</m:t>
                        </m:r>
                      </m:e>
                    </m:d>
                  </m:oMath>
                </a14:m>
                <a:endParaRPr lang="ru-RU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15855" y="1484746"/>
                <a:ext cx="7592290" cy="3604490"/>
              </a:xfrm>
              <a:blipFill>
                <a:blip r:embed="rId2"/>
                <a:stretch>
                  <a:fillRect l="-1687" t="-18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C3F4DDA3-87BE-4BD0-D58D-D9310D534EF1}"/>
              </a:ext>
            </a:extLst>
          </p:cNvPr>
          <p:cNvSpPr txBox="1"/>
          <p:nvPr/>
        </p:nvSpPr>
        <p:spPr>
          <a:xfrm>
            <a:off x="3195782" y="6133006"/>
            <a:ext cx="1080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hlinkClick r:id="rId3" action="ppaction://hlinksldjump"/>
              </a:rPr>
              <a:t>Ответы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48543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98DA6B-97CF-A864-BB5A-AD0662337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036" y="124690"/>
            <a:ext cx="10363200" cy="418089"/>
          </a:xfrm>
        </p:spPr>
        <p:txBody>
          <a:bodyPr>
            <a:normAutofit fontScale="90000"/>
          </a:bodyPr>
          <a:lstStyle/>
          <a:p>
            <a:r>
              <a:rPr lang="ru-RU" dirty="0"/>
              <a:t>Ответы: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F17D8555-9F60-5070-F629-4FE7637C4C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4036" y="554182"/>
                <a:ext cx="11563927" cy="617912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                      </a:t>
                </a:r>
                <a:r>
                  <a:rPr lang="ru-RU" dirty="0"/>
                  <a:t>Покажем решение на примере пункта А: </a:t>
                </a:r>
                <a:r>
                  <a:rPr lang="en-US" sz="2400" i="1" dirty="0">
                    <a:solidFill>
                      <a:schemeClr val="tx1"/>
                    </a:solidFill>
                  </a:rPr>
                  <a:t>a</a:t>
                </a:r>
                <a:r>
                  <a:rPr lang="en-US" dirty="0">
                    <a:solidFill>
                      <a:schemeClr val="tx1"/>
                    </a:solidFill>
                  </a:rPr>
                  <a:t>=</a:t>
                </a:r>
                <a14:m>
                  <m:oMath xmlns:m="http://schemas.openxmlformats.org/officeDocument/2006/math">
                    <m:d>
                      <m:dPr>
                        <m:endChr m:val=""/>
                        <m:ctrlPr>
                          <a:rPr lang="ru-RU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𝑃</m:t>
                        </m:r>
                        <m:r>
                          <a:rPr lang="ru-RU">
                            <a:solidFill>
                              <a:schemeClr val="tx1"/>
                            </a:solidFill>
                            <a:latin typeface="Cambria Math"/>
                          </a:rPr>
                          <m:t>→</m:t>
                        </m:r>
                        <m:r>
                          <a:rPr lang="ru-RU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𝑄</m:t>
                        </m:r>
                        <m:r>
                          <a:rPr lang="ru-RU">
                            <a:solidFill>
                              <a:schemeClr val="tx1"/>
                            </a:solidFill>
                            <a:latin typeface="Cambria Math"/>
                          </a:rPr>
                          <m:t>)→</m:t>
                        </m:r>
                        <m:r>
                          <a:rPr lang="ru-RU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𝑅</m:t>
                        </m:r>
                        <m:r>
                          <a:rPr lang="ru-RU">
                            <a:solidFill>
                              <a:schemeClr val="tx1"/>
                            </a:solidFill>
                            <a:latin typeface="Cambria Math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ru-RU" i="1">
                            <a:solidFill>
                              <a:schemeClr val="tx1"/>
                            </a:solidFill>
                          </a:rPr>
                          <m:t>  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ru-RU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𝑃</m:t>
                        </m:r>
                        <m:r>
                          <a:rPr lang="ru-RU">
                            <a:solidFill>
                              <a:schemeClr val="tx1"/>
                            </a:solidFill>
                            <a:latin typeface="Cambria Math"/>
                          </a:rPr>
                          <m:t>∨</m:t>
                        </m:r>
                        <m:r>
                          <a:rPr lang="ru-RU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𝑄</m:t>
                        </m:r>
                        <m:r>
                          <a:rPr lang="ru-RU">
                            <a:solidFill>
                              <a:schemeClr val="tx1"/>
                            </a:solidFill>
                            <a:latin typeface="Cambria Math"/>
                          </a:rPr>
                          <m:t>∨</m:t>
                        </m:r>
                        <m:r>
                          <a:rPr lang="ru-RU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𝑅</m:t>
                        </m:r>
                      </m:e>
                    </m:d>
                    <m:r>
                      <a:rPr lang="ru-RU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:</a:t>
                </a:r>
              </a:p>
              <a:p>
                <a:pPr marL="0" indent="0">
                  <a:buNone/>
                </a:pPr>
                <a:r>
                  <a:rPr lang="en-US" dirty="0"/>
                  <a:t>                      </a:t>
                </a:r>
                <a:r>
                  <a:rPr lang="ru-RU" dirty="0"/>
                  <a:t>Составим таблицу истинности для данных формул:</a:t>
                </a: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F17D8555-9F60-5070-F629-4FE7637C4C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4036" y="554182"/>
                <a:ext cx="11563927" cy="6179128"/>
              </a:xfrm>
              <a:blipFill>
                <a:blip r:embed="rId2"/>
                <a:stretch>
                  <a:fillRect t="-581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Таблица 3">
                <a:extLst>
                  <a:ext uri="{FF2B5EF4-FFF2-40B4-BE49-F238E27FC236}">
                    <a16:creationId xmlns:a16="http://schemas.microsoft.com/office/drawing/2014/main" id="{444C7FE9-FA17-8A92-DC03-E3E1723940A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04147551"/>
                  </p:ext>
                </p:extLst>
              </p:nvPr>
            </p:nvGraphicFramePr>
            <p:xfrm>
              <a:off x="438728" y="2004858"/>
              <a:ext cx="5955301" cy="423025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357505">
                      <a:extLst>
                        <a:ext uri="{9D8B030D-6E8A-4147-A177-3AD203B41FA5}">
                          <a16:colId xmlns:a16="http://schemas.microsoft.com/office/drawing/2014/main" val="3553166394"/>
                        </a:ext>
                      </a:extLst>
                    </a:gridCol>
                    <a:gridCol w="396231">
                      <a:extLst>
                        <a:ext uri="{9D8B030D-6E8A-4147-A177-3AD203B41FA5}">
                          <a16:colId xmlns:a16="http://schemas.microsoft.com/office/drawing/2014/main" val="2023117344"/>
                        </a:ext>
                      </a:extLst>
                    </a:gridCol>
                    <a:gridCol w="345802">
                      <a:extLst>
                        <a:ext uri="{9D8B030D-6E8A-4147-A177-3AD203B41FA5}">
                          <a16:colId xmlns:a16="http://schemas.microsoft.com/office/drawing/2014/main" val="3775611745"/>
                        </a:ext>
                      </a:extLst>
                    </a:gridCol>
                    <a:gridCol w="1015792">
                      <a:extLst>
                        <a:ext uri="{9D8B030D-6E8A-4147-A177-3AD203B41FA5}">
                          <a16:colId xmlns:a16="http://schemas.microsoft.com/office/drawing/2014/main" val="3466651210"/>
                        </a:ext>
                      </a:extLst>
                    </a:gridCol>
                    <a:gridCol w="1572446">
                      <a:extLst>
                        <a:ext uri="{9D8B030D-6E8A-4147-A177-3AD203B41FA5}">
                          <a16:colId xmlns:a16="http://schemas.microsoft.com/office/drawing/2014/main" val="1583879425"/>
                        </a:ext>
                      </a:extLst>
                    </a:gridCol>
                    <a:gridCol w="895927">
                      <a:extLst>
                        <a:ext uri="{9D8B030D-6E8A-4147-A177-3AD203B41FA5}">
                          <a16:colId xmlns:a16="http://schemas.microsoft.com/office/drawing/2014/main" val="2888480775"/>
                        </a:ext>
                      </a:extLst>
                    </a:gridCol>
                    <a:gridCol w="1371598">
                      <a:extLst>
                        <a:ext uri="{9D8B030D-6E8A-4147-A177-3AD203B41FA5}">
                          <a16:colId xmlns:a16="http://schemas.microsoft.com/office/drawing/2014/main" val="4041924074"/>
                        </a:ext>
                      </a:extLst>
                    </a:gridCol>
                  </a:tblGrid>
                  <a:tr h="423025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Q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R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ru-RU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𝑃</m:t>
                                </m:r>
                                <m:r>
                                  <a:rPr lang="ru-RU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→</m:t>
                                </m:r>
                                <m:r>
                                  <a:rPr lang="ru-RU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𝑄</m:t>
                                </m:r>
                                <m:r>
                                  <a:rPr lang="ru-RU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ru-RU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𝑃</m:t>
                                </m:r>
                                <m:r>
                                  <a:rPr lang="ru-RU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→</m:t>
                                </m:r>
                                <m:r>
                                  <a:rPr lang="ru-RU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𝑄</m:t>
                                </m:r>
                                <m:r>
                                  <a:rPr lang="ru-RU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)→</m:t>
                                </m:r>
                                <m:r>
                                  <a:rPr lang="ru-RU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𝑅</m:t>
                                </m:r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𝑃</m:t>
                                </m:r>
                                <m:r>
                                  <a:rPr lang="ru-RU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∨</m:t>
                                </m:r>
                                <m:r>
                                  <a:rPr lang="ru-RU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𝑄</m:t>
                                </m:r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𝑃</m:t>
                                </m:r>
                                <m:r>
                                  <a:rPr lang="ru-RU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∨</m:t>
                                </m:r>
                                <m:r>
                                  <a:rPr lang="ru-RU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𝑄</m:t>
                                </m:r>
                                <m:r>
                                  <a:rPr lang="ru-RU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∨</m:t>
                                </m:r>
                                <m:r>
                                  <a:rPr lang="ru-RU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𝑅</m:t>
                                </m:r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73988389"/>
                      </a:ext>
                    </a:extLst>
                  </a:tr>
                  <a:tr h="423025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ru-R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50806169"/>
                      </a:ext>
                    </a:extLst>
                  </a:tr>
                  <a:tr h="423025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3390274"/>
                      </a:ext>
                    </a:extLst>
                  </a:tr>
                  <a:tr h="423025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142874"/>
                      </a:ext>
                    </a:extLst>
                  </a:tr>
                  <a:tr h="423025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11648324"/>
                      </a:ext>
                    </a:extLst>
                  </a:tr>
                  <a:tr h="423025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14035240"/>
                      </a:ext>
                    </a:extLst>
                  </a:tr>
                  <a:tr h="423025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62141443"/>
                      </a:ext>
                    </a:extLst>
                  </a:tr>
                  <a:tr h="423025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00185692"/>
                      </a:ext>
                    </a:extLst>
                  </a:tr>
                  <a:tr h="423025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4487055"/>
                      </a:ext>
                    </a:extLst>
                  </a:tr>
                  <a:tr h="423025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*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**</a:t>
                          </a:r>
                          <a:endParaRPr lang="ru-R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349083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Таблица 3">
                <a:extLst>
                  <a:ext uri="{FF2B5EF4-FFF2-40B4-BE49-F238E27FC236}">
                    <a16:creationId xmlns:a16="http://schemas.microsoft.com/office/drawing/2014/main" id="{444C7FE9-FA17-8A92-DC03-E3E1723940A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04147551"/>
                  </p:ext>
                </p:extLst>
              </p:nvPr>
            </p:nvGraphicFramePr>
            <p:xfrm>
              <a:off x="438728" y="2004858"/>
              <a:ext cx="5955301" cy="423025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357505">
                      <a:extLst>
                        <a:ext uri="{9D8B030D-6E8A-4147-A177-3AD203B41FA5}">
                          <a16:colId xmlns:a16="http://schemas.microsoft.com/office/drawing/2014/main" val="3553166394"/>
                        </a:ext>
                      </a:extLst>
                    </a:gridCol>
                    <a:gridCol w="396231">
                      <a:extLst>
                        <a:ext uri="{9D8B030D-6E8A-4147-A177-3AD203B41FA5}">
                          <a16:colId xmlns:a16="http://schemas.microsoft.com/office/drawing/2014/main" val="2023117344"/>
                        </a:ext>
                      </a:extLst>
                    </a:gridCol>
                    <a:gridCol w="345802">
                      <a:extLst>
                        <a:ext uri="{9D8B030D-6E8A-4147-A177-3AD203B41FA5}">
                          <a16:colId xmlns:a16="http://schemas.microsoft.com/office/drawing/2014/main" val="3775611745"/>
                        </a:ext>
                      </a:extLst>
                    </a:gridCol>
                    <a:gridCol w="1015792">
                      <a:extLst>
                        <a:ext uri="{9D8B030D-6E8A-4147-A177-3AD203B41FA5}">
                          <a16:colId xmlns:a16="http://schemas.microsoft.com/office/drawing/2014/main" val="3466651210"/>
                        </a:ext>
                      </a:extLst>
                    </a:gridCol>
                    <a:gridCol w="1572446">
                      <a:extLst>
                        <a:ext uri="{9D8B030D-6E8A-4147-A177-3AD203B41FA5}">
                          <a16:colId xmlns:a16="http://schemas.microsoft.com/office/drawing/2014/main" val="1583879425"/>
                        </a:ext>
                      </a:extLst>
                    </a:gridCol>
                    <a:gridCol w="895927">
                      <a:extLst>
                        <a:ext uri="{9D8B030D-6E8A-4147-A177-3AD203B41FA5}">
                          <a16:colId xmlns:a16="http://schemas.microsoft.com/office/drawing/2014/main" val="2888480775"/>
                        </a:ext>
                      </a:extLst>
                    </a:gridCol>
                    <a:gridCol w="1371598">
                      <a:extLst>
                        <a:ext uri="{9D8B030D-6E8A-4147-A177-3AD203B41FA5}">
                          <a16:colId xmlns:a16="http://schemas.microsoft.com/office/drawing/2014/main" val="4041924074"/>
                        </a:ext>
                      </a:extLst>
                    </a:gridCol>
                  </a:tblGrid>
                  <a:tr h="423025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Q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R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109639" t="-5714" r="-381325" b="-90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134363" t="-5714" r="-144402" b="-90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412925" t="-5714" r="-154422" b="-90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335111" t="-5714" r="-889" b="-9028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73988389"/>
                      </a:ext>
                    </a:extLst>
                  </a:tr>
                  <a:tr h="423025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ru-R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50806169"/>
                      </a:ext>
                    </a:extLst>
                  </a:tr>
                  <a:tr h="423025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3390274"/>
                      </a:ext>
                    </a:extLst>
                  </a:tr>
                  <a:tr h="423025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142874"/>
                      </a:ext>
                    </a:extLst>
                  </a:tr>
                  <a:tr h="423025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11648324"/>
                      </a:ext>
                    </a:extLst>
                  </a:tr>
                  <a:tr h="423025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14035240"/>
                      </a:ext>
                    </a:extLst>
                  </a:tr>
                  <a:tr h="423025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62141443"/>
                      </a:ext>
                    </a:extLst>
                  </a:tr>
                  <a:tr h="423025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00185692"/>
                      </a:ext>
                    </a:extLst>
                  </a:tr>
                  <a:tr h="423025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4487055"/>
                      </a:ext>
                    </a:extLst>
                  </a:tr>
                  <a:tr h="423025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*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**</a:t>
                          </a:r>
                          <a:endParaRPr lang="ru-R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349083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FED27797-0E27-1540-51C5-98755384689A}"/>
              </a:ext>
            </a:extLst>
          </p:cNvPr>
          <p:cNvSpPr txBox="1"/>
          <p:nvPr/>
        </p:nvSpPr>
        <p:spPr>
          <a:xfrm>
            <a:off x="6594765" y="2004858"/>
            <a:ext cx="516312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Сопоставляя столбцы * и</a:t>
            </a:r>
            <a:r>
              <a:rPr lang="en-US" sz="2000" dirty="0"/>
              <a:t> </a:t>
            </a:r>
            <a:r>
              <a:rPr lang="ru-RU" sz="2000" dirty="0"/>
              <a:t>**, видим, что во всякой строке, в которой в столбце * стоит 1, в столбце ** также стоит 1, но не наоборот (например, третья строка). Это означает, что вторая данная формула является логическим следствием первой, но первая, в свою очередь, не является логическим следствием первой.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679BA0-6D46-6029-34A8-370FF8E6295A}"/>
              </a:ext>
            </a:extLst>
          </p:cNvPr>
          <p:cNvSpPr txBox="1"/>
          <p:nvPr/>
        </p:nvSpPr>
        <p:spPr>
          <a:xfrm>
            <a:off x="6677891" y="5311778"/>
            <a:ext cx="36016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Примечание:</a:t>
            </a:r>
          </a:p>
          <a:p>
            <a:r>
              <a:rPr lang="ru-RU" dirty="0"/>
              <a:t>Остальные пункты выполнить аналогично </a:t>
            </a:r>
          </a:p>
        </p:txBody>
      </p:sp>
    </p:spTree>
    <p:extLst>
      <p:ext uri="{BB962C8B-B14F-4D97-AF65-F5344CB8AC3E}">
        <p14:creationId xmlns:p14="http://schemas.microsoft.com/office/powerpoint/2010/main" val="6567984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56343" y="166910"/>
            <a:ext cx="8911687" cy="1280890"/>
          </a:xfrm>
        </p:spPr>
        <p:txBody>
          <a:bodyPr/>
          <a:lstStyle/>
          <a:p>
            <a:r>
              <a:rPr lang="ru-RU" dirty="0"/>
              <a:t>Закон двойственности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2809257" y="1138103"/>
                <a:ext cx="9194118" cy="5719897"/>
              </a:xfrm>
            </p:spPr>
            <p:txBody>
              <a:bodyPr>
                <a:noAutofit/>
              </a:bodyPr>
              <a:lstStyle/>
              <a:p>
                <a:r>
                  <a:rPr lang="ru-RU" sz="2400" dirty="0"/>
                  <a:t>Будем говорить, что </a:t>
                </a:r>
                <a:r>
                  <a:rPr lang="ru-RU" sz="2400" i="1" dirty="0"/>
                  <a:t>операция </a:t>
                </a:r>
                <a:r>
                  <a:rPr lang="en-US" sz="2400" i="1" dirty="0"/>
                  <a:t>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/>
                      </a:rPr>
                      <m:t>∧</m:t>
                    </m:r>
                  </m:oMath>
                </a14:m>
                <a:r>
                  <a:rPr lang="ru-RU" sz="2400" i="1" dirty="0"/>
                  <a:t> двойственна операции 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/>
                      </a:rPr>
                      <m:t>∨</m:t>
                    </m:r>
                  </m:oMath>
                </a14:m>
                <a:r>
                  <a:rPr lang="ru-RU" sz="2400" i="1" dirty="0"/>
                  <a:t> и наоборот. </a:t>
                </a:r>
                <a:r>
                  <a:rPr lang="en-US" sz="2400" i="1" dirty="0"/>
                  <a:t> </a:t>
                </a:r>
                <a:endParaRPr lang="ru-RU" sz="2400" i="1" dirty="0"/>
              </a:p>
              <a:p>
                <a:r>
                  <a:rPr lang="ru-RU" sz="2400" i="1" dirty="0"/>
                  <a:t>Формулы 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/>
                      </a:rPr>
                      <m:t>𝐹</m:t>
                    </m:r>
                  </m:oMath>
                </a14:m>
                <a:r>
                  <a:rPr lang="en-US" sz="2400" i="1" dirty="0"/>
                  <a:t> </a:t>
                </a:r>
                <a:r>
                  <a:rPr lang="ru-RU" sz="2400" i="1" dirty="0"/>
                  <a:t>и</a:t>
                </a:r>
                <a:r>
                  <a:rPr lang="en-US" sz="2400" i="1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400" i="1">
                            <a:latin typeface="Cambria Math"/>
                          </a:rPr>
                          <m:t>𝐹</m:t>
                        </m:r>
                      </m:e>
                      <m:sup>
                        <m:r>
                          <a:rPr lang="ru-RU" sz="2400">
                            <a:latin typeface="Cambria Math"/>
                          </a:rPr>
                          <m:t>∗</m:t>
                        </m:r>
                      </m:sup>
                    </m:sSup>
                  </m:oMath>
                </a14:m>
                <a:r>
                  <a:rPr lang="ru-RU" sz="2400" b="1" i="1" dirty="0"/>
                  <a:t> </a:t>
                </a:r>
                <a:r>
                  <a:rPr lang="ru-RU" sz="2400" i="1" dirty="0"/>
                  <a:t>называются двойственными, если одна получатся из другой заменой каждой операции на двойственную ей.</a:t>
                </a:r>
              </a:p>
              <a:p>
                <a:pPr marL="0" indent="0">
                  <a:buNone/>
                </a:pPr>
                <a:r>
                  <a:rPr lang="ru-RU" sz="2400" dirty="0"/>
                  <a:t>Примеры:</a:t>
                </a:r>
              </a:p>
              <a:p>
                <a:pPr marL="0" indent="0">
                  <a:buNone/>
                </a:pPr>
                <a:r>
                  <a:rPr lang="ru-RU" sz="2400" dirty="0"/>
                  <a:t>А) </a:t>
                </a:r>
                <a14:m>
                  <m:oMath xmlns:m="http://schemas.openxmlformats.org/officeDocument/2006/math">
                    <m:d>
                      <m:dPr>
                        <m:endChr m:val=""/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2400" i="1">
                            <a:latin typeface="Cambria Math"/>
                          </a:rPr>
                          <m:t>𝑋</m:t>
                        </m:r>
                        <m:r>
                          <a:rPr lang="ru-RU" sz="2400">
                            <a:latin typeface="Cambria Math"/>
                          </a:rPr>
                          <m:t>∨</m:t>
                        </m:r>
                        <m:acc>
                          <m:accPr>
                            <m:chr m:val="̅"/>
                            <m:ctrlPr>
                              <a:rPr lang="ru-RU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ru-RU" sz="2400" i="1">
                                <a:latin typeface="Cambria Math"/>
                              </a:rPr>
                              <m:t>𝑌</m:t>
                            </m:r>
                          </m:e>
                        </m:acc>
                        <m:r>
                          <a:rPr lang="ru-RU" sz="2400">
                            <a:latin typeface="Cambria Math"/>
                          </a:rPr>
                          <m:t>)∧</m:t>
                        </m:r>
                        <m:r>
                          <a:rPr lang="ru-RU" sz="2400" i="1">
                            <a:latin typeface="Cambria Math"/>
                          </a:rPr>
                          <m:t>𝑍</m:t>
                        </m:r>
                      </m:e>
                    </m:d>
                  </m:oMath>
                </a14:m>
                <a:r>
                  <a:rPr lang="en-US" sz="2400" dirty="0"/>
                  <a:t>  </a:t>
                </a:r>
                <a:r>
                  <a:rPr lang="ru-RU" sz="2400" dirty="0"/>
                  <a:t>двойственно 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/>
                      </a:rPr>
                      <m:t>𝑋</m:t>
                    </m:r>
                    <m:r>
                      <a:rPr lang="ru-RU" sz="2400">
                        <a:latin typeface="Cambria Math"/>
                      </a:rPr>
                      <m:t>∧</m:t>
                    </m:r>
                    <m:acc>
                      <m:accPr>
                        <m:chr m:val="̅"/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sz="2400" i="1">
                            <a:latin typeface="Cambria Math"/>
                          </a:rPr>
                          <m:t>𝑌</m:t>
                        </m:r>
                      </m:e>
                    </m:acc>
                    <m:r>
                      <a:rPr lang="ru-RU" sz="2400">
                        <a:latin typeface="Cambria Math"/>
                      </a:rPr>
                      <m:t>∨</m:t>
                    </m:r>
                    <m:r>
                      <a:rPr lang="ru-RU" sz="2400" i="1">
                        <a:latin typeface="Cambria Math"/>
                      </a:rPr>
                      <m:t>𝑍</m:t>
                    </m:r>
                  </m:oMath>
                </a14:m>
                <a:r>
                  <a:rPr lang="ru-RU" sz="2400" dirty="0"/>
                  <a:t>;</a:t>
                </a:r>
              </a:p>
              <a:p>
                <a:pPr marL="0" indent="0">
                  <a:buNone/>
                </a:pPr>
                <a:r>
                  <a:rPr lang="ru-RU" sz="2400" dirty="0"/>
                  <a:t>Б)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ru-RU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ru-RU" sz="2400" i="1">
                                <a:latin typeface="Cambria Math"/>
                              </a:rPr>
                              <m:t>𝑋</m:t>
                            </m:r>
                            <m:r>
                              <a:rPr lang="ru-RU" sz="2400">
                                <a:latin typeface="Cambria Math"/>
                              </a:rPr>
                              <m:t>∨</m:t>
                            </m:r>
                            <m:r>
                              <a:rPr lang="ru-RU" sz="2400" i="1">
                                <a:latin typeface="Cambria Math"/>
                              </a:rPr>
                              <m:t>𝑌</m:t>
                            </m:r>
                          </m:e>
                        </m:acc>
                        <m:r>
                          <a:rPr lang="ru-RU" sz="2400">
                            <a:latin typeface="Cambria Math"/>
                          </a:rPr>
                          <m:t>∧(</m:t>
                        </m:r>
                        <m:r>
                          <a:rPr lang="ru-RU" sz="2400" i="1">
                            <a:latin typeface="Cambria Math"/>
                          </a:rPr>
                          <m:t>𝑋</m:t>
                        </m:r>
                        <m:r>
                          <a:rPr lang="ru-RU" sz="2400">
                            <a:latin typeface="Cambria Math"/>
                          </a:rPr>
                          <m:t>∨</m:t>
                        </m:r>
                        <m:acc>
                          <m:accPr>
                            <m:chr m:val="̅"/>
                            <m:ctrlPr>
                              <a:rPr lang="ru-RU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ru-RU" sz="2400" i="1">
                                <a:latin typeface="Cambria Math"/>
                              </a:rPr>
                              <m:t>𝑌</m:t>
                            </m:r>
                            <m:r>
                              <a:rPr lang="ru-RU" sz="2400">
                                <a:latin typeface="Cambria Math"/>
                              </a:rPr>
                              <m:t>∧</m:t>
                            </m:r>
                            <m:r>
                              <a:rPr lang="ru-RU" sz="2400" i="1">
                                <a:latin typeface="Cambria Math"/>
                              </a:rPr>
                              <m:t>𝑍</m:t>
                            </m:r>
                          </m:e>
                        </m:acc>
                      </m:e>
                    </m:d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двойственно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sz="2400" i="1">
                            <a:latin typeface="Cambria Math"/>
                          </a:rPr>
                          <m:t>𝑋</m:t>
                        </m:r>
                        <m:r>
                          <a:rPr lang="ru-RU" sz="2400">
                            <a:latin typeface="Cambria Math"/>
                          </a:rPr>
                          <m:t>∧</m:t>
                        </m:r>
                        <m:r>
                          <a:rPr lang="ru-RU" sz="2400" i="1">
                            <a:latin typeface="Cambria Math"/>
                          </a:rPr>
                          <m:t>𝑌</m:t>
                        </m:r>
                      </m:e>
                    </m:acc>
                    <m:r>
                      <a:rPr lang="ru-RU" sz="2400">
                        <a:latin typeface="Cambria Math"/>
                      </a:rPr>
                      <m:t>∨</m:t>
                    </m:r>
                    <m:r>
                      <a:rPr lang="ru-RU" sz="2400" i="1">
                        <a:latin typeface="Cambria Math"/>
                      </a:rPr>
                      <m:t>𝑋</m:t>
                    </m:r>
                    <m:r>
                      <a:rPr lang="ru-RU" sz="2400">
                        <a:latin typeface="Cambria Math"/>
                      </a:rPr>
                      <m:t>∧</m:t>
                    </m:r>
                    <m:acc>
                      <m:accPr>
                        <m:chr m:val="̅"/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sz="2400" i="1">
                            <a:latin typeface="Cambria Math"/>
                          </a:rPr>
                          <m:t>𝑌</m:t>
                        </m:r>
                        <m:r>
                          <a:rPr lang="ru-RU" sz="2400">
                            <a:latin typeface="Cambria Math"/>
                          </a:rPr>
                          <m:t>∨</m:t>
                        </m:r>
                        <m:r>
                          <a:rPr lang="ru-RU" sz="2400" i="1">
                            <a:latin typeface="Cambria Math"/>
                          </a:rPr>
                          <m:t>𝑍</m:t>
                        </m:r>
                      </m:e>
                    </m:acc>
                  </m:oMath>
                </a14:m>
                <a:r>
                  <a:rPr lang="ru-RU" sz="2400" dirty="0"/>
                  <a:t>;</a:t>
                </a:r>
              </a:p>
              <a:p>
                <a:pPr marL="0" indent="0">
                  <a:buNone/>
                </a:pPr>
                <a:r>
                  <a:rPr lang="ru-RU" sz="2400" dirty="0"/>
                  <a:t>В)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2400" i="1">
                            <a:latin typeface="Cambria Math"/>
                          </a:rPr>
                          <m:t>𝑋</m:t>
                        </m:r>
                        <m:r>
                          <a:rPr lang="ru-RU" sz="2400">
                            <a:latin typeface="Cambria Math"/>
                          </a:rPr>
                          <m:t>∧(</m:t>
                        </m:r>
                        <m:r>
                          <a:rPr lang="ru-RU" sz="2400" i="1">
                            <a:latin typeface="Cambria Math"/>
                          </a:rPr>
                          <m:t>𝑌</m:t>
                        </m:r>
                        <m:r>
                          <a:rPr lang="ru-RU" sz="2400">
                            <a:latin typeface="Cambria Math"/>
                          </a:rPr>
                          <m:t>∨</m:t>
                        </m:r>
                        <m:r>
                          <a:rPr lang="ru-RU" sz="2400" i="1">
                            <a:latin typeface="Cambria Math"/>
                          </a:rPr>
                          <m:t>𝑍</m:t>
                        </m:r>
                        <m:r>
                          <a:rPr lang="ru-RU" sz="2400">
                            <a:latin typeface="Cambria Math"/>
                          </a:rPr>
                          <m:t>∧(</m:t>
                        </m:r>
                        <m:r>
                          <a:rPr lang="ru-RU" sz="2400" i="1">
                            <a:latin typeface="Cambria Math"/>
                          </a:rPr>
                          <m:t>𝑈</m:t>
                        </m:r>
                        <m:r>
                          <a:rPr lang="ru-RU" sz="2400">
                            <a:latin typeface="Cambria Math"/>
                          </a:rPr>
                          <m:t>∨</m:t>
                        </m:r>
                        <m:r>
                          <a:rPr lang="ru-RU" sz="2400" i="1">
                            <a:latin typeface="Cambria Math"/>
                          </a:rPr>
                          <m:t>𝑉</m:t>
                        </m:r>
                        <m:r>
                          <a:rPr lang="ru-RU" sz="2400">
                            <a:latin typeface="Cambria Math"/>
                          </a:rPr>
                          <m:t>)</m:t>
                        </m:r>
                      </m:e>
                    </m:d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двойственно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2400" i="1">
                            <a:latin typeface="Cambria Math"/>
                          </a:rPr>
                          <m:t>𝑋</m:t>
                        </m:r>
                        <m:r>
                          <a:rPr lang="ru-RU" sz="2400">
                            <a:latin typeface="Cambria Math"/>
                          </a:rPr>
                          <m:t>∨</m:t>
                        </m:r>
                        <m:r>
                          <a:rPr lang="ru-RU" sz="2400" i="1">
                            <a:latin typeface="Cambria Math"/>
                          </a:rPr>
                          <m:t>𝑌</m:t>
                        </m:r>
                        <m:r>
                          <a:rPr lang="ru-RU" sz="2400">
                            <a:latin typeface="Cambria Math"/>
                          </a:rPr>
                          <m:t>∧(</m:t>
                        </m:r>
                        <m:r>
                          <a:rPr lang="ru-RU" sz="2400" i="1">
                            <a:latin typeface="Cambria Math"/>
                          </a:rPr>
                          <m:t>𝑍</m:t>
                        </m:r>
                        <m:r>
                          <a:rPr lang="ru-RU" sz="2400">
                            <a:latin typeface="Cambria Math"/>
                          </a:rPr>
                          <m:t>∨</m:t>
                        </m:r>
                        <m:r>
                          <a:rPr lang="ru-RU" sz="2400" i="1">
                            <a:latin typeface="Cambria Math"/>
                          </a:rPr>
                          <m:t>𝑈</m:t>
                        </m:r>
                        <m:r>
                          <a:rPr lang="ru-RU" sz="2400">
                            <a:latin typeface="Cambria Math"/>
                          </a:rPr>
                          <m:t>∧</m:t>
                        </m:r>
                        <m:r>
                          <a:rPr lang="ru-RU" sz="2400" i="1">
                            <a:latin typeface="Cambria Math"/>
                          </a:rPr>
                          <m:t>𝑉</m:t>
                        </m:r>
                      </m:e>
                    </m:d>
                  </m:oMath>
                </a14:m>
                <a:r>
                  <a:rPr lang="ru-RU" sz="2400" dirty="0"/>
                  <a:t>.</a:t>
                </a:r>
              </a:p>
              <a:p>
                <a:r>
                  <a:rPr lang="ru-RU" sz="2400" dirty="0"/>
                  <a:t>Закон двойственности: </a:t>
                </a:r>
                <a:r>
                  <a:rPr lang="ru-RU" sz="2400" i="1" dirty="0"/>
                  <a:t>если формулы 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/>
                      </a:rPr>
                      <m:t>𝐴</m:t>
                    </m:r>
                    <m:r>
                      <a:rPr lang="ru-RU" sz="2400" b="0" i="0" smtClean="0">
                        <a:latin typeface="Cambria Math"/>
                      </a:rPr>
                      <m:t> </m:t>
                    </m:r>
                    <m:r>
                      <a:rPr lang="ru-RU" sz="2400" b="0" i="1" smtClean="0">
                        <a:latin typeface="Cambria Math"/>
                      </a:rPr>
                      <m:t>и</m:t>
                    </m:r>
                  </m:oMath>
                </a14:m>
                <a:r>
                  <a:rPr lang="ru-RU" sz="2400" i="1" dirty="0"/>
                  <a:t> 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/>
                      </a:rPr>
                      <m:t>𝐵</m:t>
                    </m:r>
                  </m:oMath>
                </a14:m>
                <a:r>
                  <a:rPr lang="en-US" sz="2400" i="1" u="sng" dirty="0"/>
                  <a:t> </a:t>
                </a:r>
                <a:r>
                  <a:rPr lang="ru-RU" sz="2400" i="1" dirty="0"/>
                  <a:t>равносильны, то и двойственные им формулы также равносильны, т.е.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ru-RU" sz="240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ru-RU" sz="2400">
                        <a:latin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ru-RU" sz="240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ru-RU" sz="2400" i="1" dirty="0"/>
                  <a:t>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809257" y="1138103"/>
                <a:ext cx="9194118" cy="5719897"/>
              </a:xfrm>
              <a:blipFill>
                <a:blip r:embed="rId2"/>
                <a:stretch>
                  <a:fillRect l="-1061" t="-853" r="-252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17226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19536" y="260648"/>
            <a:ext cx="8568952" cy="1080120"/>
          </a:xfrm>
        </p:spPr>
        <p:txBody>
          <a:bodyPr>
            <a:noAutofit/>
          </a:bodyPr>
          <a:lstStyle/>
          <a:p>
            <a:r>
              <a:rPr lang="ru-RU" sz="3600" dirty="0"/>
              <a:t>Дизъюнктивная нормальная форма (ДНФ)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2446009" y="2034348"/>
                <a:ext cx="9570500" cy="4563004"/>
              </a:xfrm>
            </p:spPr>
            <p:txBody>
              <a:bodyPr>
                <a:noAutofit/>
              </a:bodyPr>
              <a:lstStyle/>
              <a:p>
                <a:r>
                  <a:rPr lang="ru-RU" sz="2400" i="1" dirty="0"/>
                  <a:t>Элементарной конъюнкцией 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/>
                      </a:rPr>
                      <m:t>𝑛</m:t>
                    </m:r>
                  </m:oMath>
                </a14:m>
                <a:r>
                  <a:rPr lang="en-US" sz="2400" i="1" dirty="0"/>
                  <a:t> </a:t>
                </a:r>
                <a:r>
                  <a:rPr lang="ru-RU" sz="2400" i="1" dirty="0"/>
                  <a:t>переменных </a:t>
                </a:r>
                <a:r>
                  <a:rPr lang="ru-RU" sz="2400" dirty="0"/>
                  <a:t> называется конъюнкция переменных или их отрицаний.</a:t>
                </a:r>
              </a:p>
              <a:p>
                <a:pPr marL="0" indent="0">
                  <a:buNone/>
                </a:pPr>
                <a:r>
                  <a:rPr lang="ru-RU" sz="2400" dirty="0"/>
                  <a:t>Примеры: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1)</m:t>
                    </m:r>
                    <m:r>
                      <a:rPr lang="en-US" sz="2400" b="0" i="0" smtClean="0">
                        <a:latin typeface="Cambria Math"/>
                      </a:rPr>
                      <m:t> </m:t>
                    </m:r>
                    <m:r>
                      <a:rPr lang="ru-RU" sz="2400" i="1">
                        <a:latin typeface="Cambria Math"/>
                      </a:rPr>
                      <m:t>𝐴</m:t>
                    </m:r>
                    <m:r>
                      <a:rPr lang="ru-RU" sz="2400">
                        <a:latin typeface="Cambria Math"/>
                      </a:rPr>
                      <m:t>∧</m:t>
                    </m:r>
                    <m:acc>
                      <m:accPr>
                        <m:chr m:val="̅"/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sz="2400" i="1">
                            <a:latin typeface="Cambria Math"/>
                          </a:rPr>
                          <m:t>𝐵</m:t>
                        </m:r>
                      </m:e>
                    </m:acc>
                    <m:r>
                      <a:rPr lang="ru-RU" sz="2400">
                        <a:latin typeface="Cambria Math"/>
                      </a:rPr>
                      <m:t>∧</m:t>
                    </m:r>
                    <m:r>
                      <a:rPr lang="ru-RU" sz="2400" i="1">
                        <a:latin typeface="Cambria Math"/>
                      </a:rPr>
                      <m:t>𝐶</m:t>
                    </m:r>
                    <m:r>
                      <a:rPr lang="en-US" sz="2400" b="0" i="0" smtClean="0">
                        <a:latin typeface="Cambria Math"/>
                      </a:rPr>
                      <m:t>;</m:t>
                    </m:r>
                  </m:oMath>
                </a14:m>
                <a:r>
                  <a:rPr lang="en-US" sz="2400" dirty="0"/>
                  <a:t> 2)</a:t>
                </a:r>
                <a:r>
                  <a:rPr lang="ru-RU" sz="2400" dirty="0"/>
                  <a:t> 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/>
                      </a:rPr>
                      <m:t>𝐴</m:t>
                    </m:r>
                    <m:r>
                      <a:rPr lang="ru-RU" sz="2400">
                        <a:latin typeface="Cambria Math"/>
                      </a:rPr>
                      <m:t>∧</m:t>
                    </m:r>
                    <m:r>
                      <a:rPr lang="ru-RU" sz="2400" i="1">
                        <a:latin typeface="Cambria Math"/>
                      </a:rPr>
                      <m:t>𝐵</m:t>
                    </m:r>
                    <m:r>
                      <a:rPr lang="ru-RU" sz="2400">
                        <a:latin typeface="Cambria Math"/>
                      </a:rPr>
                      <m:t>∧</m:t>
                    </m:r>
                    <m:acc>
                      <m:accPr>
                        <m:chr m:val="̅"/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sz="2400" i="1">
                            <a:latin typeface="Cambria Math"/>
                          </a:rPr>
                          <m:t>𝐴</m:t>
                        </m:r>
                      </m:e>
                    </m:acc>
                    <m:r>
                      <m:rPr>
                        <m:nor/>
                      </m:rPr>
                      <a:rPr lang="ru-RU" sz="2400" i="1"/>
                      <m:t> </m:t>
                    </m:r>
                    <m:r>
                      <a:rPr lang="ru-RU" sz="2400">
                        <a:latin typeface="Cambria Math"/>
                      </a:rPr>
                      <m:t>∧</m:t>
                    </m:r>
                    <m:r>
                      <a:rPr lang="ru-RU" sz="2400" i="1">
                        <a:latin typeface="Cambria Math"/>
                      </a:rPr>
                      <m:t>𝐶</m:t>
                    </m:r>
                    <m:r>
                      <a:rPr lang="ru-RU" sz="2400">
                        <a:latin typeface="Cambria Math"/>
                      </a:rPr>
                      <m:t>∧</m:t>
                    </m:r>
                    <m:r>
                      <a:rPr lang="ru-RU" sz="2400" i="1">
                        <a:latin typeface="Cambria Math"/>
                      </a:rPr>
                      <m:t>𝐵</m:t>
                    </m:r>
                  </m:oMath>
                </a14:m>
                <a:r>
                  <a:rPr lang="en-US" sz="2400" dirty="0"/>
                  <a:t>.</a:t>
                </a:r>
                <a:endParaRPr lang="ru-RU" sz="2400" dirty="0"/>
              </a:p>
              <a:p>
                <a:r>
                  <a:rPr lang="ru-RU" sz="2400" i="1" dirty="0"/>
                  <a:t>Дизъюнктивная нормальная форма (ДНФ</a:t>
                </a:r>
                <a:r>
                  <a:rPr lang="ru-RU" sz="2400" dirty="0"/>
                  <a:t>) </a:t>
                </a:r>
                <a:r>
                  <a:rPr lang="ru-RU" sz="2400" i="1" dirty="0"/>
                  <a:t>формулы</a:t>
                </a:r>
                <a:r>
                  <a:rPr lang="ru-RU" sz="2400" dirty="0"/>
                  <a:t> 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/>
                      </a:rPr>
                      <m:t>𝐴</m:t>
                    </m:r>
                  </m:oMath>
                </a14:m>
                <a:r>
                  <a:rPr lang="ru-RU" sz="2400" i="1" dirty="0"/>
                  <a:t> </a:t>
                </a:r>
                <a:r>
                  <a:rPr lang="ru-RU" sz="2400" dirty="0"/>
                  <a:t>называется равносильная ей формула, представляющая собой дизъюнкцию элементарных конъюнкций.</a:t>
                </a:r>
              </a:p>
              <a:p>
                <a:pPr marL="0" indent="0">
                  <a:buNone/>
                </a:pPr>
                <a:r>
                  <a:rPr lang="ru-RU" sz="2400" dirty="0"/>
                  <a:t>Пример.  Для формулы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2400" i="1">
                            <a:latin typeface="Cambria Math"/>
                          </a:rPr>
                          <m:t>𝐴</m:t>
                        </m:r>
                        <m:r>
                          <a:rPr lang="ru-RU" sz="2400">
                            <a:latin typeface="Cambria Math"/>
                          </a:rPr>
                          <m:t>≡</m:t>
                        </m:r>
                        <m:r>
                          <a:rPr lang="ru-RU" sz="2400" i="1">
                            <a:latin typeface="Cambria Math"/>
                          </a:rPr>
                          <m:t>𝑋</m:t>
                        </m:r>
                        <m:r>
                          <a:rPr lang="ru-RU" sz="2400">
                            <a:latin typeface="Cambria Math"/>
                          </a:rPr>
                          <m:t>∧(</m:t>
                        </m:r>
                        <m:r>
                          <a:rPr lang="ru-RU" sz="2400" i="1">
                            <a:latin typeface="Cambria Math"/>
                          </a:rPr>
                          <m:t>𝑋</m:t>
                        </m:r>
                        <m:r>
                          <a:rPr lang="ru-RU" sz="2400">
                            <a:latin typeface="Cambria Math"/>
                          </a:rPr>
                          <m:t>→</m:t>
                        </m:r>
                        <m:r>
                          <a:rPr lang="ru-RU" sz="2400" i="1">
                            <a:latin typeface="Cambria Math"/>
                          </a:rPr>
                          <m:t>𝑌</m:t>
                        </m:r>
                      </m:e>
                    </m:d>
                  </m:oMath>
                </a14:m>
                <a:r>
                  <a:rPr lang="ru-RU" sz="2400" dirty="0"/>
                  <a:t> имеем:</a:t>
                </a:r>
                <a:endParaRPr lang="en-US" sz="24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ru-RU" sz="2400" i="1">
                        <a:latin typeface="Cambria Math"/>
                      </a:rPr>
                      <m:t>𝐴</m:t>
                    </m:r>
                    <m:r>
                      <a:rPr lang="ru-RU" sz="2400">
                        <a:latin typeface="Cambria Math"/>
                      </a:rPr>
                      <m:t>≡</m:t>
                    </m:r>
                    <m:r>
                      <a:rPr lang="ru-RU" sz="2400" i="1">
                        <a:latin typeface="Cambria Math"/>
                      </a:rPr>
                      <m:t>𝑋</m:t>
                    </m:r>
                    <m:r>
                      <a:rPr lang="ru-RU" sz="2400">
                        <a:latin typeface="Cambria Math"/>
                      </a:rPr>
                      <m:t>∧(</m:t>
                    </m:r>
                    <m:acc>
                      <m:accPr>
                        <m:chr m:val="̅"/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sz="2400" i="1">
                            <a:latin typeface="Cambria Math"/>
                          </a:rPr>
                          <m:t>𝑋</m:t>
                        </m:r>
                      </m:e>
                    </m:acc>
                    <m:r>
                      <a:rPr lang="ru-RU" sz="2400">
                        <a:latin typeface="Cambria Math"/>
                      </a:rPr>
                      <m:t>∨</m:t>
                    </m:r>
                    <m:r>
                      <a:rPr lang="ru-RU" sz="2400" i="1">
                        <a:latin typeface="Cambria Math"/>
                      </a:rPr>
                      <m:t>𝑌</m:t>
                    </m:r>
                    <m:r>
                      <a:rPr lang="ru-RU" sz="2400">
                        <a:latin typeface="Cambria Math"/>
                      </a:rPr>
                      <m:t>)≡(</m:t>
                    </m:r>
                    <m:r>
                      <a:rPr lang="ru-RU" sz="2400" i="1">
                        <a:latin typeface="Cambria Math"/>
                      </a:rPr>
                      <m:t>𝑋</m:t>
                    </m:r>
                    <m:r>
                      <a:rPr lang="ru-RU" sz="2400">
                        <a:latin typeface="Cambria Math"/>
                      </a:rPr>
                      <m:t>∧</m:t>
                    </m:r>
                    <m:acc>
                      <m:accPr>
                        <m:chr m:val="̅"/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sz="2400" i="1">
                            <a:latin typeface="Cambria Math"/>
                          </a:rPr>
                          <m:t>𝑋</m:t>
                        </m:r>
                      </m:e>
                    </m:acc>
                    <m:r>
                      <a:rPr lang="ru-RU" sz="2400">
                        <a:latin typeface="Cambria Math"/>
                      </a:rPr>
                      <m:t>)∨(</m:t>
                    </m:r>
                    <m:r>
                      <a:rPr lang="ru-RU" sz="2400" i="1">
                        <a:latin typeface="Cambria Math"/>
                      </a:rPr>
                      <m:t>𝑋</m:t>
                    </m:r>
                    <m:r>
                      <a:rPr lang="ru-RU" sz="2400">
                        <a:latin typeface="Cambria Math"/>
                      </a:rPr>
                      <m:t>∧</m:t>
                    </m:r>
                    <m:r>
                      <a:rPr lang="ru-RU" sz="2400" i="1">
                        <a:latin typeface="Cambria Math"/>
                      </a:rPr>
                      <m:t>𝑌</m:t>
                    </m:r>
                    <m:r>
                      <a:rPr lang="ru-RU" sz="2400">
                        <a:latin typeface="Cambria Math"/>
                      </a:rPr>
                      <m:t>)≡</m:t>
                    </m:r>
                    <m:r>
                      <a:rPr lang="ru-RU" sz="2400" i="1">
                        <a:latin typeface="Cambria Math"/>
                      </a:rPr>
                      <m:t>𝑋</m:t>
                    </m:r>
                    <m:r>
                      <a:rPr lang="ru-RU" sz="2400">
                        <a:latin typeface="Cambria Math"/>
                      </a:rPr>
                      <m:t>∧</m:t>
                    </m:r>
                    <m:r>
                      <a:rPr lang="ru-RU" sz="2400" i="1">
                        <a:latin typeface="Cambria Math"/>
                      </a:rPr>
                      <m:t>𝑌</m:t>
                    </m:r>
                  </m:oMath>
                </a14:m>
                <a:r>
                  <a:rPr lang="ru-RU" sz="2400" dirty="0"/>
                  <a:t>, т.е. </a:t>
                </a:r>
              </a:p>
              <a:p>
                <a:pPr marL="0" indent="0">
                  <a:buNone/>
                </a:pPr>
                <a:r>
                  <a:rPr lang="ru-RU" sz="2400" i="1" u="sng" dirty="0"/>
                  <a:t>ДНФ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lang="ru-RU" sz="2400" i="1" u="sng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2400" i="1" u="sng">
                            <a:latin typeface="Cambria Math"/>
                          </a:rPr>
                          <m:t>𝐴</m:t>
                        </m:r>
                        <m:r>
                          <a:rPr lang="ru-RU" sz="2400" i="1" u="sng">
                            <a:latin typeface="Cambria Math"/>
                          </a:rPr>
                          <m:t>≡(</m:t>
                        </m:r>
                        <m:r>
                          <a:rPr lang="ru-RU" sz="2400" i="1" u="sng">
                            <a:latin typeface="Cambria Math"/>
                          </a:rPr>
                          <m:t>𝑋</m:t>
                        </m:r>
                        <m:r>
                          <a:rPr lang="ru-RU" sz="2400" i="1" u="sng">
                            <a:latin typeface="Cambria Math"/>
                          </a:rPr>
                          <m:t>∧</m:t>
                        </m:r>
                        <m:acc>
                          <m:accPr>
                            <m:chr m:val="̅"/>
                            <m:ctrlPr>
                              <a:rPr lang="ru-RU" sz="2400" i="1" u="sng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ru-RU" sz="2400" i="1" u="sng">
                                <a:latin typeface="Cambria Math"/>
                              </a:rPr>
                              <m:t>𝑋</m:t>
                            </m:r>
                          </m:e>
                        </m:acc>
                        <m:r>
                          <a:rPr lang="ru-RU" sz="2400" i="1" u="sng">
                            <a:latin typeface="Cambria Math"/>
                          </a:rPr>
                          <m:t>)∨(</m:t>
                        </m:r>
                        <m:r>
                          <a:rPr lang="ru-RU" sz="2400" i="1" u="sng">
                            <a:latin typeface="Cambria Math"/>
                          </a:rPr>
                          <m:t>𝑋</m:t>
                        </m:r>
                        <m:r>
                          <a:rPr lang="ru-RU" sz="2400" i="1" u="sng">
                            <a:latin typeface="Cambria Math"/>
                          </a:rPr>
                          <m:t>∧</m:t>
                        </m:r>
                        <m:r>
                          <a:rPr lang="ru-RU" sz="2400" i="1" u="sng">
                            <a:latin typeface="Cambria Math"/>
                          </a:rPr>
                          <m:t>𝑌</m:t>
                        </m:r>
                      </m:e>
                    </m:d>
                  </m:oMath>
                </a14:m>
                <a:r>
                  <a:rPr lang="ru-RU" sz="2400" i="1" u="sng" dirty="0"/>
                  <a:t> или ДНФ </a:t>
                </a:r>
                <a14:m>
                  <m:oMath xmlns:m="http://schemas.openxmlformats.org/officeDocument/2006/math">
                    <m:r>
                      <a:rPr lang="ru-RU" sz="2400" i="1" u="sng">
                        <a:latin typeface="Cambria Math"/>
                      </a:rPr>
                      <m:t>𝐴</m:t>
                    </m:r>
                    <m:r>
                      <a:rPr lang="ru-RU" sz="2400" i="1" u="sng">
                        <a:latin typeface="Cambria Math"/>
                      </a:rPr>
                      <m:t>≡</m:t>
                    </m:r>
                    <m:r>
                      <a:rPr lang="ru-RU" sz="2400" i="1" u="sng">
                        <a:latin typeface="Cambria Math"/>
                      </a:rPr>
                      <m:t>𝑋</m:t>
                    </m:r>
                    <m:r>
                      <a:rPr lang="ru-RU" sz="2400" i="1" u="sng">
                        <a:latin typeface="Cambria Math"/>
                      </a:rPr>
                      <m:t>∧</m:t>
                    </m:r>
                    <m:r>
                      <a:rPr lang="ru-RU" sz="2400" i="1" u="sng">
                        <a:latin typeface="Cambria Math"/>
                      </a:rPr>
                      <m:t>𝑌</m:t>
                    </m:r>
                  </m:oMath>
                </a14:m>
                <a:r>
                  <a:rPr lang="ru-RU" sz="2400" i="1" u="sng" dirty="0"/>
                  <a:t>.</a:t>
                </a:r>
                <a:endParaRPr lang="ru-RU" i="1" u="sng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2446009" y="2034348"/>
                <a:ext cx="9570500" cy="4563004"/>
              </a:xfrm>
              <a:blipFill>
                <a:blip r:embed="rId2"/>
                <a:stretch>
                  <a:fillRect l="-955" t="-1070" r="-191" b="-82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39630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07463" y="246686"/>
            <a:ext cx="9699809" cy="1143000"/>
          </a:xfrm>
        </p:spPr>
        <p:txBody>
          <a:bodyPr>
            <a:normAutofit fontScale="90000"/>
          </a:bodyPr>
          <a:lstStyle/>
          <a:p>
            <a:r>
              <a:rPr lang="ru-RU" dirty="0"/>
              <a:t>Конъюнктивная нормальная форма (КНФ)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2660072" y="1412775"/>
                <a:ext cx="9531927" cy="5329769"/>
              </a:xfrm>
            </p:spPr>
            <p:txBody>
              <a:bodyPr>
                <a:noAutofit/>
              </a:bodyPr>
              <a:lstStyle/>
              <a:p>
                <a:r>
                  <a:rPr lang="ru-RU" sz="2800" i="1" dirty="0"/>
                  <a:t>Элементарной дизъюнкцией </a:t>
                </a:r>
                <a14:m>
                  <m:oMath xmlns:m="http://schemas.openxmlformats.org/officeDocument/2006/math">
                    <m:r>
                      <a:rPr lang="ru-RU" sz="2800" i="1">
                        <a:latin typeface="Cambria Math"/>
                      </a:rPr>
                      <m:t>𝑛</m:t>
                    </m:r>
                  </m:oMath>
                </a14:m>
                <a:r>
                  <a:rPr lang="en-US" sz="2800" i="1" dirty="0"/>
                  <a:t> </a:t>
                </a:r>
                <a:r>
                  <a:rPr lang="ru-RU" sz="2800" i="1" dirty="0"/>
                  <a:t>переменных </a:t>
                </a:r>
                <a:r>
                  <a:rPr lang="ru-RU" sz="2800" dirty="0"/>
                  <a:t> называется дизъюнкция переменных или их отрицаний.</a:t>
                </a:r>
              </a:p>
              <a:p>
                <a:pPr marL="0" indent="0">
                  <a:buNone/>
                </a:pPr>
                <a:r>
                  <a:rPr lang="ru-RU" sz="2800" dirty="0"/>
                  <a:t>Примеры: 1) </a:t>
                </a:r>
                <a14:m>
                  <m:oMath xmlns:m="http://schemas.openxmlformats.org/officeDocument/2006/math">
                    <m:r>
                      <a:rPr lang="ru-RU" sz="2800" i="1">
                        <a:latin typeface="Cambria Math"/>
                      </a:rPr>
                      <m:t>𝐴</m:t>
                    </m:r>
                    <m:r>
                      <a:rPr lang="ru-RU" sz="2800">
                        <a:latin typeface="Cambria Math"/>
                      </a:rPr>
                      <m:t>∨</m:t>
                    </m:r>
                    <m:r>
                      <a:rPr lang="ru-RU" sz="2800" i="1">
                        <a:latin typeface="Cambria Math"/>
                      </a:rPr>
                      <m:t>𝐵</m:t>
                    </m:r>
                    <m:r>
                      <a:rPr lang="ru-RU" sz="2800">
                        <a:latin typeface="Cambria Math"/>
                      </a:rPr>
                      <m:t>∨</m:t>
                    </m:r>
                    <m:r>
                      <a:rPr lang="ru-RU" sz="2800" i="1">
                        <a:latin typeface="Cambria Math"/>
                      </a:rPr>
                      <m:t>𝐶</m:t>
                    </m:r>
                  </m:oMath>
                </a14:m>
                <a:r>
                  <a:rPr lang="ru-RU" sz="2800" dirty="0"/>
                  <a:t> , 2) </a:t>
                </a:r>
                <a14:m>
                  <m:oMath xmlns:m="http://schemas.openxmlformats.org/officeDocument/2006/math">
                    <m:r>
                      <a:rPr lang="ru-RU" sz="2800" i="1">
                        <a:latin typeface="Cambria Math"/>
                      </a:rPr>
                      <m:t>𝐴</m:t>
                    </m:r>
                    <m:r>
                      <a:rPr lang="ru-RU" sz="2800">
                        <a:latin typeface="Cambria Math"/>
                      </a:rPr>
                      <m:t>∨</m:t>
                    </m:r>
                    <m:r>
                      <a:rPr lang="ru-RU" sz="2800" i="1">
                        <a:latin typeface="Cambria Math"/>
                      </a:rPr>
                      <m:t>𝐵</m:t>
                    </m:r>
                    <m:r>
                      <a:rPr lang="ru-RU" sz="2800">
                        <a:latin typeface="Cambria Math"/>
                      </a:rPr>
                      <m:t>∨</m:t>
                    </m:r>
                    <m:acc>
                      <m:accPr>
                        <m:chr m:val="̅"/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sz="2800" i="1">
                            <a:latin typeface="Cambria Math"/>
                          </a:rPr>
                          <m:t>𝐴</m:t>
                        </m:r>
                      </m:e>
                    </m:acc>
                    <m:r>
                      <m:rPr>
                        <m:nor/>
                      </m:rPr>
                      <a:rPr lang="ru-RU" sz="2800" i="1"/>
                      <m:t> </m:t>
                    </m:r>
                    <m:r>
                      <a:rPr lang="ru-RU" sz="2800">
                        <a:latin typeface="Cambria Math"/>
                      </a:rPr>
                      <m:t>∨</m:t>
                    </m:r>
                    <m:r>
                      <a:rPr lang="ru-RU" sz="2800" i="1">
                        <a:latin typeface="Cambria Math"/>
                      </a:rPr>
                      <m:t>𝐴</m:t>
                    </m:r>
                  </m:oMath>
                </a14:m>
                <a:r>
                  <a:rPr lang="ru-RU" sz="2800" dirty="0"/>
                  <a:t> .</a:t>
                </a:r>
              </a:p>
              <a:p>
                <a:r>
                  <a:rPr lang="ru-RU" sz="2800" i="1" dirty="0"/>
                  <a:t>Конъюнктивной нормальной формой (КНФ) формулы</a:t>
                </a:r>
                <a:r>
                  <a:rPr lang="ru-RU" sz="2800" dirty="0"/>
                  <a:t> </a:t>
                </a:r>
                <a14:m>
                  <m:oMath xmlns:m="http://schemas.openxmlformats.org/officeDocument/2006/math">
                    <m:r>
                      <a:rPr lang="ru-RU" sz="2800" i="1">
                        <a:latin typeface="Cambria Math"/>
                      </a:rPr>
                      <m:t>𝐴</m:t>
                    </m:r>
                  </m:oMath>
                </a14:m>
                <a:r>
                  <a:rPr lang="ru-RU" sz="2800" i="1" dirty="0"/>
                  <a:t> </a:t>
                </a:r>
                <a:r>
                  <a:rPr lang="ru-RU" sz="2800" dirty="0"/>
                  <a:t>называется равносильная ей формула, представляющая собой конъюнкцию элементарных дизъюнкций. </a:t>
                </a:r>
              </a:p>
              <a:p>
                <a:pPr marL="0" indent="0">
                  <a:buNone/>
                </a:pPr>
                <a:r>
                  <a:rPr lang="ru-RU" sz="2800" dirty="0"/>
                  <a:t>Пример. Для формулы </a:t>
                </a:r>
                <a14:m>
                  <m:oMath xmlns:m="http://schemas.openxmlformats.org/officeDocument/2006/math">
                    <m:r>
                      <a:rPr lang="ru-RU" sz="2800" i="1">
                        <a:latin typeface="Cambria Math"/>
                      </a:rPr>
                      <m:t>𝐴</m:t>
                    </m:r>
                    <m:r>
                      <a:rPr lang="ru-RU" sz="2800">
                        <a:latin typeface="Cambria Math"/>
                      </a:rPr>
                      <m:t>≡</m:t>
                    </m:r>
                    <m:acc>
                      <m:accPr>
                        <m:chr m:val="̅"/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sz="2800" i="1">
                            <a:latin typeface="Cambria Math"/>
                          </a:rPr>
                          <m:t>𝑋</m:t>
                        </m:r>
                        <m:r>
                          <a:rPr lang="ru-RU" sz="2800">
                            <a:latin typeface="Cambria Math"/>
                          </a:rPr>
                          <m:t>∨</m:t>
                        </m:r>
                        <m:r>
                          <a:rPr lang="ru-RU" sz="2800" i="1">
                            <a:latin typeface="Cambria Math"/>
                          </a:rPr>
                          <m:t>𝑌</m:t>
                        </m:r>
                      </m:e>
                    </m:acc>
                    <m:r>
                      <a:rPr lang="ru-RU" sz="2800">
                        <a:latin typeface="Cambria Math"/>
                      </a:rPr>
                      <m:t>↔</m:t>
                    </m:r>
                    <m:r>
                      <a:rPr lang="ru-RU" sz="2800" i="1">
                        <a:latin typeface="Cambria Math"/>
                      </a:rPr>
                      <m:t>𝑋</m:t>
                    </m:r>
                    <m:r>
                      <a:rPr lang="ru-RU" sz="2800">
                        <a:latin typeface="Cambria Math"/>
                      </a:rPr>
                      <m:t>∧</m:t>
                    </m:r>
                    <m:r>
                      <a:rPr lang="ru-RU" sz="2800" i="1">
                        <a:latin typeface="Cambria Math"/>
                      </a:rPr>
                      <m:t>𝑌</m:t>
                    </m:r>
                  </m:oMath>
                </a14:m>
                <a:r>
                  <a:rPr lang="en-US" sz="2800" dirty="0"/>
                  <a:t>, </a:t>
                </a:r>
                <a:r>
                  <a:rPr lang="ru-RU" sz="2800" dirty="0"/>
                  <a:t> произведя равносильные преобразования, получим: КНФ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2800" i="1">
                            <a:latin typeface="Cambria Math"/>
                          </a:rPr>
                          <m:t>𝐴</m:t>
                        </m:r>
                        <m:r>
                          <a:rPr lang="ru-RU" sz="2800">
                            <a:latin typeface="Cambria Math"/>
                          </a:rPr>
                          <m:t>≡(</m:t>
                        </m:r>
                        <m:r>
                          <a:rPr lang="ru-RU" sz="2800" i="1">
                            <a:latin typeface="Cambria Math"/>
                          </a:rPr>
                          <m:t>𝑋</m:t>
                        </m:r>
                        <m:r>
                          <a:rPr lang="ru-RU" sz="2800">
                            <a:latin typeface="Cambria Math"/>
                          </a:rPr>
                          <m:t>∨</m:t>
                        </m:r>
                        <m:r>
                          <a:rPr lang="ru-RU" sz="2800" i="1">
                            <a:latin typeface="Cambria Math"/>
                          </a:rPr>
                          <m:t>𝑌</m:t>
                        </m:r>
                        <m:r>
                          <a:rPr lang="ru-RU" sz="2800">
                            <a:latin typeface="Cambria Math"/>
                          </a:rPr>
                          <m:t>)∧(</m:t>
                        </m:r>
                        <m:acc>
                          <m:accPr>
                            <m:chr m:val="̅"/>
                            <m:ctrlPr>
                              <a:rPr lang="ru-RU" sz="2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ru-RU" sz="2800" i="1">
                                <a:latin typeface="Cambria Math"/>
                              </a:rPr>
                              <m:t>𝑋</m:t>
                            </m:r>
                          </m:e>
                        </m:acc>
                        <m:r>
                          <a:rPr lang="ru-RU" sz="2800">
                            <a:latin typeface="Cambria Math"/>
                          </a:rPr>
                          <m:t>∨</m:t>
                        </m:r>
                        <m:acc>
                          <m:accPr>
                            <m:chr m:val="̅"/>
                            <m:ctrlPr>
                              <a:rPr lang="ru-RU" sz="2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ru-RU" sz="2800" i="1">
                                <a:latin typeface="Cambria Math"/>
                              </a:rPr>
                              <m:t>𝑌</m:t>
                            </m:r>
                          </m:e>
                        </m:acc>
                      </m:e>
                    </m:d>
                  </m:oMath>
                </a14:m>
                <a:r>
                  <a:rPr lang="en-US" sz="2800" dirty="0"/>
                  <a:t>.</a:t>
                </a:r>
                <a:endParaRPr lang="ru-RU" sz="28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2660072" y="1412775"/>
                <a:ext cx="9531927" cy="5329769"/>
              </a:xfrm>
              <a:blipFill>
                <a:blip r:embed="rId2"/>
                <a:stretch>
                  <a:fillRect l="-1279" t="-1259" r="-1918" b="-22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8483507"/>
      </p:ext>
    </p:extLst>
  </p:cSld>
  <p:clrMapOvr>
    <a:masterClrMapping/>
  </p:clrMapOvr>
</p:sld>
</file>

<file path=ppt/theme/theme1.xml><?xml version="1.0" encoding="utf-8"?>
<a:theme xmlns:a="http://schemas.openxmlformats.org/drawingml/2006/main" name="Легкий дым">
  <a:themeElements>
    <a:clrScheme name="Легкий дым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Легкий дым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Легкий дым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1_Легкий дым">
  <a:themeElements>
    <a:clrScheme name="Легкий дым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Легкий дым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Легкий дым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1421</TotalTime>
  <Words>1875</Words>
  <Application>Microsoft Office PowerPoint</Application>
  <PresentationFormat>Широкоэкранный</PresentationFormat>
  <Paragraphs>255</Paragraphs>
  <Slides>22</Slides>
  <Notes>0</Notes>
  <HiddenSlides>4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22</vt:i4>
      </vt:variant>
    </vt:vector>
  </HeadingPairs>
  <TitlesOfParts>
    <vt:vector size="34" baseType="lpstr">
      <vt:lpstr>Arial</vt:lpstr>
      <vt:lpstr>Calibri</vt:lpstr>
      <vt:lpstr>Calibri Light</vt:lpstr>
      <vt:lpstr>Cambria</vt:lpstr>
      <vt:lpstr>Cambria Math</vt:lpstr>
      <vt:lpstr>Century Gothic</vt:lpstr>
      <vt:lpstr>Perpetua</vt:lpstr>
      <vt:lpstr>Times New Roman</vt:lpstr>
      <vt:lpstr>Wingdings 2</vt:lpstr>
      <vt:lpstr>Wingdings 3</vt:lpstr>
      <vt:lpstr>Легкий дым</vt:lpstr>
      <vt:lpstr>1_Легкий дым</vt:lpstr>
      <vt:lpstr>Лекция 1</vt:lpstr>
      <vt:lpstr>Презентация PowerPoint</vt:lpstr>
      <vt:lpstr>Презентация PowerPoint</vt:lpstr>
      <vt:lpstr>Презентация PowerPoint</vt:lpstr>
      <vt:lpstr>Основные понятия алгебры высказываний</vt:lpstr>
      <vt:lpstr>Ответы: </vt:lpstr>
      <vt:lpstr>Логические операции. </vt:lpstr>
      <vt:lpstr>А- посылка или условие, а В следствие или заключение</vt:lpstr>
      <vt:lpstr>Операции над высказываниями</vt:lpstr>
      <vt:lpstr>Ответы:</vt:lpstr>
      <vt:lpstr>Формулы высказываний</vt:lpstr>
      <vt:lpstr>Формулы алгебры высказываний</vt:lpstr>
      <vt:lpstr>Ответы:</vt:lpstr>
      <vt:lpstr>Виды формул</vt:lpstr>
      <vt:lpstr>Виды формул</vt:lpstr>
      <vt:lpstr>Законы логики высказываний</vt:lpstr>
      <vt:lpstr>Законы логики высказываний</vt:lpstr>
      <vt:lpstr>Формулы алгебры высказываний</vt:lpstr>
      <vt:lpstr>Ответы:</vt:lpstr>
      <vt:lpstr>Закон двойственности</vt:lpstr>
      <vt:lpstr>Дизъюнктивная нормальная форма (ДНФ)</vt:lpstr>
      <vt:lpstr>Конъюнктивная нормальная форма (КНФ)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1</dc:title>
  <dc:creator>Матвей Прытков</dc:creator>
  <cp:lastModifiedBy>Матвей Прытков</cp:lastModifiedBy>
  <cp:revision>16</cp:revision>
  <dcterms:created xsi:type="dcterms:W3CDTF">2023-07-14T07:29:41Z</dcterms:created>
  <dcterms:modified xsi:type="dcterms:W3CDTF">2024-05-01T08:49:43Z</dcterms:modified>
</cp:coreProperties>
</file>