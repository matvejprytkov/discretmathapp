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3" r:id="rId9"/>
    <p:sldId id="264" r:id="rId10"/>
    <p:sldId id="265" r:id="rId11"/>
    <p:sldId id="275" r:id="rId12"/>
    <p:sldId id="266" r:id="rId13"/>
    <p:sldId id="274" r:id="rId14"/>
    <p:sldId id="27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23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05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518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810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80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338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47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612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80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34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9750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135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7666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5827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114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42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B5073-6582-412B-87C8-73C8891F54F3}" type="datetimeFigureOut">
              <a:rPr lang="ru-RU" smtClean="0"/>
              <a:pPr/>
              <a:t>01.05.2024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7CC2792-3FC8-4BBA-A088-FA6BFD8BC92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194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123728" y="1022304"/>
            <a:ext cx="6600451" cy="2982760"/>
          </a:xfrm>
        </p:spPr>
        <p:txBody>
          <a:bodyPr>
            <a:normAutofit fontScale="90000"/>
          </a:bodyPr>
          <a:lstStyle/>
          <a:p>
            <a:r>
              <a:rPr lang="ru-RU" dirty="0"/>
              <a:t>Лекция 2. Предикаты. Операции над предикатами</a:t>
            </a:r>
          </a:p>
        </p:txBody>
      </p:sp>
    </p:spTree>
    <p:extLst>
      <p:ext uri="{BB962C8B-B14F-4D97-AF65-F5344CB8AC3E}">
        <p14:creationId xmlns:p14="http://schemas.microsoft.com/office/powerpoint/2010/main" val="326224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Предикаты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51720" y="1540189"/>
            <a:ext cx="6591985" cy="3777622"/>
          </a:xfrm>
        </p:spPr>
        <p:txBody>
          <a:bodyPr>
            <a:normAutofit/>
          </a:bodyPr>
          <a:lstStyle/>
          <a:p>
            <a:pPr algn="just"/>
            <a:r>
              <a:rPr lang="ru-RU" sz="2800" dirty="0"/>
              <a:t>Определение. </a:t>
            </a:r>
          </a:p>
          <a:p>
            <a:pPr marL="0" indent="0" algn="just">
              <a:buNone/>
            </a:pPr>
            <a:r>
              <a:rPr lang="ru-RU" sz="2800" dirty="0"/>
              <a:t>Одноместным предикатом, определенным на множестве М, называется предложение с переменной, которое превращается в высказывание при замене этой переменной на ее значения из множества М.</a:t>
            </a:r>
          </a:p>
        </p:txBody>
      </p:sp>
    </p:spTree>
    <p:extLst>
      <p:ext uri="{BB962C8B-B14F-4D97-AF65-F5344CB8AC3E}">
        <p14:creationId xmlns:p14="http://schemas.microsoft.com/office/powerpoint/2010/main" val="309506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Примеры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63688" y="1484784"/>
            <a:ext cx="7380312" cy="5040560"/>
          </a:xfrm>
        </p:spPr>
        <p:txBody>
          <a:bodyPr>
            <a:normAutofit fontScale="92500"/>
          </a:bodyPr>
          <a:lstStyle/>
          <a:p>
            <a:r>
              <a:rPr lang="ru-RU" sz="2400" i="1" dirty="0"/>
              <a:t>Следующие предложения </a:t>
            </a:r>
            <a:r>
              <a:rPr lang="ru-RU" sz="2400" b="1" i="1" dirty="0"/>
              <a:t>являются</a:t>
            </a:r>
            <a:r>
              <a:rPr lang="ru-RU" sz="2400" i="1" dirty="0"/>
              <a:t> одноместными предикатами, определенными на множестве М:</a:t>
            </a:r>
          </a:p>
          <a:p>
            <a:r>
              <a:rPr lang="en-US" sz="2400" dirty="0"/>
              <a:t>P(x): x+2&gt;3</a:t>
            </a:r>
            <a:r>
              <a:rPr lang="ru-RU" sz="2400" dirty="0"/>
              <a:t> </a:t>
            </a:r>
            <a:r>
              <a:rPr lang="ru-RU" sz="2800" dirty="0"/>
              <a:t>М </a:t>
            </a:r>
            <a:r>
              <a:rPr lang="ru-RU" sz="2400" dirty="0"/>
              <a:t>- множество действительных чисел</a:t>
            </a:r>
          </a:p>
          <a:p>
            <a:r>
              <a:rPr lang="en-US" sz="2400" dirty="0"/>
              <a:t>Q(x): </a:t>
            </a:r>
            <a:r>
              <a:rPr lang="ru-RU" sz="2400" dirty="0"/>
              <a:t>Вектор х имеет длину 1, М – множество всех векторов некоторой плоскости.</a:t>
            </a:r>
          </a:p>
          <a:p>
            <a:r>
              <a:rPr lang="en-US" sz="2400" dirty="0"/>
              <a:t>R(x):</a:t>
            </a:r>
            <a:r>
              <a:rPr lang="ru-RU" sz="2400" dirty="0"/>
              <a:t> у родился в </a:t>
            </a:r>
            <a:r>
              <a:rPr lang="en-US" sz="2400" dirty="0"/>
              <a:t>XIX </a:t>
            </a:r>
            <a:r>
              <a:rPr lang="ru-RU" sz="2400" dirty="0"/>
              <a:t>веке, М – множество всех людей.</a:t>
            </a:r>
          </a:p>
          <a:p>
            <a:r>
              <a:rPr lang="ru-RU" sz="2400" i="1" dirty="0"/>
              <a:t>Следующие предложения </a:t>
            </a:r>
            <a:r>
              <a:rPr lang="ru-RU" sz="2400" b="1" i="1" dirty="0"/>
              <a:t>не являются </a:t>
            </a:r>
            <a:r>
              <a:rPr lang="ru-RU" sz="2400" i="1" dirty="0"/>
              <a:t>одноместными предикатами:</a:t>
            </a:r>
          </a:p>
          <a:p>
            <a:r>
              <a:rPr lang="ru-RU" sz="2400" dirty="0"/>
              <a:t>2</a:t>
            </a:r>
            <a:r>
              <a:rPr lang="en-US" sz="2400" dirty="0"/>
              <a:t>&gt;3</a:t>
            </a:r>
          </a:p>
          <a:p>
            <a:r>
              <a:rPr lang="ru-RU" sz="2400" dirty="0"/>
              <a:t>Прямая х параллельна прямой у.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14546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8578" y="116632"/>
            <a:ext cx="6589199" cy="1280890"/>
          </a:xfrm>
        </p:spPr>
        <p:txBody>
          <a:bodyPr/>
          <a:lstStyle/>
          <a:p>
            <a:r>
              <a:rPr lang="en-US" dirty="0"/>
              <a:t>n- </a:t>
            </a:r>
            <a:r>
              <a:rPr lang="ru-RU" dirty="0"/>
              <a:t>местный предикат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42415" y="1196752"/>
            <a:ext cx="6950065" cy="554461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n</a:t>
            </a:r>
            <a:r>
              <a:rPr lang="ru-RU" sz="2400" dirty="0"/>
              <a:t>-местным предикатом, называется предложение  Р(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,x</a:t>
            </a:r>
            <a:r>
              <a:rPr lang="en-US" sz="2400" baseline="-25000" dirty="0"/>
              <a:t>2</a:t>
            </a:r>
            <a:r>
              <a:rPr lang="en-US" sz="2400" dirty="0"/>
              <a:t>,…,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ru-RU" sz="2400" dirty="0"/>
              <a:t>)  с    переменными, которое превращается в высказывание при замене переменных 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,x</a:t>
            </a:r>
            <a:r>
              <a:rPr lang="en-US" sz="2400" baseline="-25000" dirty="0"/>
              <a:t>2</a:t>
            </a:r>
            <a:r>
              <a:rPr lang="en-US" sz="2400" dirty="0"/>
              <a:t>,…,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ru-RU" sz="2400" dirty="0"/>
              <a:t> на их значения  из множеств  </a:t>
            </a:r>
            <a:r>
              <a:rPr lang="en-US" sz="2400" dirty="0"/>
              <a:t>M</a:t>
            </a:r>
            <a:r>
              <a:rPr lang="en-US" sz="2400" baseline="-25000" dirty="0"/>
              <a:t>1</a:t>
            </a:r>
            <a:r>
              <a:rPr lang="en-US" sz="2400" dirty="0"/>
              <a:t>,M</a:t>
            </a:r>
            <a:r>
              <a:rPr lang="en-US" sz="2400" baseline="-25000" dirty="0"/>
              <a:t>2</a:t>
            </a:r>
            <a:r>
              <a:rPr lang="en-US" sz="2400" dirty="0"/>
              <a:t>,…,</a:t>
            </a:r>
            <a:r>
              <a:rPr lang="en-US" sz="2400" dirty="0" err="1"/>
              <a:t>M</a:t>
            </a:r>
            <a:r>
              <a:rPr lang="en-US" sz="2400" baseline="-25000" dirty="0" err="1"/>
              <a:t>n</a:t>
            </a:r>
            <a:endParaRPr lang="ru-RU" sz="2400" baseline="-25000" dirty="0"/>
          </a:p>
          <a:p>
            <a:pPr marL="0" indent="0">
              <a:buNone/>
            </a:pPr>
            <a:r>
              <a:rPr lang="ru-RU" sz="2400" dirty="0"/>
              <a:t>Пусть М –множество всех  строк  ( 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,a</a:t>
            </a:r>
            <a:r>
              <a:rPr lang="en-US" sz="2400" baseline="-25000" dirty="0"/>
              <a:t>2</a:t>
            </a:r>
            <a:r>
              <a:rPr lang="en-US" sz="2400" dirty="0"/>
              <a:t>,…,a</a:t>
            </a:r>
            <a:r>
              <a:rPr lang="en-US" sz="2400" baseline="-25000" dirty="0"/>
              <a:t>n</a:t>
            </a:r>
            <a:r>
              <a:rPr lang="ru-RU" sz="2400" baseline="-25000" dirty="0"/>
              <a:t> </a:t>
            </a:r>
            <a:r>
              <a:rPr lang="ru-RU" sz="2400" dirty="0"/>
              <a:t>),    которые используются для замены переменных 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,x</a:t>
            </a:r>
            <a:r>
              <a:rPr lang="en-US" sz="2400" baseline="-25000" dirty="0"/>
              <a:t>2</a:t>
            </a:r>
            <a:r>
              <a:rPr lang="en-US" sz="2400" dirty="0"/>
              <a:t>,…,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r>
              <a:rPr lang="ru-RU" sz="2400" dirty="0"/>
              <a:t>на 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,a</a:t>
            </a:r>
            <a:r>
              <a:rPr lang="en-US" sz="2400" baseline="-25000" dirty="0"/>
              <a:t>2</a:t>
            </a:r>
            <a:r>
              <a:rPr lang="en-US" sz="2400" dirty="0"/>
              <a:t>,…,a</a:t>
            </a:r>
            <a:r>
              <a:rPr lang="en-US" sz="2400" baseline="-25000" dirty="0"/>
              <a:t>n</a:t>
            </a:r>
            <a:r>
              <a:rPr lang="ru-RU" sz="2400" baseline="-25000" dirty="0"/>
              <a:t> </a:t>
            </a:r>
            <a:r>
              <a:rPr lang="en-US" sz="2400" baseline="-25000" dirty="0"/>
              <a:t>.</a:t>
            </a:r>
            <a:endParaRPr lang="ru-RU" sz="2400" dirty="0"/>
          </a:p>
          <a:p>
            <a:r>
              <a:rPr lang="ru-RU" sz="2400" dirty="0"/>
              <a:t> Множество  М называется </a:t>
            </a:r>
            <a:r>
              <a:rPr lang="ru-RU" sz="2400" i="1" dirty="0"/>
              <a:t> областью определения</a:t>
            </a:r>
            <a:r>
              <a:rPr lang="ru-RU" sz="2400" dirty="0"/>
              <a:t> предиката  Р(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,x</a:t>
            </a:r>
            <a:r>
              <a:rPr lang="en-US" sz="2400" baseline="-25000" dirty="0"/>
              <a:t>2</a:t>
            </a:r>
            <a:r>
              <a:rPr lang="en-US" sz="2400" dirty="0"/>
              <a:t>,…,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ru-RU" sz="2400" dirty="0"/>
              <a:t>) </a:t>
            </a:r>
          </a:p>
          <a:p>
            <a:r>
              <a:rPr lang="ru-RU" sz="2400" i="1" dirty="0"/>
              <a:t>Областью истинности</a:t>
            </a:r>
            <a:r>
              <a:rPr lang="ru-RU" sz="2400" dirty="0"/>
              <a:t> предиката Р(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en-US" sz="2400" dirty="0"/>
              <a:t>,x</a:t>
            </a:r>
            <a:r>
              <a:rPr lang="en-US" sz="2400" baseline="-25000" dirty="0"/>
              <a:t>2</a:t>
            </a:r>
            <a:r>
              <a:rPr lang="en-US" sz="2400" dirty="0"/>
              <a:t>,…,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ru-RU" sz="2400" dirty="0"/>
              <a:t>)  называется множество  всех строк (( 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en-US" sz="2400" dirty="0"/>
              <a:t>,a</a:t>
            </a:r>
            <a:r>
              <a:rPr lang="en-US" sz="2400" baseline="-25000" dirty="0"/>
              <a:t>2</a:t>
            </a:r>
            <a:r>
              <a:rPr lang="en-US" sz="2400" dirty="0"/>
              <a:t>,…,a</a:t>
            </a:r>
            <a:r>
              <a:rPr lang="en-US" sz="2400" baseline="-25000" dirty="0"/>
              <a:t>n</a:t>
            </a:r>
            <a:r>
              <a:rPr lang="ru-RU" sz="2400" baseline="-25000" dirty="0"/>
              <a:t> </a:t>
            </a:r>
            <a:r>
              <a:rPr lang="ru-RU" sz="2400" dirty="0"/>
              <a:t>) из М таких, что при замене 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  <a:r>
              <a:rPr lang="ru-RU" sz="2400" dirty="0"/>
              <a:t>на </a:t>
            </a:r>
            <a:r>
              <a:rPr lang="en-US" sz="2400" dirty="0"/>
              <a:t>a</a:t>
            </a:r>
            <a:r>
              <a:rPr lang="en-US" sz="2400" baseline="-25000" dirty="0"/>
              <a:t>1</a:t>
            </a:r>
            <a:r>
              <a:rPr lang="ru-RU" sz="2400" dirty="0"/>
              <a:t>,  </a:t>
            </a:r>
            <a:r>
              <a:rPr lang="en-US" sz="2400" dirty="0"/>
              <a:t>x</a:t>
            </a:r>
            <a:r>
              <a:rPr lang="en-US" sz="2400" baseline="-25000" dirty="0"/>
              <a:t>2</a:t>
            </a:r>
            <a:r>
              <a:rPr lang="ru-RU" sz="2400" dirty="0"/>
              <a:t>на </a:t>
            </a:r>
            <a:r>
              <a:rPr lang="en-US" sz="2400" dirty="0"/>
              <a:t>a</a:t>
            </a:r>
            <a:r>
              <a:rPr lang="en-US" sz="2400" baseline="-25000" dirty="0"/>
              <a:t>2</a:t>
            </a:r>
            <a:r>
              <a:rPr lang="ru-RU" sz="2400" dirty="0"/>
              <a:t> ,…,   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ru-RU" sz="2400" dirty="0"/>
              <a:t> на </a:t>
            </a:r>
            <a:r>
              <a:rPr lang="en-US" sz="2400" dirty="0"/>
              <a:t>a</a:t>
            </a:r>
            <a:r>
              <a:rPr lang="en-US" sz="2400" baseline="-25000" dirty="0"/>
              <a:t>n </a:t>
            </a:r>
            <a:r>
              <a:rPr lang="ru-RU" sz="2400" dirty="0"/>
              <a:t>получается истинное высказывание.     </a:t>
            </a:r>
          </a:p>
        </p:txBody>
      </p:sp>
    </p:spTree>
    <p:extLst>
      <p:ext uri="{BB962C8B-B14F-4D97-AF65-F5344CB8AC3E}">
        <p14:creationId xmlns:p14="http://schemas.microsoft.com/office/powerpoint/2010/main" val="3582995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15663" y="620688"/>
            <a:ext cx="2448272" cy="996280"/>
          </a:xfrm>
        </p:spPr>
        <p:txBody>
          <a:bodyPr/>
          <a:lstStyle/>
          <a:p>
            <a:r>
              <a:rPr lang="ru-RU" dirty="0"/>
              <a:t>Задача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07704" y="1484784"/>
                <a:ext cx="7079435" cy="435368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sz="2400" dirty="0"/>
                  <a:t>1.На множестве М= </a:t>
                </a:r>
                <a:r>
                  <a:rPr lang="en-US" sz="2400" dirty="0"/>
                  <a:t>{1</a:t>
                </a:r>
                <a:r>
                  <a:rPr lang="ru-RU" sz="2400" dirty="0"/>
                  <a:t>,2,3,4,5,6,7,8,9</a:t>
                </a:r>
                <a:r>
                  <a:rPr lang="en-US" sz="2400" dirty="0"/>
                  <a:t>} </a:t>
                </a:r>
                <a:r>
                  <a:rPr lang="ru-RU" sz="2400" dirty="0"/>
                  <a:t>рассмотрим одноместный предикат </a:t>
                </a:r>
                <a:r>
                  <a:rPr lang="ru-RU" sz="2400" i="1" dirty="0"/>
                  <a:t>Р(х) </a:t>
                </a:r>
                <a:r>
                  <a:rPr lang="ru-RU" sz="2400" dirty="0"/>
                  <a:t>где </a:t>
                </a:r>
                <a:r>
                  <a:rPr lang="ru-RU" sz="2400" i="1" dirty="0"/>
                  <a:t>х</a:t>
                </a:r>
                <a:r>
                  <a:rPr lang="ru-RU" sz="2400" dirty="0"/>
                  <a:t>- простое число. Найти А – область истинности предиката </a:t>
                </a:r>
                <a:r>
                  <a:rPr lang="ru-RU" sz="2400" i="1" dirty="0"/>
                  <a:t>Р(х)</a:t>
                </a:r>
              </a:p>
              <a:p>
                <a:r>
                  <a:rPr lang="ru-RU" sz="2400" dirty="0"/>
                  <a:t>2.  Пусть </a:t>
                </a:r>
                <a:r>
                  <a:rPr lang="en-US" sz="2400" dirty="0"/>
                  <a:t>x, y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/>
                  <a:t>R.</a:t>
                </a:r>
                <a:r>
                  <a:rPr lang="ru-RU" sz="2400" dirty="0"/>
                  <a:t> </a:t>
                </a:r>
                <a:r>
                  <a:rPr lang="en-US" sz="2400" i="1" dirty="0"/>
                  <a:t>G(x</a:t>
                </a:r>
                <a:r>
                  <a:rPr lang="ru-RU" sz="2400" i="1" dirty="0"/>
                  <a:t>,</a:t>
                </a:r>
                <a:r>
                  <a:rPr lang="en-US" sz="2400" i="1" dirty="0"/>
                  <a:t>y</a:t>
                </a:r>
                <a:r>
                  <a:rPr lang="ru-RU" sz="2400" i="1" dirty="0"/>
                  <a:t>): х</a:t>
                </a:r>
                <a:r>
                  <a:rPr lang="en-US" sz="2400" i="1" dirty="0"/>
                  <a:t>&gt;</a:t>
                </a:r>
                <a:r>
                  <a:rPr lang="ru-RU" sz="2400" i="1" dirty="0"/>
                  <a:t>у</a:t>
                </a:r>
                <a:r>
                  <a:rPr lang="en-US" sz="2400" i="1" dirty="0"/>
                  <a:t>. </a:t>
                </a:r>
                <a:r>
                  <a:rPr lang="ru-RU" sz="2400" dirty="0"/>
                  <a:t>Найти А – область истинности двуместного предиката </a:t>
                </a:r>
                <a:r>
                  <a:rPr lang="en-US" sz="2400" i="1" dirty="0"/>
                  <a:t>G</a:t>
                </a:r>
                <a:r>
                  <a:rPr lang="ru-RU" sz="2400" i="1" dirty="0"/>
                  <a:t>(х</a:t>
                </a:r>
                <a:r>
                  <a:rPr lang="en-US" sz="2400" i="1" dirty="0"/>
                  <a:t>, y</a:t>
                </a:r>
                <a:r>
                  <a:rPr lang="ru-RU" sz="2400" i="1" dirty="0"/>
                  <a:t>)</a:t>
                </a:r>
                <a:r>
                  <a:rPr lang="en-US" sz="2400" i="1" dirty="0"/>
                  <a:t>.</a:t>
                </a:r>
                <a:endParaRPr lang="ru-RU" sz="2400" i="1" dirty="0"/>
              </a:p>
              <a:p>
                <a:r>
                  <a:rPr lang="en-US" sz="2400" dirty="0"/>
                  <a:t>3.</a:t>
                </a:r>
                <a:r>
                  <a:rPr lang="ru-RU" sz="2400" dirty="0"/>
                  <a:t> Изобразите на координатной плоскости множество истинности предиката </a:t>
                </a:r>
                <a:r>
                  <a:rPr lang="en-US" sz="2400" dirty="0"/>
                  <a:t>Q(x, y): </a:t>
                </a:r>
                <a:r>
                  <a:rPr lang="en-US" sz="2800" dirty="0"/>
                  <a:t>x*y</a:t>
                </a:r>
                <a:r>
                  <a:rPr lang="en-US" sz="2400" dirty="0"/>
                  <a:t>≥0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4.</a:t>
                </a:r>
                <a:r>
                  <a:rPr lang="ru-RU" sz="2400" dirty="0">
                    <a:solidFill>
                      <a:schemeClr val="tx1"/>
                    </a:solidFill>
                  </a:rPr>
                  <a:t> </a:t>
                </a:r>
                <a:r>
                  <a:rPr lang="ru-RU" sz="2400" dirty="0"/>
                  <a:t>Задайте множество М значений предметной переменной так, чтобы на этом множестве второй предикат был бы следствием первого. </a:t>
                </a:r>
                <a:r>
                  <a:rPr lang="ru-RU" sz="2400" dirty="0">
                    <a:solidFill>
                      <a:srgbClr val="FF0000"/>
                    </a:solidFill>
                  </a:rPr>
                  <a:t>стр. 181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7704" y="1484784"/>
                <a:ext cx="7079435" cy="4353686"/>
              </a:xfrm>
              <a:blipFill>
                <a:blip r:embed="rId2"/>
                <a:stretch>
                  <a:fillRect l="-1034" t="-2521" r="-6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369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274638"/>
            <a:ext cx="7618040" cy="778098"/>
          </a:xfrm>
        </p:spPr>
        <p:txBody>
          <a:bodyPr/>
          <a:lstStyle/>
          <a:p>
            <a:r>
              <a:rPr lang="ru-RU" dirty="0"/>
              <a:t>Операции над предикатами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38786" y="1052736"/>
                <a:ext cx="7113984" cy="538661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ru-RU" sz="2600" dirty="0"/>
                  <a:t>Построение сложных предикатов из простых с помощью логических знаков</a:t>
                </a:r>
              </a:p>
              <a:p>
                <a:pPr marL="0" indent="0" algn="ctr">
                  <a:buNone/>
                </a:pPr>
                <a:r>
                  <a:rPr lang="ru-RU" sz="2600" b="0" dirty="0"/>
                  <a:t>¯,  </a:t>
                </a:r>
                <a14:m>
                  <m:oMath xmlns:m="http://schemas.openxmlformats.org/officeDocument/2006/math">
                    <m:r>
                      <a:rPr lang="ru-RU" sz="2600" b="0" i="1" smtClean="0">
                        <a:latin typeface="Cambria Math"/>
                      </a:rPr>
                      <m:t>∨,  ∧,  ⟶,  ⟷</m:t>
                    </m:r>
                  </m:oMath>
                </a14:m>
                <a:endParaRPr lang="ru-RU" sz="2600" i="1" dirty="0"/>
              </a:p>
              <a:p>
                <a:r>
                  <a:rPr lang="ru-RU" sz="2600" i="1" dirty="0"/>
                  <a:t>Отрицание  предиката</a:t>
                </a:r>
              </a:p>
              <a:p>
                <a:pPr marL="0" indent="0">
                  <a:buNone/>
                </a:pPr>
                <a:r>
                  <a:rPr lang="ru-RU" sz="2600" dirty="0"/>
                  <a:t>Пусть </a:t>
                </a:r>
                <a:r>
                  <a:rPr lang="en-US" sz="2600" dirty="0"/>
                  <a:t>P(x) </a:t>
                </a:r>
                <a:r>
                  <a:rPr lang="ru-RU" sz="2600" dirty="0"/>
                  <a:t>одноместный предикат, определенный на множестве М. Предикат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sz="26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/>
                          </a:rPr>
                          <m:t>P</m:t>
                        </m:r>
                      </m:e>
                    </m:bar>
                  </m:oMath>
                </a14:m>
                <a:r>
                  <a:rPr lang="en-US" sz="2600" dirty="0"/>
                  <a:t>(x)</a:t>
                </a:r>
                <a:r>
                  <a:rPr lang="ru-RU" sz="2600" dirty="0"/>
                  <a:t> принимает значение «ложь» для тех и только тех значений х, для которых </a:t>
                </a:r>
                <a:r>
                  <a:rPr lang="en-US" sz="2600" dirty="0"/>
                  <a:t>P(x)</a:t>
                </a:r>
                <a:r>
                  <a:rPr lang="ru-RU" sz="2600" dirty="0"/>
                  <a:t> имеет значение «истина».</a:t>
                </a:r>
              </a:p>
              <a:p>
                <a:r>
                  <a:rPr lang="ru-RU" sz="2600" i="1" dirty="0"/>
                  <a:t>Конъюнкция предикатов</a:t>
                </a:r>
                <a:endParaRPr lang="en-US" sz="2600" i="1" dirty="0"/>
              </a:p>
              <a:p>
                <a:pPr marL="0" indent="0">
                  <a:buNone/>
                </a:pPr>
                <a:r>
                  <a:rPr lang="ru-RU" sz="2600" dirty="0"/>
                  <a:t>Предикат </a:t>
                </a:r>
                <a:r>
                  <a:rPr lang="en-US" sz="2600" dirty="0"/>
                  <a:t>P(x)</a:t>
                </a:r>
                <a:r>
                  <a:rPr lang="ru-RU" sz="2600" dirty="0"/>
                  <a:t> </a:t>
                </a:r>
                <a14:m>
                  <m:oMath xmlns:m="http://schemas.openxmlformats.org/officeDocument/2006/math">
                    <m:r>
                      <a:rPr lang="ru-RU" sz="2600" i="0">
                        <a:latin typeface="Cambria Math"/>
                      </a:rPr>
                      <m:t>∧</m:t>
                    </m:r>
                  </m:oMath>
                </a14:m>
                <a:r>
                  <a:rPr lang="en-US" sz="2600" dirty="0"/>
                  <a:t>Q(x) </a:t>
                </a:r>
                <a:r>
                  <a:rPr lang="ru-RU" sz="2600" dirty="0"/>
                  <a:t>принимает значение «истина» для тех и только тех значений х , для которых как </a:t>
                </a:r>
                <a:r>
                  <a:rPr lang="en-US" sz="2600" dirty="0"/>
                  <a:t>P(x</a:t>
                </a:r>
                <a:r>
                  <a:rPr lang="ru-RU" sz="2600" dirty="0"/>
                  <a:t>), так и </a:t>
                </a:r>
                <a:r>
                  <a:rPr lang="en-US" sz="2600" dirty="0"/>
                  <a:t>Q(x) </a:t>
                </a:r>
                <a:r>
                  <a:rPr lang="ru-RU" sz="2600" dirty="0"/>
                  <a:t> имеет значение «истина»</a:t>
                </a:r>
              </a:p>
              <a:p>
                <a:pPr marL="0" indent="0">
                  <a:buNone/>
                </a:pPr>
                <a:r>
                  <a:rPr lang="ru-RU" sz="2600" dirty="0"/>
                  <a:t>Самостоятельно определить:</a:t>
                </a:r>
              </a:p>
              <a:p>
                <a:r>
                  <a:rPr lang="ru-RU" sz="2600" i="1" dirty="0"/>
                  <a:t>Дизъюнкция предикатов</a:t>
                </a:r>
              </a:p>
              <a:p>
                <a:r>
                  <a:rPr lang="ru-RU" sz="2600" i="1" dirty="0"/>
                  <a:t>Импликация предикатов</a:t>
                </a:r>
              </a:p>
              <a:p>
                <a:r>
                  <a:rPr lang="ru-RU" sz="2600" i="1" dirty="0" err="1"/>
                  <a:t>Эквиваленция</a:t>
                </a:r>
                <a:r>
                  <a:rPr lang="ru-RU" sz="2600" i="1" dirty="0"/>
                  <a:t> предикатов</a:t>
                </a:r>
                <a:endParaRPr lang="ru-RU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8786" y="1052736"/>
                <a:ext cx="7113984" cy="5386610"/>
              </a:xfrm>
              <a:blipFill>
                <a:blip r:embed="rId2"/>
                <a:stretch>
                  <a:fillRect l="-857" t="-18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79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42415" y="1412776"/>
                <a:ext cx="7201585" cy="449844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000" dirty="0"/>
                  <a:t>Рассмотрим одноместные  предикаты</a:t>
                </a:r>
              </a:p>
              <a:p>
                <a:r>
                  <a:rPr lang="ru-RU" sz="2000" dirty="0"/>
                  <a:t>а)</a:t>
                </a:r>
                <a:r>
                  <a:rPr lang="en-US" sz="2000" dirty="0"/>
                  <a:t> P(x) : x</a:t>
                </a:r>
                <a:r>
                  <a:rPr lang="en-US" sz="2000" baseline="30000" dirty="0"/>
                  <a:t>2 </a:t>
                </a:r>
                <a:r>
                  <a:rPr lang="en-US" sz="2000" dirty="0"/>
                  <a:t>&gt;5, A(x) : x&lt;7 </a:t>
                </a:r>
                <a:r>
                  <a:rPr lang="ru-RU" sz="2000" dirty="0"/>
                  <a:t> и предикат</a:t>
                </a:r>
                <a:r>
                  <a:rPr lang="en-US" sz="2000" dirty="0"/>
                  <a:t> R(x)</a:t>
                </a:r>
                <a:r>
                  <a:rPr lang="ru-RU" sz="2000" dirty="0"/>
                  <a:t>: </a:t>
                </a:r>
              </a:p>
              <a:p>
                <a:pPr marL="0" indent="0">
                  <a:buNone/>
                </a:pPr>
                <a:r>
                  <a:rPr lang="ru-RU" sz="2000" dirty="0"/>
                  <a:t>«х – простое число», определенные на множестве натуральных чисел.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dirty="0"/>
                  <a:t>Найти значение предиката (</a:t>
                </a:r>
                <a:r>
                  <a:rPr lang="en-US" sz="2000" dirty="0"/>
                  <a:t>P(x)</a:t>
                </a:r>
                <a14:m>
                  <m:oMath xmlns:m="http://schemas.openxmlformats.org/officeDocument/2006/math">
                    <m:r>
                      <a:rPr lang="ru-RU" sz="2000">
                        <a:latin typeface="Cambria Math"/>
                      </a:rPr>
                      <m:t>∧</m:t>
                    </m:r>
                    <m:bar>
                      <m:barPr>
                        <m:pos m:val="top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 smtClean="0">
                            <a:latin typeface="Cambria Math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000" dirty="0"/>
                  <a:t>(x)</a:t>
                </a:r>
                <a:r>
                  <a:rPr lang="ru-RU" sz="2000" dirty="0"/>
                  <a:t>)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2000" dirty="0"/>
                  <a:t>   R(x) </a:t>
                </a:r>
                <a:r>
                  <a:rPr lang="ru-RU" sz="2000" dirty="0"/>
                  <a:t>при х=3.</a:t>
                </a:r>
                <a:endParaRPr lang="ru-RU" sz="2000" baseline="30000" dirty="0"/>
              </a:p>
              <a:p>
                <a:r>
                  <a:rPr lang="ru-RU" sz="2000" dirty="0"/>
                  <a:t>б)</a:t>
                </a:r>
                <a:r>
                  <a:rPr lang="en-US" sz="2000" dirty="0"/>
                  <a:t> P(x): x&gt;</a:t>
                </a:r>
                <a:r>
                  <a:rPr lang="ru-RU" sz="2000" dirty="0"/>
                  <a:t>2</a:t>
                </a:r>
                <a:r>
                  <a:rPr lang="en-US" sz="2000" dirty="0"/>
                  <a:t>, Q(x) : x – </a:t>
                </a:r>
                <a:r>
                  <a:rPr lang="ru-RU" sz="2000" dirty="0"/>
                  <a:t>«четное число»,</a:t>
                </a:r>
                <a:r>
                  <a:rPr lang="en-US" sz="2000" dirty="0"/>
                  <a:t> R(x) : x+2 </a:t>
                </a:r>
                <a:r>
                  <a:rPr lang="ru-RU" sz="2000" dirty="0"/>
                  <a:t>– простое число, определенные на множестве натуральных чисел.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ru-RU" sz="2000" dirty="0"/>
                  <a:t>Найти значение предиката (</a:t>
                </a:r>
                <a:r>
                  <a:rPr lang="en-US" sz="2000" dirty="0"/>
                  <a:t>R(x)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</a:rPr>
                      <m:t>∨</m:t>
                    </m:r>
                  </m:oMath>
                </a14:m>
                <a:r>
                  <a:rPr lang="en-US" sz="2000" dirty="0"/>
                  <a:t>Q(x)</a:t>
                </a:r>
                <a:r>
                  <a:rPr lang="ru-RU" sz="2000" dirty="0"/>
                  <a:t>)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sz="2000" dirty="0"/>
                  <a:t>   P(x) </a:t>
                </a:r>
                <a:r>
                  <a:rPr lang="ru-RU" sz="2000" dirty="0"/>
                  <a:t>при х=3. </a:t>
                </a:r>
                <a:endParaRPr lang="ru-RU" sz="20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2415" y="1412776"/>
                <a:ext cx="7201585" cy="4498446"/>
              </a:xfrm>
              <a:blipFill>
                <a:blip r:embed="rId2"/>
                <a:stretch>
                  <a:fillRect l="-931" t="-813" r="-14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A7B9399-16BD-9B1E-E0CB-176DA1537DB3}"/>
              </a:ext>
            </a:extLst>
          </p:cNvPr>
          <p:cNvSpPr txBox="1"/>
          <p:nvPr/>
        </p:nvSpPr>
        <p:spPr>
          <a:xfrm>
            <a:off x="1942415" y="6049224"/>
            <a:ext cx="1137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 action="ppaction://hlinksldjump"/>
              </a:rPr>
              <a:t>Ответы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448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885E2-380F-0943-FCBD-325AC6EF6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Ответы: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99C8FA-B280-6D99-167F-27C8BC434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1) И</a:t>
            </a:r>
          </a:p>
          <a:p>
            <a:r>
              <a:rPr lang="ru-RU" dirty="0"/>
              <a:t>2) 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862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предикатов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42415" y="1556792"/>
                <a:ext cx="7094081" cy="5040560"/>
              </a:xfrm>
            </p:spPr>
            <p:txBody>
              <a:bodyPr>
                <a:normAutofit/>
              </a:bodyPr>
              <a:lstStyle/>
              <a:p>
                <a:r>
                  <a:rPr lang="ru-RU" sz="2000" dirty="0"/>
                  <a:t>Предикат </a:t>
                </a:r>
                <a:r>
                  <a:rPr lang="en-US" sz="2000" dirty="0"/>
                  <a:t>P(x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,x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,…</a:t>
                </a:r>
                <a:r>
                  <a:rPr lang="en-US" sz="2000" dirty="0" err="1"/>
                  <a:t>x</a:t>
                </a:r>
                <a:r>
                  <a:rPr lang="en-US" sz="2000" baseline="-25000" dirty="0" err="1"/>
                  <a:t>n</a:t>
                </a:r>
                <a:r>
                  <a:rPr lang="en-US" sz="2000" dirty="0"/>
                  <a:t>) </a:t>
                </a:r>
                <a:r>
                  <a:rPr lang="ru-RU" sz="2000" dirty="0"/>
                  <a:t>называется тождественно истинным(ложным), если при любой замене переменных </a:t>
                </a:r>
                <a:r>
                  <a:rPr lang="en-US" sz="2000" dirty="0"/>
                  <a:t> x</a:t>
                </a:r>
                <a:r>
                  <a:rPr lang="en-US" sz="2000" baseline="-25000" dirty="0"/>
                  <a:t>1</a:t>
                </a:r>
                <a:r>
                  <a:rPr lang="en-US" sz="2000" dirty="0"/>
                  <a:t>,x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,…</a:t>
                </a:r>
                <a:r>
                  <a:rPr lang="en-US" sz="2000" dirty="0" err="1"/>
                  <a:t>x</a:t>
                </a:r>
                <a:r>
                  <a:rPr lang="en-US" sz="2000" baseline="-25000" dirty="0" err="1"/>
                  <a:t>n</a:t>
                </a:r>
                <a:r>
                  <a:rPr lang="ru-RU" sz="2000" dirty="0"/>
                  <a:t>  на их значения предикат превращается в истинное</a:t>
                </a:r>
                <a:r>
                  <a:rPr lang="en-US" sz="2000" dirty="0"/>
                  <a:t> </a:t>
                </a:r>
                <a:r>
                  <a:rPr lang="ru-RU" sz="2000" dirty="0"/>
                  <a:t>(ложное) высказывание.</a:t>
                </a:r>
              </a:p>
              <a:p>
                <a:r>
                  <a:rPr lang="ru-RU" sz="2000" dirty="0"/>
                  <a:t>Пример .</a:t>
                </a:r>
              </a:p>
              <a:p>
                <a:r>
                  <a:rPr lang="ru-RU" sz="2000" dirty="0"/>
                  <a:t> 1)тождественно истинным предикатом является</a:t>
                </a:r>
                <a:r>
                  <a:rPr lang="en-US" sz="2000" dirty="0"/>
                  <a:t>:</a:t>
                </a:r>
                <a:endParaRPr lang="ru-RU" sz="2000" dirty="0"/>
              </a:p>
              <a:p>
                <a:r>
                  <a:rPr lang="en-US" sz="2000" dirty="0"/>
                  <a:t>P(x)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∨</m:t>
                    </m:r>
                    <m:acc>
                      <m:accPr>
                        <m:chr m:val="̅"/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000" dirty="0"/>
                          <m:t>P</m:t>
                        </m:r>
                        <m:r>
                          <m:rPr>
                            <m:nor/>
                          </m:rPr>
                          <a:rPr lang="en-US" sz="2000" dirty="0"/>
                          <m:t>(</m:t>
                        </m:r>
                        <m:r>
                          <m:rPr>
                            <m:nor/>
                          </m:rPr>
                          <a:rPr lang="en-US" sz="2000" dirty="0"/>
                          <m:t>x</m:t>
                        </m:r>
                        <m:r>
                          <m:rPr>
                            <m:nor/>
                          </m:rPr>
                          <a:rPr lang="en-US" sz="2000" dirty="0"/>
                          <m:t>)</m:t>
                        </m:r>
                      </m:e>
                    </m:acc>
                  </m:oMath>
                </a14:m>
                <a:endParaRPr lang="ru-RU" sz="2000" dirty="0"/>
              </a:p>
              <a:p>
                <a:r>
                  <a:rPr lang="ru-RU" sz="2000" dirty="0"/>
                  <a:t>2) тождественно ложным предикатом является</a:t>
                </a:r>
                <a:r>
                  <a:rPr lang="en-US" sz="2000" dirty="0"/>
                  <a:t>:</a:t>
                </a:r>
                <a:endParaRPr lang="ru-RU" sz="2000" dirty="0"/>
              </a:p>
              <a:p>
                <a:r>
                  <a:rPr lang="en-US" sz="2000" dirty="0"/>
                  <a:t>Q(x)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u-RU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</a:rPr>
                      <m:t>∧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en-US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000" b="0" i="0" dirty="0" smtClean="0"/>
                          <m:t>Q</m:t>
                        </m:r>
                        <m:r>
                          <m:rPr>
                            <m:nor/>
                          </m:rPr>
                          <a:rPr lang="en-US" sz="2000" dirty="0"/>
                          <m:t>(</m:t>
                        </m:r>
                        <m:r>
                          <m:rPr>
                            <m:nor/>
                          </m:rPr>
                          <a:rPr lang="en-US" sz="2000" dirty="0"/>
                          <m:t>x</m:t>
                        </m:r>
                        <m:r>
                          <m:rPr>
                            <m:nor/>
                          </m:rPr>
                          <a:rPr lang="en-US" sz="2000" dirty="0"/>
                          <m:t>)</m:t>
                        </m:r>
                      </m:e>
                    </m:acc>
                  </m:oMath>
                </a14:m>
                <a:endParaRPr lang="ru-RU" sz="2000" dirty="0"/>
              </a:p>
              <a:p>
                <a:pPr marL="0" indent="0">
                  <a:buNone/>
                </a:pPr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2415" y="1556792"/>
                <a:ext cx="7094081" cy="5040560"/>
              </a:xfrm>
              <a:blipFill>
                <a:blip r:embed="rId2"/>
                <a:stretch>
                  <a:fillRect l="-860" t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230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Задача 3. </a:t>
            </a:r>
            <a:br>
              <a:rPr lang="ru-RU" dirty="0"/>
            </a:br>
            <a:r>
              <a:rPr lang="ru-RU" dirty="0"/>
              <a:t>Проверьте равносильность предикатов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907704" y="2473984"/>
                <a:ext cx="6491064" cy="395895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A(x)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∧ </m:t>
                    </m:r>
                  </m:oMath>
                </a14:m>
                <a:r>
                  <a:rPr lang="en-US" sz="2400" dirty="0"/>
                  <a:t>B(x)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≡</m:t>
                    </m:r>
                  </m:oMath>
                </a14:m>
                <a:r>
                  <a:rPr lang="en-US" sz="2400" dirty="0"/>
                  <a:t> B(x)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∧ </m:t>
                    </m:r>
                  </m:oMath>
                </a14:m>
                <a:r>
                  <a:rPr lang="en-US" sz="2400" dirty="0"/>
                  <a:t>A(x)</a:t>
                </a:r>
              </a:p>
              <a:p>
                <a:r>
                  <a:rPr lang="en-US" sz="2400" dirty="0"/>
                  <a:t>(A(x)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∧ </m:t>
                    </m:r>
                  </m:oMath>
                </a14:m>
                <a:r>
                  <a:rPr lang="en-US" sz="2400" dirty="0"/>
                  <a:t>B(x))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∧</m:t>
                    </m:r>
                    <m:r>
                      <m:rPr>
                        <m:nor/>
                      </m:rPr>
                      <a:rPr lang="en-US" sz="2400" dirty="0"/>
                      <m:t>C</m:t>
                    </m:r>
                    <m:r>
                      <m:rPr>
                        <m:nor/>
                      </m:rPr>
                      <a:rPr lang="en-US" sz="2400" dirty="0"/>
                      <m:t>(</m:t>
                    </m:r>
                    <m:r>
                      <m:rPr>
                        <m:nor/>
                      </m:rPr>
                      <a:rPr lang="en-US" sz="2400" dirty="0"/>
                      <m:t>x</m:t>
                    </m:r>
                    <m:r>
                      <m:rPr>
                        <m:nor/>
                      </m:rPr>
                      <a:rPr lang="en-US" sz="2400" dirty="0"/>
                      <m:t>)</m:t>
                    </m:r>
                    <m:r>
                      <a:rPr lang="en-US" sz="2400" i="1" dirty="0">
                        <a:latin typeface="Cambria Math"/>
                      </a:rPr>
                      <m:t>≡</m:t>
                    </m:r>
                  </m:oMath>
                </a14:m>
                <a:r>
                  <a:rPr lang="en-US" sz="2400" dirty="0"/>
                  <a:t> A(x)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∧ </m:t>
                    </m:r>
                  </m:oMath>
                </a14:m>
                <a:r>
                  <a:rPr lang="en-US" sz="2400" dirty="0"/>
                  <a:t>(B(x)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∧</m:t>
                    </m:r>
                    <m:r>
                      <m:rPr>
                        <m:nor/>
                      </m:rPr>
                      <a:rPr lang="en-US" sz="2400" dirty="0"/>
                      <m:t>C</m:t>
                    </m:r>
                    <m:r>
                      <m:rPr>
                        <m:nor/>
                      </m:rPr>
                      <a:rPr lang="en-US" sz="2400" dirty="0"/>
                      <m:t>(</m:t>
                    </m:r>
                    <m:r>
                      <m:rPr>
                        <m:nor/>
                      </m:rPr>
                      <a:rPr lang="en-US" sz="2400" dirty="0"/>
                      <m:t>x</m:t>
                    </m:r>
                    <m:r>
                      <m:rPr>
                        <m:nor/>
                      </m:rPr>
                      <a:rPr lang="en-US" sz="2400" dirty="0"/>
                      <m:t>)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)∧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e>
                    </m:ba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≡</m:t>
                    </m:r>
                  </m:oMath>
                </a14:m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</m:e>
                    </m:ba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∨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/>
                          </a:rPr>
                          <m:t>𝐵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e>
                    </m:ba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7704" y="2473984"/>
                <a:ext cx="6491064" cy="3958952"/>
              </a:xfrm>
              <a:blipFill>
                <a:blip r:embed="rId2"/>
                <a:stretch>
                  <a:fillRect l="-1315" t="-12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C20DE12-2BCB-0027-7EB5-23F762201AA4}"/>
              </a:ext>
            </a:extLst>
          </p:cNvPr>
          <p:cNvSpPr txBox="1"/>
          <p:nvPr/>
        </p:nvSpPr>
        <p:spPr>
          <a:xfrm>
            <a:off x="1547664" y="606360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 action="ppaction://hlinksldjump"/>
              </a:rPr>
              <a:t>Ответы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193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76F5E-5D59-BA6B-427A-8EDBA4A39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1" y="332656"/>
            <a:ext cx="7632849" cy="1296144"/>
          </a:xfrm>
        </p:spPr>
        <p:txBody>
          <a:bodyPr>
            <a:normAutofit fontScale="90000"/>
          </a:bodyPr>
          <a:lstStyle/>
          <a:p>
            <a:r>
              <a:rPr lang="ru-RU" dirty="0"/>
              <a:t>Ответы: Приведём решение при помощи таблиц истинности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62FDC7DA-E15B-73E9-926A-6F2D82A94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6601" y="1556792"/>
            <a:ext cx="2736304" cy="2160240"/>
          </a:xfrm>
        </p:spPr>
        <p:txBody>
          <a:bodyPr>
            <a:normAutofit/>
          </a:bodyPr>
          <a:lstStyle/>
          <a:p>
            <a:r>
              <a:rPr lang="en-US" sz="1400" dirty="0"/>
              <a:t>1. A(x) ∧ B(x) ≡ B(x) ∧ A(x)</a:t>
            </a:r>
          </a:p>
          <a:p>
            <a:pPr marL="0" indent="0">
              <a:buNone/>
            </a:pPr>
            <a:r>
              <a:rPr lang="ru-RU" sz="1400" dirty="0"/>
              <a:t>| </a:t>
            </a:r>
            <a:r>
              <a:rPr lang="en-US" sz="1400" dirty="0"/>
              <a:t>A | B | A ∧ B | B ∧ A |</a:t>
            </a:r>
          </a:p>
          <a:p>
            <a:pPr marL="0" indent="0">
              <a:buNone/>
            </a:pPr>
            <a:r>
              <a:rPr lang="en-US" sz="1400" dirty="0"/>
              <a:t>| </a:t>
            </a:r>
            <a:r>
              <a:rPr lang="ru-RU" sz="1400" dirty="0"/>
              <a:t>И</a:t>
            </a:r>
            <a:r>
              <a:rPr lang="en-US" sz="1400" dirty="0"/>
              <a:t> | </a:t>
            </a:r>
            <a:r>
              <a:rPr lang="ru-RU" sz="1400" dirty="0"/>
              <a:t>И</a:t>
            </a:r>
            <a:r>
              <a:rPr lang="en-US" sz="1400" dirty="0"/>
              <a:t> |   </a:t>
            </a:r>
            <a:r>
              <a:rPr lang="ru-RU" sz="1400" dirty="0"/>
              <a:t>И</a:t>
            </a:r>
            <a:r>
              <a:rPr lang="en-US" sz="1400" dirty="0"/>
              <a:t> </a:t>
            </a:r>
            <a:r>
              <a:rPr lang="ru-RU" sz="1400" dirty="0"/>
              <a:t>    </a:t>
            </a:r>
            <a:r>
              <a:rPr lang="en-US" sz="1400" dirty="0"/>
              <a:t>|   </a:t>
            </a:r>
            <a:r>
              <a:rPr lang="ru-RU" sz="1400" dirty="0"/>
              <a:t>И</a:t>
            </a:r>
            <a:r>
              <a:rPr lang="en-US" sz="1400" dirty="0"/>
              <a:t> </a:t>
            </a:r>
            <a:r>
              <a:rPr lang="ru-RU" sz="1400" dirty="0"/>
              <a:t>   </a:t>
            </a:r>
            <a:r>
              <a:rPr lang="en-US" sz="1400" dirty="0"/>
              <a:t>|</a:t>
            </a:r>
          </a:p>
          <a:p>
            <a:pPr marL="0" indent="0">
              <a:buNone/>
            </a:pPr>
            <a:r>
              <a:rPr lang="en-US" sz="1400" dirty="0"/>
              <a:t>| </a:t>
            </a:r>
            <a:r>
              <a:rPr lang="ru-RU" sz="1400" dirty="0"/>
              <a:t>И </a:t>
            </a:r>
            <a:r>
              <a:rPr lang="en-US" sz="1400" dirty="0"/>
              <a:t>| </a:t>
            </a:r>
            <a:r>
              <a:rPr lang="ru-RU" sz="1400" dirty="0"/>
              <a:t>Л</a:t>
            </a:r>
            <a:r>
              <a:rPr lang="en-US" sz="1400" dirty="0"/>
              <a:t> |   </a:t>
            </a:r>
            <a:r>
              <a:rPr lang="ru-RU" sz="1400" dirty="0"/>
              <a:t>Л</a:t>
            </a:r>
            <a:r>
              <a:rPr lang="en-US" sz="1400" dirty="0"/>
              <a:t>   </a:t>
            </a:r>
            <a:r>
              <a:rPr lang="ru-RU" sz="1400" dirty="0"/>
              <a:t>  </a:t>
            </a:r>
            <a:r>
              <a:rPr lang="en-US" sz="1400" dirty="0"/>
              <a:t>|   </a:t>
            </a:r>
            <a:r>
              <a:rPr lang="ru-RU" sz="1400" dirty="0"/>
              <a:t>Л</a:t>
            </a:r>
            <a:r>
              <a:rPr lang="en-US" sz="1400" dirty="0"/>
              <a:t>   </a:t>
            </a:r>
            <a:r>
              <a:rPr lang="ru-RU" sz="1400" dirty="0"/>
              <a:t> </a:t>
            </a:r>
            <a:r>
              <a:rPr lang="en-US" sz="1400" dirty="0"/>
              <a:t>|</a:t>
            </a:r>
          </a:p>
          <a:p>
            <a:pPr marL="0" indent="0">
              <a:buNone/>
            </a:pPr>
            <a:r>
              <a:rPr lang="en-US" sz="1400" dirty="0"/>
              <a:t>| </a:t>
            </a:r>
            <a:r>
              <a:rPr lang="ru-RU" sz="1400" dirty="0"/>
              <a:t>Л</a:t>
            </a:r>
            <a:r>
              <a:rPr lang="en-US" sz="1400" dirty="0"/>
              <a:t> | </a:t>
            </a:r>
            <a:r>
              <a:rPr lang="ru-RU" sz="1400" dirty="0"/>
              <a:t>И </a:t>
            </a:r>
            <a:r>
              <a:rPr lang="en-US" sz="1400" dirty="0"/>
              <a:t>|   </a:t>
            </a:r>
            <a:r>
              <a:rPr lang="ru-RU" sz="1400" dirty="0"/>
              <a:t>Л</a:t>
            </a:r>
            <a:r>
              <a:rPr lang="en-US" sz="1400" dirty="0"/>
              <a:t>   </a:t>
            </a:r>
            <a:r>
              <a:rPr lang="ru-RU" sz="1400" dirty="0"/>
              <a:t>  </a:t>
            </a:r>
            <a:r>
              <a:rPr lang="en-US" sz="1400" dirty="0"/>
              <a:t>|   </a:t>
            </a:r>
            <a:r>
              <a:rPr lang="ru-RU" sz="1400" dirty="0"/>
              <a:t>Л</a:t>
            </a:r>
            <a:r>
              <a:rPr lang="en-US" sz="1400" dirty="0"/>
              <a:t>   </a:t>
            </a:r>
            <a:r>
              <a:rPr lang="ru-RU" sz="1400" dirty="0"/>
              <a:t> </a:t>
            </a:r>
            <a:r>
              <a:rPr lang="en-US" sz="1400" dirty="0"/>
              <a:t>|</a:t>
            </a:r>
          </a:p>
          <a:p>
            <a:pPr marL="0" indent="0">
              <a:buNone/>
            </a:pPr>
            <a:r>
              <a:rPr lang="en-US" sz="1400" dirty="0"/>
              <a:t>| </a:t>
            </a:r>
            <a:r>
              <a:rPr lang="ru-RU" sz="1400" dirty="0"/>
              <a:t>Л</a:t>
            </a:r>
            <a:r>
              <a:rPr lang="en-US" sz="1400" dirty="0"/>
              <a:t> | </a:t>
            </a:r>
            <a:r>
              <a:rPr lang="ru-RU" sz="1400" dirty="0"/>
              <a:t>Л</a:t>
            </a:r>
            <a:r>
              <a:rPr lang="en-US" sz="1400" dirty="0"/>
              <a:t> |   </a:t>
            </a:r>
            <a:r>
              <a:rPr lang="ru-RU" sz="1400" dirty="0"/>
              <a:t>Л</a:t>
            </a:r>
            <a:r>
              <a:rPr lang="en-US" sz="1400" dirty="0"/>
              <a:t>  </a:t>
            </a:r>
            <a:r>
              <a:rPr lang="ru-RU" sz="1400" dirty="0"/>
              <a:t>   </a:t>
            </a:r>
            <a:r>
              <a:rPr lang="en-US" sz="1400" dirty="0"/>
              <a:t>|   </a:t>
            </a:r>
            <a:r>
              <a:rPr lang="ru-RU" sz="1400" dirty="0"/>
              <a:t>Л</a:t>
            </a:r>
            <a:r>
              <a:rPr lang="en-US" sz="1400" dirty="0"/>
              <a:t>   </a:t>
            </a:r>
            <a:r>
              <a:rPr lang="ru-RU" sz="1400" dirty="0"/>
              <a:t> </a:t>
            </a:r>
            <a:r>
              <a:rPr lang="en-US" sz="1400" dirty="0"/>
              <a:t>|</a:t>
            </a:r>
            <a:endParaRPr lang="ru-RU" sz="14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757CAB-944C-7782-DBF3-DB9F9E4AC1D4}"/>
              </a:ext>
            </a:extLst>
          </p:cNvPr>
          <p:cNvSpPr txBox="1"/>
          <p:nvPr/>
        </p:nvSpPr>
        <p:spPr>
          <a:xfrm>
            <a:off x="4499992" y="1412776"/>
            <a:ext cx="4464496" cy="3590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(A(x) ∧ B(x)) ∧ C(x) ≡ A(x) ∧ (B(x) ∧ C(x))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 | B | C | A ∧ B | B ∧ C | (A ∧ B) ∧ C | A ∧ (B ∧ C) 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|---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|---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|---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|-------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|-------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|------------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------------|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lang="ru-RU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 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Л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|</a:t>
            </a:r>
            <a:endParaRPr lang="ru-RU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E0906C-C08E-83F9-CB56-FF4890BF4D29}"/>
              </a:ext>
            </a:extLst>
          </p:cNvPr>
          <p:cNvSpPr txBox="1"/>
          <p:nvPr/>
        </p:nvSpPr>
        <p:spPr>
          <a:xfrm>
            <a:off x="2843808" y="5859191"/>
            <a:ext cx="4989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Примечание: 3-й пункт можете выполнить аналогично</a:t>
            </a:r>
          </a:p>
        </p:txBody>
      </p:sp>
    </p:spTree>
    <p:extLst>
      <p:ext uri="{BB962C8B-B14F-4D97-AF65-F5344CB8AC3E}">
        <p14:creationId xmlns:p14="http://schemas.microsoft.com/office/powerpoint/2010/main" val="409776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Пусть </a:t>
                </a:r>
                <a:r>
                  <a:rPr lang="en-US" dirty="0"/>
                  <a:t>P(x)  </a:t>
                </a:r>
                <a:r>
                  <a:rPr lang="ru-RU" dirty="0"/>
                  <a:t>и </a:t>
                </a:r>
                <a:r>
                  <a:rPr lang="en-US" dirty="0"/>
                  <a:t>Q(x) – </a:t>
                </a:r>
                <a:r>
                  <a:rPr lang="ru-RU" dirty="0"/>
                  <a:t>одноместные предикаты, определенные на множестве М. Доказать, что:</a:t>
                </a:r>
              </a:p>
              <a:p>
                <a:pPr marL="0" indent="0">
                  <a:buNone/>
                </a:pPr>
                <a:r>
                  <a:rPr lang="ru-RU" dirty="0"/>
                  <a:t>А) </a:t>
                </a:r>
                <a:r>
                  <a:rPr lang="en-US" dirty="0"/>
                  <a:t>P(x)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∧</m:t>
                    </m:r>
                  </m:oMath>
                </a14:m>
                <a:r>
                  <a:rPr lang="en-US" dirty="0"/>
                  <a:t>Q(x) – </a:t>
                </a:r>
                <a:r>
                  <a:rPr lang="ru-RU" dirty="0"/>
                  <a:t>тождественно истинный предикат, тогда и только тогда, когда </a:t>
                </a:r>
                <a:r>
                  <a:rPr lang="en-US" dirty="0"/>
                  <a:t>P(x)</a:t>
                </a:r>
                <a:r>
                  <a:rPr lang="ru-RU" dirty="0"/>
                  <a:t> и </a:t>
                </a:r>
                <a:r>
                  <a:rPr lang="en-US" dirty="0"/>
                  <a:t>Q(x) </a:t>
                </a:r>
                <a:r>
                  <a:rPr lang="ru-RU" dirty="0"/>
                  <a:t>– тождественно истинные предикаты.</a:t>
                </a:r>
              </a:p>
              <a:p>
                <a:pPr marL="0" indent="0">
                  <a:buNone/>
                </a:pPr>
                <a:r>
                  <a:rPr lang="ru-RU" dirty="0"/>
                  <a:t>Б)  </a:t>
                </a:r>
                <a:r>
                  <a:rPr lang="en-US" dirty="0"/>
                  <a:t>P(x)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/>
                      </a:rPr>
                      <m:t>∨</m:t>
                    </m:r>
                    <m:r>
                      <a:rPr lang="ru-R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Q(x) – </a:t>
                </a:r>
                <a:r>
                  <a:rPr lang="ru-RU" dirty="0"/>
                  <a:t>тождественно ложный предикат, тогда и только тогда, когда</a:t>
                </a:r>
                <a:r>
                  <a:rPr lang="en-US" dirty="0"/>
                  <a:t> P(x)</a:t>
                </a:r>
                <a:r>
                  <a:rPr lang="ru-RU" dirty="0"/>
                  <a:t> и </a:t>
                </a:r>
                <a:r>
                  <a:rPr lang="en-US" dirty="0"/>
                  <a:t>Q(x) </a:t>
                </a:r>
                <a:r>
                  <a:rPr lang="ru-RU" dirty="0"/>
                  <a:t>– тождественно ложные предикаты.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 cstate="print"/>
                <a:stretch>
                  <a:fillRect l="-1333" t="-1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87E11C4-9A39-8F35-0341-5D4E54F64579}"/>
              </a:ext>
            </a:extLst>
          </p:cNvPr>
          <p:cNvSpPr txBox="1"/>
          <p:nvPr/>
        </p:nvSpPr>
        <p:spPr>
          <a:xfrm>
            <a:off x="1942415" y="5955156"/>
            <a:ext cx="104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 action="ppaction://hlinksldjump"/>
              </a:rPr>
              <a:t>Ответы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111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DEC54-EE0E-10D8-4207-9F17A9679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94" y="188640"/>
            <a:ext cx="7772400" cy="722678"/>
          </a:xfrm>
        </p:spPr>
        <p:txBody>
          <a:bodyPr>
            <a:normAutofit/>
          </a:bodyPr>
          <a:lstStyle/>
          <a:p>
            <a:r>
              <a:rPr lang="ru-RU" dirty="0"/>
              <a:t>Ответы: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F48EC914-0E5A-1BA2-F7CB-426CB1859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51720" y="911318"/>
                <a:ext cx="6912768" cy="5589240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ru-RU" sz="3800" dirty="0"/>
                  <a:t>Докажем оба утверждения:</a:t>
                </a:r>
              </a:p>
              <a:p>
                <a:pPr>
                  <a:buFont typeface="+mj-lt"/>
                  <a:buAutoNum type="alphaUcPeriod"/>
                </a:pPr>
                <a:r>
                  <a:rPr lang="ru-RU" sz="3800" dirty="0"/>
                  <a:t>Предположим, что </a:t>
                </a:r>
                <a:r>
                  <a:rPr lang="en-US" sz="3800" dirty="0"/>
                  <a:t>P(x)</a:t>
                </a:r>
                <a14:m>
                  <m:oMath xmlns:m="http://schemas.openxmlformats.org/officeDocument/2006/math">
                    <m:r>
                      <a:rPr lang="ru-RU" sz="3800" i="1">
                        <a:latin typeface="Cambria Math"/>
                      </a:rPr>
                      <m:t>∧</m:t>
                    </m:r>
                  </m:oMath>
                </a14:m>
                <a:r>
                  <a:rPr lang="en-US" sz="3800" dirty="0"/>
                  <a:t>Q(x) </a:t>
                </a:r>
                <a:r>
                  <a:rPr lang="ru-RU" sz="3800" dirty="0"/>
                  <a:t>– тождественно истинный предикат. Это означает, что для любого х из М выполнена истинность и Р(х), и </a:t>
                </a:r>
                <a:r>
                  <a:rPr lang="en-US" sz="3800" dirty="0"/>
                  <a:t>Q(x)</a:t>
                </a:r>
                <a:r>
                  <a:rPr lang="ru-RU" sz="3800" dirty="0"/>
                  <a:t>. Таким образом, отсюда делаем вывод, что Р(х) и </a:t>
                </a:r>
                <a:r>
                  <a:rPr lang="en-US" sz="3800" dirty="0"/>
                  <a:t>Q(x)</a:t>
                </a:r>
                <a:r>
                  <a:rPr lang="ru-RU" sz="3800" dirty="0"/>
                  <a:t> – тождественно истинные предикаты.</a:t>
                </a:r>
                <a:br>
                  <a:rPr lang="ru-RU" sz="3800" dirty="0"/>
                </a:br>
                <a:r>
                  <a:rPr lang="ru-RU" sz="3800" dirty="0"/>
                  <a:t>Обратно, предположим, что Р(х) и </a:t>
                </a:r>
                <a:r>
                  <a:rPr lang="en-US" sz="3800" dirty="0"/>
                  <a:t>Q(x)</a:t>
                </a:r>
                <a:r>
                  <a:rPr lang="ru-RU" sz="3800" dirty="0"/>
                  <a:t> - тождественно истинные предикаты. Это означает, что для любого х из М выполнена истинность и Р(х), и </a:t>
                </a:r>
                <a:r>
                  <a:rPr lang="en-US" sz="3800" dirty="0"/>
                  <a:t>Q(x)</a:t>
                </a:r>
                <a:r>
                  <a:rPr lang="ru-RU" sz="3800" dirty="0"/>
                  <a:t>. Таким образом, отсюда делаем вывод, что Р(х) </a:t>
                </a:r>
                <a14:m>
                  <m:oMath xmlns:m="http://schemas.openxmlformats.org/officeDocument/2006/math">
                    <m:r>
                      <a:rPr lang="ru-RU" sz="3800" i="1">
                        <a:latin typeface="Cambria Math"/>
                      </a:rPr>
                      <m:t>∧</m:t>
                    </m:r>
                  </m:oMath>
                </a14:m>
                <a:r>
                  <a:rPr lang="ru-RU" sz="3800" dirty="0"/>
                  <a:t> </a:t>
                </a:r>
                <a:r>
                  <a:rPr lang="en-US" sz="3800" dirty="0"/>
                  <a:t>Q(x)</a:t>
                </a:r>
                <a:r>
                  <a:rPr lang="ru-RU" sz="3800" dirty="0"/>
                  <a:t> – тождественно истинный предикат.</a:t>
                </a:r>
              </a:p>
              <a:p>
                <a:pPr>
                  <a:buFont typeface="+mj-lt"/>
                  <a:buAutoNum type="alphaUcPeriod"/>
                </a:pPr>
                <a:r>
                  <a:rPr lang="ru-RU" sz="3800" dirty="0"/>
                  <a:t>Теперь рассмотрим утверждение, что </a:t>
                </a:r>
                <a:r>
                  <a:rPr lang="en-US" sz="3800" dirty="0"/>
                  <a:t>P(x)</a:t>
                </a:r>
                <a:r>
                  <a:rPr lang="ru-RU" sz="3800" dirty="0"/>
                  <a:t> </a:t>
                </a:r>
                <a14:m>
                  <m:oMath xmlns:m="http://schemas.openxmlformats.org/officeDocument/2006/math">
                    <m:r>
                      <a:rPr lang="ru-RU" sz="3800" i="1" smtClean="0">
                        <a:latin typeface="Cambria Math"/>
                      </a:rPr>
                      <m:t>∨</m:t>
                    </m:r>
                    <m:r>
                      <a:rPr lang="ru-RU" sz="3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3800" dirty="0"/>
                  <a:t>Q(x) – </a:t>
                </a:r>
                <a:r>
                  <a:rPr lang="ru-RU" sz="3800" dirty="0"/>
                  <a:t>тождественно ложный предикат.  Это означает, что для любого х из М предикаты Р(х) и </a:t>
                </a:r>
                <a:r>
                  <a:rPr lang="en-US" sz="3800" dirty="0"/>
                  <a:t>Q(x)</a:t>
                </a:r>
                <a:r>
                  <a:rPr lang="ru-RU" sz="3800" dirty="0"/>
                  <a:t> не могут быть одновременно истинными. Следовательно, Р(х) и </a:t>
                </a:r>
                <a:r>
                  <a:rPr lang="en-US" sz="3800" dirty="0"/>
                  <a:t>Q(x)</a:t>
                </a:r>
                <a:r>
                  <a:rPr lang="ru-RU" sz="3800" dirty="0"/>
                  <a:t> должны быть тождественно ложными предикатами. Обратно, предположим, что Р(х) и </a:t>
                </a:r>
                <a:r>
                  <a:rPr lang="en-US" sz="3800" dirty="0"/>
                  <a:t>Q(x)</a:t>
                </a:r>
                <a:r>
                  <a:rPr lang="ru-RU" sz="3800" dirty="0"/>
                  <a:t> - тождественно ложные предикаты. Это означает, что для любого х из М ни Р(х), ни </a:t>
                </a:r>
                <a:r>
                  <a:rPr lang="en-US" sz="3800" dirty="0"/>
                  <a:t>Q(x)</a:t>
                </a:r>
                <a:r>
                  <a:rPr lang="ru-RU" sz="3800" dirty="0"/>
                  <a:t> не являются истинными. Следовательно, </a:t>
                </a:r>
                <a:r>
                  <a:rPr lang="en-US" sz="3800" dirty="0"/>
                  <a:t>P(x)</a:t>
                </a:r>
                <a:r>
                  <a:rPr lang="ru-RU" sz="3800" dirty="0"/>
                  <a:t> </a:t>
                </a:r>
                <a14:m>
                  <m:oMath xmlns:m="http://schemas.openxmlformats.org/officeDocument/2006/math">
                    <m:r>
                      <a:rPr lang="ru-RU" sz="3800" i="1">
                        <a:latin typeface="Cambria Math"/>
                      </a:rPr>
                      <m:t>∨ </m:t>
                    </m:r>
                  </m:oMath>
                </a14:m>
                <a:r>
                  <a:rPr lang="en-US" sz="3800" dirty="0"/>
                  <a:t>Q(x)</a:t>
                </a:r>
                <a:r>
                  <a:rPr lang="ru-RU" sz="3800" dirty="0"/>
                  <a:t> будет тождественно ложным предикатом.</a:t>
                </a:r>
              </a:p>
              <a:p>
                <a:pPr marL="0" indent="0">
                  <a:buNone/>
                </a:pPr>
                <a:endParaRPr lang="ru-RU" sz="2300" dirty="0"/>
              </a:p>
              <a:p>
                <a:pPr marL="0" indent="0">
                  <a:buNone/>
                </a:pPr>
                <a:r>
                  <a:rPr lang="ru-RU" sz="2300" dirty="0"/>
                  <a:t>     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4" name="Объект 3">
                <a:extLst>
                  <a:ext uri="{FF2B5EF4-FFF2-40B4-BE49-F238E27FC236}">
                    <a16:creationId xmlns:a16="http://schemas.microsoft.com/office/drawing/2014/main" id="{F48EC914-0E5A-1BA2-F7CB-426CB1859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51720" y="911318"/>
                <a:ext cx="6912768" cy="5589240"/>
              </a:xfrm>
              <a:blipFill>
                <a:blip r:embed="rId2"/>
                <a:stretch>
                  <a:fillRect l="-705" t="-1527" r="-14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07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Пусть х 𝜖 </a:t>
                </a:r>
                <a:r>
                  <a:rPr lang="en-US" dirty="0"/>
                  <a:t>R (</a:t>
                </a:r>
                <a:r>
                  <a:rPr lang="ru-RU" dirty="0"/>
                  <a:t>множеству действительных чисел)</a:t>
                </a:r>
              </a:p>
              <a:p>
                <a:r>
                  <a:rPr lang="ru-RU" b="1" dirty="0"/>
                  <a:t>1)</a:t>
                </a:r>
                <a:r>
                  <a:rPr lang="ru-RU" dirty="0"/>
                  <a:t> </a:t>
                </a:r>
                <a:r>
                  <a:rPr lang="en-US" dirty="0"/>
                  <a:t>P(x)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=1</a:t>
                </a:r>
              </a:p>
              <a:p>
                <a:r>
                  <a:rPr lang="ru-RU" dirty="0"/>
                  <a:t>∃х</a:t>
                </a:r>
                <a:r>
                  <a:rPr lang="en-US" dirty="0"/>
                  <a:t> P(x) </a:t>
                </a:r>
                <a:r>
                  <a:rPr lang="ru-RU" dirty="0"/>
                  <a:t>читается как: существует </a:t>
                </a:r>
                <a:r>
                  <a:rPr lang="en-US" dirty="0"/>
                  <a:t>x, </a:t>
                </a:r>
                <a:r>
                  <a:rPr lang="ru-RU" dirty="0"/>
                  <a:t>такой,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=1</a:t>
                </a:r>
                <a:r>
                  <a:rPr lang="ru-RU" dirty="0"/>
                  <a:t>. Это </a:t>
                </a:r>
                <a:r>
                  <a:rPr lang="ru-RU" u="sng" dirty="0"/>
                  <a:t>истинное</a:t>
                </a:r>
                <a:r>
                  <a:rPr lang="ru-RU" dirty="0"/>
                  <a:t> высказывание, так 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=1.</a:t>
                </a:r>
              </a:p>
              <a:p>
                <a:r>
                  <a:rPr lang="ru-RU" dirty="0"/>
                  <a:t>∀</a:t>
                </a:r>
                <a:r>
                  <a:rPr lang="ru-RU" dirty="0">
                    <a:solidFill>
                      <a:srgbClr val="FF0000"/>
                    </a:solidFill>
                  </a:rPr>
                  <a:t> </a:t>
                </a:r>
                <a:r>
                  <a:rPr lang="ru-RU" i="1" dirty="0"/>
                  <a:t>х </a:t>
                </a:r>
                <a:r>
                  <a:rPr lang="en-US" i="1" dirty="0"/>
                  <a:t>P(x) </a:t>
                </a:r>
                <a:r>
                  <a:rPr lang="ru-RU" dirty="0"/>
                  <a:t>читается как:  для любого х 𝜖 </a:t>
                </a:r>
                <a:r>
                  <a:rPr lang="en-US" dirty="0"/>
                  <a:t>R</a:t>
                </a:r>
                <a:r>
                  <a:rPr lang="ru-RU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=1</a:t>
                </a:r>
                <a:r>
                  <a:rPr lang="ru-RU" dirty="0"/>
                  <a:t> – это </a:t>
                </a:r>
                <a:r>
                  <a:rPr lang="ru-RU" u="sng" dirty="0"/>
                  <a:t>ложное</a:t>
                </a:r>
                <a:r>
                  <a:rPr lang="ru-RU" dirty="0"/>
                  <a:t> высказывание.</a:t>
                </a:r>
              </a:p>
              <a:p>
                <a:r>
                  <a:rPr lang="ru-RU" b="1" dirty="0"/>
                  <a:t>2)</a:t>
                </a:r>
                <a:r>
                  <a:rPr lang="ru-RU" dirty="0"/>
                  <a:t>Пусть Р(х): х</a:t>
                </a:r>
                <a:r>
                  <a:rPr lang="ru-RU" baseline="30000" dirty="0"/>
                  <a:t>2</a:t>
                </a:r>
                <a:r>
                  <a:rPr lang="ru-RU" dirty="0"/>
                  <a:t>+1</a:t>
                </a:r>
                <a:r>
                  <a:rPr lang="en-US" dirty="0"/>
                  <a:t>&gt;5</a:t>
                </a:r>
                <a:r>
                  <a:rPr lang="ru-RU" dirty="0"/>
                  <a:t>, определенный на множестве </a:t>
                </a:r>
                <a:r>
                  <a:rPr lang="en-US" dirty="0"/>
                  <a:t>R.</a:t>
                </a:r>
                <a:r>
                  <a:rPr lang="ru-RU" dirty="0"/>
                  <a:t> Тогда высказывание ∃х х</a:t>
                </a:r>
                <a:r>
                  <a:rPr lang="ru-RU" baseline="30000" dirty="0"/>
                  <a:t>2</a:t>
                </a:r>
                <a:r>
                  <a:rPr lang="ru-RU" dirty="0"/>
                  <a:t>+1</a:t>
                </a:r>
                <a:r>
                  <a:rPr lang="en-US" dirty="0"/>
                  <a:t>&gt;5</a:t>
                </a:r>
                <a:r>
                  <a:rPr lang="ru-RU" dirty="0"/>
                  <a:t> - это </a:t>
                </a:r>
                <a:r>
                  <a:rPr lang="ru-RU" u="sng" dirty="0"/>
                  <a:t>истинное</a:t>
                </a:r>
                <a:r>
                  <a:rPr lang="ru-RU" dirty="0"/>
                  <a:t> высказывание.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88" t="-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159370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638</TotalTime>
  <Words>1464</Words>
  <Application>Microsoft Office PowerPoint</Application>
  <PresentationFormat>Экран (4:3)</PresentationFormat>
  <Paragraphs>92</Paragraphs>
  <Slides>14</Slides>
  <Notes>0</Notes>
  <HiddenSlides>3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Cambria Math</vt:lpstr>
      <vt:lpstr>Century Gothic</vt:lpstr>
      <vt:lpstr>Perpetua</vt:lpstr>
      <vt:lpstr>Wingdings 3</vt:lpstr>
      <vt:lpstr>Легкий дым</vt:lpstr>
      <vt:lpstr>Лекция 2. Предикаты. Операции над предикатами</vt:lpstr>
      <vt:lpstr>Предикаты</vt:lpstr>
      <vt:lpstr>Примеры</vt:lpstr>
      <vt:lpstr>n- местный предикат</vt:lpstr>
      <vt:lpstr>Задача 1</vt:lpstr>
      <vt:lpstr>Операции над предикатами</vt:lpstr>
      <vt:lpstr>Задача 2</vt:lpstr>
      <vt:lpstr>Ответы:</vt:lpstr>
      <vt:lpstr>Виды предикатов</vt:lpstr>
      <vt:lpstr>Задача 3.  Проверьте равносильность предикатов</vt:lpstr>
      <vt:lpstr>Ответы: Приведём решение при помощи таблиц истинности</vt:lpstr>
      <vt:lpstr>Задача 4</vt:lpstr>
      <vt:lpstr>Ответы:</vt:lpstr>
      <vt:lpstr>Примеры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2. Предикаты. Операции над предикатами.</dc:title>
  <dc:creator>GCG studio</dc:creator>
  <cp:lastModifiedBy>Матвей Прытков</cp:lastModifiedBy>
  <cp:revision>33</cp:revision>
  <dcterms:created xsi:type="dcterms:W3CDTF">2019-09-10T05:02:43Z</dcterms:created>
  <dcterms:modified xsi:type="dcterms:W3CDTF">2024-05-01T09:30:09Z</dcterms:modified>
</cp:coreProperties>
</file>